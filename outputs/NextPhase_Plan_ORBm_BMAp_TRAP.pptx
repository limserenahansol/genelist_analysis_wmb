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651760"/>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77240"/>
            <a:ext cx="11185855" cy="914400"/>
          </a:xfrm>
          <a:prstGeom prst="rect">
            <a:avLst/>
          </a:prstGeom>
          <a:noFill/>
        </p:spPr>
        <p:txBody>
          <a:bodyPr wrap="square">
            <a:spAutoFit/>
          </a:bodyPr>
          <a:lstStyle/>
          <a:p>
            <a:pPr>
              <a:lnSpc>
                <a:spcPct val="105000"/>
              </a:lnSpc>
              <a:spcAft>
                <a:spcPts val="400"/>
              </a:spcAft>
            </a:pPr>
            <a:r>
              <a:rPr sz="3000" b="1">
                <a:solidFill>
                  <a:srgbClr val="FFFFFF"/>
                </a:solidFill>
              </a:rPr>
              <a:t>The Post-active ORBm and BMAp ensemble:</a:t>
            </a:r>
          </a:p>
          <a:p>
            <a:pPr>
              <a:lnSpc>
                <a:spcPct val="105000"/>
              </a:lnSpc>
              <a:spcAft>
                <a:spcPts val="400"/>
              </a:spcAft>
            </a:pPr>
            <a:r>
              <a:rPr sz="3000" b="1">
                <a:solidFill>
                  <a:srgbClr val="FFFFFF"/>
                </a:solidFill>
              </a:rPr>
              <a:t>what it is, and whether relapse needs it</a:t>
            </a:r>
          </a:p>
        </p:txBody>
      </p:sp>
      <p:sp>
        <p:nvSpPr>
          <p:cNvPr id="4" name="TextBox 3"/>
          <p:cNvSpPr txBox="1"/>
          <p:nvPr/>
        </p:nvSpPr>
        <p:spPr>
          <a:xfrm>
            <a:off x="502920" y="1874519"/>
            <a:ext cx="11185855" cy="457200"/>
          </a:xfrm>
          <a:prstGeom prst="rect">
            <a:avLst/>
          </a:prstGeom>
          <a:noFill/>
        </p:spPr>
        <p:txBody>
          <a:bodyPr wrap="square">
            <a:spAutoFit/>
          </a:bodyPr>
          <a:lstStyle/>
          <a:p>
            <a:pPr>
              <a:lnSpc>
                <a:spcPct val="95000"/>
              </a:lnSpc>
              <a:spcAft>
                <a:spcPts val="400"/>
              </a:spcAft>
            </a:pPr>
            <a:r>
              <a:rPr sz="1400" b="0">
                <a:solidFill>
                  <a:srgbClr val="C9DAEC"/>
                </a:solidFill>
              </a:rPr>
              <a:t>Proposal for the next phase — two experiments on the two regions our whole-brain TRAP screen selected</a:t>
            </a:r>
          </a:p>
        </p:txBody>
      </p:sp>
      <p:sp>
        <p:nvSpPr>
          <p:cNvPr id="5" name="TextBox 4"/>
          <p:cNvSpPr txBox="1"/>
          <p:nvPr/>
        </p:nvSpPr>
        <p:spPr>
          <a:xfrm>
            <a:off x="502920" y="2971800"/>
            <a:ext cx="5120640" cy="1097280"/>
          </a:xfrm>
          <a:prstGeom prst="rect">
            <a:avLst/>
          </a:prstGeom>
          <a:noFill/>
        </p:spPr>
        <p:txBody>
          <a:bodyPr wrap="square">
            <a:spAutoFit/>
          </a:bodyPr>
          <a:lstStyle/>
          <a:p>
            <a:pPr>
              <a:lnSpc>
                <a:spcPct val="130000"/>
              </a:lnSpc>
              <a:spcAft>
                <a:spcPts val="400"/>
              </a:spcAft>
            </a:pPr>
            <a:r>
              <a:rPr sz="1300" b="0">
                <a:solidFill>
                  <a:srgbClr val="1F3B63"/>
                </a:solidFill>
              </a:rPr>
              <a:t>Hansol Lim</a:t>
            </a:r>
          </a:p>
          <a:p>
            <a:pPr>
              <a:lnSpc>
                <a:spcPct val="130000"/>
              </a:lnSpc>
              <a:spcAft>
                <a:spcPts val="400"/>
              </a:spcAft>
            </a:pPr>
            <a:r>
              <a:rPr sz="1300" b="0">
                <a:solidFill>
                  <a:srgbClr val="1F3B63"/>
                </a:solidFill>
              </a:rPr>
              <a:t>Morphine lick-PR / TRAP2;Ai14 / Xenium</a:t>
            </a:r>
          </a:p>
          <a:p>
            <a:pPr>
              <a:lnSpc>
                <a:spcPct val="130000"/>
              </a:lnSpc>
              <a:spcAft>
                <a:spcPts val="400"/>
              </a:spcAft>
            </a:pPr>
            <a:r>
              <a:rPr sz="1300" b="0">
                <a:solidFill>
                  <a:srgbClr val="1F3B63"/>
                </a:solidFill>
              </a:rPr>
              <a:t>August 2026</a:t>
            </a:r>
          </a:p>
        </p:txBody>
      </p:sp>
      <p:sp>
        <p:nvSpPr>
          <p:cNvPr id="6" name="Rectangle 5"/>
          <p:cNvSpPr/>
          <p:nvPr/>
        </p:nvSpPr>
        <p:spPr>
          <a:xfrm>
            <a:off x="6238951" y="2880360"/>
            <a:ext cx="5449824" cy="292608"/>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WHAT I AM ASKING FOR</a:t>
            </a:r>
          </a:p>
        </p:txBody>
      </p:sp>
      <p:sp>
        <p:nvSpPr>
          <p:cNvPr id="7" name="Rectangle 6"/>
          <p:cNvSpPr/>
          <p:nvPr/>
        </p:nvSpPr>
        <p:spPr>
          <a:xfrm>
            <a:off x="6238951" y="3172968"/>
            <a:ext cx="5449824" cy="272491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200" b="0">
                <a:solidFill>
                  <a:srgbClr val="595959"/>
                </a:solidFill>
              </a:rPr>
              <a:t>1.  Approval to run the Xenium pilot with Alina's lab in September, using the base mouse brain panel on tissue we already have.</a:t>
            </a:r>
          </a:p>
          <a:p>
            <a:pPr algn="l">
              <a:lnSpc>
                <a:spcPct val="97000"/>
              </a:lnSpc>
              <a:spcAft>
                <a:spcPts val="500"/>
              </a:spcAft>
            </a:pPr>
            <a:r>
              <a:rPr sz="1200" b="0">
                <a:solidFill>
                  <a:srgbClr val="595959"/>
                </a:solidFill>
              </a:rPr>
              <a:t>2.  Approval to order the custom probe panel in October once pilot QC passes.</a:t>
            </a:r>
          </a:p>
          <a:p>
            <a:pPr algn="l">
              <a:lnSpc>
                <a:spcPct val="97000"/>
              </a:lnSpc>
              <a:spcAft>
                <a:spcPts val="500"/>
              </a:spcAft>
            </a:pPr>
            <a:r>
              <a:rPr sz="1200" b="0">
                <a:solidFill>
                  <a:srgbClr val="595959"/>
                </a:solidFill>
              </a:rPr>
              <a:t>3.  Agreement on one design change to the chemogenetics plan: test at protracted abstinence rather than inside the 3-day Post window. Slides 8-9 show why the original plan would have produced a false negative.</a:t>
            </a:r>
          </a:p>
          <a:p>
            <a:pPr algn="l">
              <a:lnSpc>
                <a:spcPct val="97000"/>
              </a:lnSpc>
              <a:spcAft>
                <a:spcPts val="500"/>
              </a:spcAft>
            </a:pPr>
            <a:r>
              <a:rPr sz="1200" b="0">
                <a:solidFill>
                  <a:srgbClr val="595959"/>
                </a:solidFill>
              </a:rPr>
              <a:t>4.  Sign-off on group sizes. My first sketch (n=4) has ~29% power; I propose it as an expression pilot and a powered cohort behind it.</a:t>
            </a:r>
          </a:p>
        </p:txBody>
      </p:sp>
      <p:sp>
        <p:nvSpPr>
          <p:cNvPr id="8" name="TextBox 7"/>
          <p:cNvSpPr txBox="1"/>
          <p:nvPr/>
        </p:nvSpPr>
        <p:spPr>
          <a:xfrm>
            <a:off x="502920" y="6473952"/>
            <a:ext cx="11185855" cy="256032"/>
          </a:xfrm>
          <a:prstGeom prst="rect">
            <a:avLst/>
          </a:prstGeom>
          <a:noFill/>
        </p:spPr>
        <p:txBody>
          <a:bodyPr wrap="square">
            <a:spAutoFit/>
          </a:bodyPr>
          <a:lstStyle/>
          <a:p>
            <a:pPr algn="l">
              <a:lnSpc>
                <a:spcPct val="95000"/>
              </a:lnSpc>
              <a:spcAft>
                <a:spcPts val="400"/>
              </a:spcAft>
            </a:pPr>
            <a:r>
              <a:rPr sz="950" b="0">
                <a:solidFill>
                  <a:srgbClr val="595959"/>
                </a:solidFill>
              </a:rPr>
              <a:t>All timing parameters cited on the final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STATUS</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Where we are</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Three pieces of work are finished and feed directly into the next phase</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547872" cy="292608"/>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1  WHOLE-BRAIN TRAP SCREEN  (done)</a:t>
            </a:r>
          </a:p>
        </p:txBody>
      </p:sp>
      <p:sp>
        <p:nvSpPr>
          <p:cNvPr id="7" name="Rectangle 6"/>
          <p:cNvSpPr/>
          <p:nvPr/>
        </p:nvSpPr>
        <p:spPr>
          <a:xfrm>
            <a:off x="502920" y="1591056"/>
            <a:ext cx="3547872" cy="254203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200" b="0">
                <a:solidFill>
                  <a:srgbClr val="595959"/>
                </a:solidFill>
              </a:rPr>
              <a:t>20 mice, 10 Active / 10 Passive, terminal design: each mouse is sacrificed at one behavioural phase.</a:t>
            </a:r>
          </a:p>
          <a:p>
            <a:pPr algn="l">
              <a:lnSpc>
                <a:spcPct val="97000"/>
              </a:lnSpc>
              <a:spcAft>
                <a:spcPts val="500"/>
              </a:spcAft>
            </a:pPr>
            <a:r>
              <a:rPr sz="1200" b="0">
                <a:solidFill>
                  <a:srgbClr val="595959"/>
                </a:solidFill>
              </a:rPr>
              <a:t>Phases sampled: During, Post, Withdrawal, Reinstatement.</a:t>
            </a:r>
          </a:p>
          <a:p>
            <a:pPr algn="l">
              <a:lnSpc>
                <a:spcPct val="97000"/>
              </a:lnSpc>
              <a:spcAft>
                <a:spcPts val="500"/>
              </a:spcAft>
            </a:pPr>
            <a:r>
              <a:rPr sz="1200" b="0">
                <a:solidFill>
                  <a:srgbClr val="595959"/>
                </a:solidFill>
              </a:rPr>
              <a:t>Readout: tdTomato+ cell density per Allen region, Active vs Passive within phase.</a:t>
            </a:r>
          </a:p>
        </p:txBody>
      </p:sp>
      <p:sp>
        <p:nvSpPr>
          <p:cNvPr id="8" name="Rectangle 7"/>
          <p:cNvSpPr/>
          <p:nvPr/>
        </p:nvSpPr>
        <p:spPr>
          <a:xfrm>
            <a:off x="4315968" y="1298448"/>
            <a:ext cx="3547872" cy="292608"/>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2  REGION SELECTION  (done)</a:t>
            </a:r>
          </a:p>
        </p:txBody>
      </p:sp>
      <p:sp>
        <p:nvSpPr>
          <p:cNvPr id="9" name="Rectangle 8"/>
          <p:cNvSpPr/>
          <p:nvPr/>
        </p:nvSpPr>
        <p:spPr>
          <a:xfrm>
            <a:off x="4315968" y="1591056"/>
            <a:ext cx="3547872" cy="254203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200" b="0">
                <a:solidFill>
                  <a:srgbClr val="595959"/>
                </a:solidFill>
              </a:rPr>
              <a:t>7 candidate regions carried forward for spatial transcriptomics: ORBm, AId, CA, BMAp, LM, RE, CP.</a:t>
            </a:r>
          </a:p>
          <a:p>
            <a:pPr algn="l">
              <a:lnSpc>
                <a:spcPct val="97000"/>
              </a:lnSpc>
              <a:spcAft>
                <a:spcPts val="500"/>
              </a:spcAft>
            </a:pPr>
            <a:r>
              <a:rPr sz="1200" b="0">
                <a:solidFill>
                  <a:srgbClr val="595959"/>
                </a:solidFill>
              </a:rPr>
              <a:t>Selection rule: Active &gt; Passive in the craving phases (Post and Reinstatement) and still separated during Withdrawal.</a:t>
            </a:r>
          </a:p>
          <a:p>
            <a:pPr algn="l">
              <a:lnSpc>
                <a:spcPct val="97000"/>
              </a:lnSpc>
              <a:spcAft>
                <a:spcPts val="500"/>
              </a:spcAft>
            </a:pPr>
            <a:r>
              <a:rPr sz="1200" b="1">
                <a:solidFill>
                  <a:srgbClr val="1F3B63"/>
                </a:solidFill>
              </a:rPr>
              <a:t>ORBm and BMAp are the two I propose to take forward now.</a:t>
            </a:r>
          </a:p>
        </p:txBody>
      </p:sp>
      <p:sp>
        <p:nvSpPr>
          <p:cNvPr id="10" name="Rectangle 9"/>
          <p:cNvSpPr/>
          <p:nvPr/>
        </p:nvSpPr>
        <p:spPr>
          <a:xfrm>
            <a:off x="8129016" y="1298448"/>
            <a:ext cx="3547872" cy="292608"/>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3  PROBE PANEL  (done)</a:t>
            </a:r>
          </a:p>
        </p:txBody>
      </p:sp>
      <p:sp>
        <p:nvSpPr>
          <p:cNvPr id="11" name="Rectangle 10"/>
          <p:cNvSpPr/>
          <p:nvPr/>
        </p:nvSpPr>
        <p:spPr>
          <a:xfrm>
            <a:off x="8129016" y="1591056"/>
            <a:ext cx="3547872" cy="254203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200" b="0">
                <a:solidFill>
                  <a:srgbClr val="595959"/>
                </a:solidFill>
              </a:rPr>
              <a:t>Built from Allen Whole Mouse Brain 10X: per-subclass discriminating markers plus GPCR specificity tiers.</a:t>
            </a:r>
          </a:p>
          <a:p>
            <a:pPr algn="l">
              <a:lnSpc>
                <a:spcPct val="97000"/>
              </a:lnSpc>
              <a:spcAft>
                <a:spcPts val="500"/>
              </a:spcAft>
            </a:pPr>
            <a:r>
              <a:rPr sz="1200" b="0">
                <a:solidFill>
                  <a:srgbClr val="595959"/>
                </a:solidFill>
              </a:rPr>
              <a:t>168 genes covering 20 Allen subclass populations across the two regions; 77 of them are the minimum that still identifies all 20.</a:t>
            </a:r>
          </a:p>
          <a:p>
            <a:pPr algn="l">
              <a:lnSpc>
                <a:spcPct val="97000"/>
              </a:lnSpc>
              <a:spcAft>
                <a:spcPts val="500"/>
              </a:spcAft>
            </a:pPr>
            <a:r>
              <a:rPr sz="1200" b="0">
                <a:solidFill>
                  <a:srgbClr val="595959"/>
                </a:solidFill>
              </a:rPr>
              <a:t>Code and audit trail on GitHub.</a:t>
            </a:r>
          </a:p>
        </p:txBody>
      </p:sp>
      <p:sp>
        <p:nvSpPr>
          <p:cNvPr id="12" name="Rectangle 11"/>
          <p:cNvSpPr/>
          <p:nvPr/>
        </p:nvSpPr>
        <p:spPr>
          <a:xfrm>
            <a:off x="502920" y="4343400"/>
            <a:ext cx="11185855" cy="1051560"/>
          </a:xfrm>
          <a:prstGeom prst="rect">
            <a:avLst/>
          </a:prstGeom>
          <a:solidFill>
            <a:srgbClr val="FFF4D6"/>
          </a:solidFill>
          <a:ln w="15875">
            <a:solidFill>
              <a:srgbClr val="9C6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l">
              <a:lnSpc>
                <a:spcPct val="100000"/>
              </a:lnSpc>
              <a:spcAft>
                <a:spcPts val="400"/>
              </a:spcAft>
            </a:pPr>
            <a:r>
              <a:rPr sz="1250" b="1">
                <a:solidFill>
                  <a:srgbClr val="1F3B63"/>
                </a:solidFill>
              </a:rPr>
              <a:t>The screen has told us WHERE and WHEN. It cannot tell us WHAT those neurons are, and it cannot tell us whether the behaviour needs them. Those are the two experiments in this deck.</a:t>
            </a:r>
          </a:p>
        </p:txBody>
      </p:sp>
      <p:sp>
        <p:nvSpPr>
          <p:cNvPr id="13" name="TextBox 12"/>
          <p:cNvSpPr txBox="1"/>
          <p:nvPr/>
        </p:nvSpPr>
        <p:spPr>
          <a:xfrm>
            <a:off x="502920" y="6473952"/>
            <a:ext cx="11185855" cy="256032"/>
          </a:xfrm>
          <a:prstGeom prst="rect">
            <a:avLst/>
          </a:prstGeom>
          <a:noFill/>
        </p:spPr>
        <p:txBody>
          <a:bodyPr wrap="square">
            <a:spAutoFit/>
          </a:bodyPr>
          <a:lstStyle/>
          <a:p>
            <a:pPr algn="l">
              <a:lnSpc>
                <a:spcPct val="95000"/>
              </a:lnSpc>
              <a:spcAft>
                <a:spcPts val="400"/>
              </a:spcAft>
            </a:pPr>
            <a:r>
              <a:rPr sz="950" b="0">
                <a:solidFill>
                  <a:srgbClr val="595959"/>
                </a:solidFill>
              </a:rPr>
              <a:t>Sources: TRAP_sample_manifest.csv; Fig06_7region_phase_delta.csv; Genelist_analysis_WMB v3.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MOTIVATION</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The result that drives the next phase</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Active−Passive TRAP density separates at Post and Reinstatement — not while the mice are taking morphine</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98448"/>
          <a:ext cx="5486400" cy="2441448"/>
        </p:xfrm>
        <a:graphic>
          <a:graphicData uri="http://schemas.openxmlformats.org/drawingml/2006/table">
            <a:tbl>
              <a:tblPr firstRow="1" bandRow="1">
                <a:tableStyleId>{5C22544A-7EE6-4342-B048-85BDC9FD1C3A}</a:tableStyleId>
              </a:tblPr>
              <a:tblGrid>
                <a:gridCol w="1188720"/>
                <a:gridCol w="822960"/>
                <a:gridCol w="1554480"/>
                <a:gridCol w="1920240"/>
              </a:tblGrid>
              <a:tr h="457200">
                <a:tc>
                  <a:txBody>
                    <a:bodyPr/>
                    <a:lstStyle/>
                    <a:p>
                      <a:pPr algn="l">
                        <a:lnSpc>
                          <a:spcPct val="92000"/>
                        </a:lnSpc>
                      </a:pPr>
                      <a:r>
                        <a:rPr sz="1100" b="1">
                          <a:solidFill>
                            <a:srgbClr val="FFFFFF"/>
                          </a:solidFill>
                        </a:rPr>
                        <a:t>Region</a:t>
                      </a:r>
                    </a:p>
                  </a:txBody>
                  <a:tcPr anchor="ctr" marL="54864" marR="54864" marT="18288" marB="18288">
                    <a:solidFill>
                      <a:srgbClr val="1F3B63"/>
                    </a:solidFill>
                  </a:tcPr>
                </a:tc>
                <a:tc>
                  <a:txBody>
                    <a:bodyPr/>
                    <a:lstStyle/>
                    <a:p>
                      <a:pPr algn="ctr">
                        <a:lnSpc>
                          <a:spcPct val="92000"/>
                        </a:lnSpc>
                      </a:pPr>
                      <a:r>
                        <a:rPr sz="1100" b="1">
                          <a:solidFill>
                            <a:srgbClr val="FFFFFF"/>
                          </a:solidFill>
                        </a:rPr>
                        <a:t>Cluster</a:t>
                      </a:r>
                    </a:p>
                  </a:txBody>
                  <a:tcPr anchor="ctr" marL="54864" marR="54864" marT="18288" marB="18288">
                    <a:solidFill>
                      <a:srgbClr val="1F3B63"/>
                    </a:solidFill>
                  </a:tcPr>
                </a:tc>
                <a:tc>
                  <a:txBody>
                    <a:bodyPr/>
                    <a:lstStyle/>
                    <a:p>
                      <a:pPr algn="ctr">
                        <a:lnSpc>
                          <a:spcPct val="92000"/>
                        </a:lnSpc>
                      </a:pPr>
                      <a:r>
                        <a:rPr sz="1100" b="1">
                          <a:solidFill>
                            <a:srgbClr val="FFFFFF"/>
                          </a:solidFill>
                        </a:rPr>
                        <a:t>Active − Passive</a:t>
                      </a:r>
                    </a:p>
                    <a:p>
                      <a:pPr algn="ctr">
                        <a:lnSpc>
                          <a:spcPct val="92000"/>
                        </a:lnSpc>
                      </a:pPr>
                      <a:r>
                        <a:rPr sz="1100" b="1">
                          <a:solidFill>
                            <a:srgbClr val="FFFFFF"/>
                          </a:solidFill>
                        </a:rPr>
                        <a:t>(craving phases)</a:t>
                      </a:r>
                    </a:p>
                  </a:txBody>
                  <a:tcPr anchor="ctr" marL="54864" marR="54864" marT="18288" marB="18288">
                    <a:solidFill>
                      <a:srgbClr val="1F3B63"/>
                    </a:solidFill>
                  </a:tcPr>
                </a:tc>
                <a:tc>
                  <a:txBody>
                    <a:bodyPr/>
                    <a:lstStyle/>
                    <a:p>
                      <a:pPr algn="l">
                        <a:lnSpc>
                          <a:spcPct val="92000"/>
                        </a:lnSpc>
                      </a:pPr>
                      <a:r>
                        <a:rPr sz="1100" b="1">
                          <a:solidFill>
                            <a:srgbClr val="FFFFFF"/>
                          </a:solidFill>
                        </a:rPr>
                        <a:t>Take forward?</a:t>
                      </a:r>
                    </a:p>
                  </a:txBody>
                  <a:tcPr anchor="ctr" marL="54864" marR="54864" marT="18288" marB="18288">
                    <a:solidFill>
                      <a:srgbClr val="1F3B63"/>
                    </a:solidFill>
                  </a:tcPr>
                </a:tc>
              </a:tr>
              <a:tr h="283464">
                <a:tc>
                  <a:txBody>
                    <a:bodyPr/>
                    <a:lstStyle/>
                    <a:p>
                      <a:pPr algn="l">
                        <a:lnSpc>
                          <a:spcPct val="92000"/>
                        </a:lnSpc>
                      </a:pPr>
                      <a:r>
                        <a:rPr sz="1100" b="0">
                          <a:solidFill>
                            <a:srgbClr val="1F3B63"/>
                          </a:solidFill>
                        </a:rPr>
                        <a:t>RE</a:t>
                      </a:r>
                    </a:p>
                  </a:txBody>
                  <a:tcPr anchor="ctr" marL="54864" marR="54864" marT="18288" marB="18288">
                    <a:solidFill>
                      <a:srgbClr val="FFFFFF"/>
                    </a:solidFill>
                  </a:tcPr>
                </a:tc>
                <a:tc>
                  <a:txBody>
                    <a:bodyPr/>
                    <a:lstStyle/>
                    <a:p>
                      <a:pPr algn="ctr">
                        <a:lnSpc>
                          <a:spcPct val="92000"/>
                        </a:lnSpc>
                      </a:pPr>
                      <a:r>
                        <a:rPr sz="1100" b="0">
                          <a:solidFill>
                            <a:srgbClr val="1F3B63"/>
                          </a:solidFill>
                        </a:rPr>
                        <a:t>4</a:t>
                      </a:r>
                    </a:p>
                  </a:txBody>
                  <a:tcPr anchor="ctr" marL="54864" marR="54864" marT="18288" marB="18288">
                    <a:solidFill>
                      <a:srgbClr val="FFFFFF"/>
                    </a:solidFill>
                  </a:tcPr>
                </a:tc>
                <a:tc>
                  <a:txBody>
                    <a:bodyPr/>
                    <a:lstStyle/>
                    <a:p>
                      <a:pPr algn="ctr">
                        <a:lnSpc>
                          <a:spcPct val="92000"/>
                        </a:lnSpc>
                      </a:pPr>
                      <a:r>
                        <a:rPr sz="1100" b="0">
                          <a:solidFill>
                            <a:srgbClr val="1F3B63"/>
                          </a:solidFill>
                        </a:rPr>
                        <a:t>1.19</a:t>
                      </a:r>
                    </a:p>
                  </a:txBody>
                  <a:tcPr anchor="ctr" marL="54864" marR="54864" marT="18288" marB="18288">
                    <a:solidFill>
                      <a:srgbClr val="FFFFFF"/>
                    </a:solidFill>
                  </a:tcPr>
                </a:tc>
                <a:tc>
                  <a:txBody>
                    <a:bodyPr/>
                    <a:lstStyle/>
                    <a:p>
                      <a:pPr algn="l">
                        <a:lnSpc>
                          <a:spcPct val="92000"/>
                        </a:lnSpc>
                      </a:pPr>
                    </a:p>
                  </a:txBody>
                  <a:tcPr anchor="ctr" marL="54864" marR="54864" marT="18288" marB="18288">
                    <a:solidFill>
                      <a:srgbClr val="FFFFFF"/>
                    </a:solidFill>
                  </a:tcPr>
                </a:tc>
              </a:tr>
              <a:tr h="283464">
                <a:tc>
                  <a:txBody>
                    <a:bodyPr/>
                    <a:lstStyle/>
                    <a:p>
                      <a:pPr algn="l">
                        <a:lnSpc>
                          <a:spcPct val="92000"/>
                        </a:lnSpc>
                      </a:pPr>
                      <a:r>
                        <a:rPr sz="1100" b="0">
                          <a:solidFill>
                            <a:srgbClr val="1F3B63"/>
                          </a:solidFill>
                        </a:rPr>
                        <a:t>ORBm</a:t>
                      </a:r>
                    </a:p>
                  </a:txBody>
                  <a:tcPr anchor="ctr" marL="54864" marR="54864" marT="18288" marB="18288">
                    <a:solidFill>
                      <a:srgbClr val="D8ECD8"/>
                    </a:solidFill>
                  </a:tcPr>
                </a:tc>
                <a:tc>
                  <a:txBody>
                    <a:bodyPr/>
                    <a:lstStyle/>
                    <a:p>
                      <a:pPr algn="ctr">
                        <a:lnSpc>
                          <a:spcPct val="92000"/>
                        </a:lnSpc>
                      </a:pPr>
                      <a:r>
                        <a:rPr sz="1100" b="0">
                          <a:solidFill>
                            <a:srgbClr val="1F3B63"/>
                          </a:solidFill>
                        </a:rPr>
                        <a:t>1</a:t>
                      </a:r>
                    </a:p>
                  </a:txBody>
                  <a:tcPr anchor="ctr" marL="54864" marR="54864" marT="18288" marB="18288">
                    <a:solidFill>
                      <a:srgbClr val="D8ECD8"/>
                    </a:solidFill>
                  </a:tcPr>
                </a:tc>
                <a:tc>
                  <a:txBody>
                    <a:bodyPr/>
                    <a:lstStyle/>
                    <a:p>
                      <a:pPr algn="ctr">
                        <a:lnSpc>
                          <a:spcPct val="92000"/>
                        </a:lnSpc>
                      </a:pPr>
                      <a:r>
                        <a:rPr sz="1100" b="0">
                          <a:solidFill>
                            <a:srgbClr val="1F3B63"/>
                          </a:solidFill>
                        </a:rPr>
                        <a:t>1.04</a:t>
                      </a:r>
                    </a:p>
                  </a:txBody>
                  <a:tcPr anchor="ctr" marL="54864" marR="54864" marT="18288" marB="18288">
                    <a:solidFill>
                      <a:srgbClr val="D8ECD8"/>
                    </a:solidFill>
                  </a:tcPr>
                </a:tc>
                <a:tc>
                  <a:txBody>
                    <a:bodyPr/>
                    <a:lstStyle/>
                    <a:p>
                      <a:pPr algn="l">
                        <a:lnSpc>
                          <a:spcPct val="92000"/>
                        </a:lnSpc>
                      </a:pPr>
                      <a:r>
                        <a:rPr sz="1100" b="0">
                          <a:solidFill>
                            <a:srgbClr val="1F3B63"/>
                          </a:solidFill>
                        </a:rPr>
                        <a:t>YES — Experiment 1 + 2</a:t>
                      </a:r>
                    </a:p>
                  </a:txBody>
                  <a:tcPr anchor="ctr" marL="54864" marR="54864" marT="18288" marB="18288">
                    <a:solidFill>
                      <a:srgbClr val="D8ECD8"/>
                    </a:solidFill>
                  </a:tcPr>
                </a:tc>
              </a:tr>
              <a:tr h="283464">
                <a:tc>
                  <a:txBody>
                    <a:bodyPr/>
                    <a:lstStyle/>
                    <a:p>
                      <a:pPr algn="l">
                        <a:lnSpc>
                          <a:spcPct val="92000"/>
                        </a:lnSpc>
                      </a:pPr>
                      <a:r>
                        <a:rPr sz="1100" b="0">
                          <a:solidFill>
                            <a:srgbClr val="1F3B63"/>
                          </a:solidFill>
                        </a:rPr>
                        <a:t>CA</a:t>
                      </a:r>
                    </a:p>
                  </a:txBody>
                  <a:tcPr anchor="ctr" marL="54864" marR="54864" marT="18288" marB="18288">
                    <a:solidFill>
                      <a:srgbClr val="FFFFFF"/>
                    </a:solidFill>
                  </a:tcPr>
                </a:tc>
                <a:tc>
                  <a:txBody>
                    <a:bodyPr/>
                    <a:lstStyle/>
                    <a:p>
                      <a:pPr algn="ctr">
                        <a:lnSpc>
                          <a:spcPct val="92000"/>
                        </a:lnSpc>
                      </a:pPr>
                      <a:r>
                        <a:rPr sz="1100" b="0">
                          <a:solidFill>
                            <a:srgbClr val="1F3B63"/>
                          </a:solidFill>
                        </a:rPr>
                        <a:t>1</a:t>
                      </a:r>
                    </a:p>
                  </a:txBody>
                  <a:tcPr anchor="ctr" marL="54864" marR="54864" marT="18288" marB="18288">
                    <a:solidFill>
                      <a:srgbClr val="FFFFFF"/>
                    </a:solidFill>
                  </a:tcPr>
                </a:tc>
                <a:tc>
                  <a:txBody>
                    <a:bodyPr/>
                    <a:lstStyle/>
                    <a:p>
                      <a:pPr algn="ctr">
                        <a:lnSpc>
                          <a:spcPct val="92000"/>
                        </a:lnSpc>
                      </a:pPr>
                      <a:r>
                        <a:rPr sz="1100" b="0">
                          <a:solidFill>
                            <a:srgbClr val="1F3B63"/>
                          </a:solidFill>
                        </a:rPr>
                        <a:t>0.97</a:t>
                      </a:r>
                    </a:p>
                  </a:txBody>
                  <a:tcPr anchor="ctr" marL="54864" marR="54864" marT="18288" marB="18288">
                    <a:solidFill>
                      <a:srgbClr val="FFFFFF"/>
                    </a:solidFill>
                  </a:tcPr>
                </a:tc>
                <a:tc>
                  <a:txBody>
                    <a:bodyPr/>
                    <a:lstStyle/>
                    <a:p>
                      <a:pPr algn="l">
                        <a:lnSpc>
                          <a:spcPct val="92000"/>
                        </a:lnSpc>
                      </a:pPr>
                    </a:p>
                  </a:txBody>
                  <a:tcPr anchor="ctr" marL="54864" marR="54864" marT="18288" marB="18288">
                    <a:solidFill>
                      <a:srgbClr val="FFFFFF"/>
                    </a:solidFill>
                  </a:tcPr>
                </a:tc>
              </a:tr>
              <a:tr h="283464">
                <a:tc>
                  <a:txBody>
                    <a:bodyPr/>
                    <a:lstStyle/>
                    <a:p>
                      <a:pPr algn="l">
                        <a:lnSpc>
                          <a:spcPct val="92000"/>
                        </a:lnSpc>
                      </a:pPr>
                      <a:r>
                        <a:rPr sz="1100" b="0">
                          <a:solidFill>
                            <a:srgbClr val="1F3B63"/>
                          </a:solidFill>
                        </a:rPr>
                        <a:t>LM</a:t>
                      </a:r>
                    </a:p>
                  </a:txBody>
                  <a:tcPr anchor="ctr" marL="54864" marR="54864" marT="18288" marB="18288">
                    <a:solidFill>
                      <a:srgbClr val="EEF3F9"/>
                    </a:solidFill>
                  </a:tcPr>
                </a:tc>
                <a:tc>
                  <a:txBody>
                    <a:bodyPr/>
                    <a:lstStyle/>
                    <a:p>
                      <a:pPr algn="ctr">
                        <a:lnSpc>
                          <a:spcPct val="92000"/>
                        </a:lnSpc>
                      </a:pPr>
                      <a:r>
                        <a:rPr sz="1100" b="0">
                          <a:solidFill>
                            <a:srgbClr val="1F3B63"/>
                          </a:solidFill>
                        </a:rPr>
                        <a:t>4</a:t>
                      </a:r>
                    </a:p>
                  </a:txBody>
                  <a:tcPr anchor="ctr" marL="54864" marR="54864" marT="18288" marB="18288">
                    <a:solidFill>
                      <a:srgbClr val="EEF3F9"/>
                    </a:solidFill>
                  </a:tcPr>
                </a:tc>
                <a:tc>
                  <a:txBody>
                    <a:bodyPr/>
                    <a:lstStyle/>
                    <a:p>
                      <a:pPr algn="ctr">
                        <a:lnSpc>
                          <a:spcPct val="92000"/>
                        </a:lnSpc>
                      </a:pPr>
                      <a:r>
                        <a:rPr sz="1100" b="0">
                          <a:solidFill>
                            <a:srgbClr val="1F3B63"/>
                          </a:solidFill>
                        </a:rPr>
                        <a:t>0.96</a:t>
                      </a:r>
                    </a:p>
                  </a:txBody>
                  <a:tcPr anchor="ctr" marL="54864" marR="54864" marT="18288" marB="18288">
                    <a:solidFill>
                      <a:srgbClr val="EEF3F9"/>
                    </a:solidFill>
                  </a:tcPr>
                </a:tc>
                <a:tc>
                  <a:txBody>
                    <a:bodyPr/>
                    <a:lstStyle/>
                    <a:p>
                      <a:pPr algn="l">
                        <a:lnSpc>
                          <a:spcPct val="92000"/>
                        </a:lnSpc>
                      </a:pPr>
                    </a:p>
                  </a:txBody>
                  <a:tcPr anchor="ctr" marL="54864" marR="54864" marT="18288" marB="18288">
                    <a:solidFill>
                      <a:srgbClr val="EEF3F9"/>
                    </a:solidFill>
                  </a:tcPr>
                </a:tc>
              </a:tr>
              <a:tr h="283464">
                <a:tc>
                  <a:txBody>
                    <a:bodyPr/>
                    <a:lstStyle/>
                    <a:p>
                      <a:pPr algn="l">
                        <a:lnSpc>
                          <a:spcPct val="92000"/>
                        </a:lnSpc>
                      </a:pPr>
                      <a:r>
                        <a:rPr sz="1100" b="0">
                          <a:solidFill>
                            <a:srgbClr val="1F3B63"/>
                          </a:solidFill>
                        </a:rPr>
                        <a:t>AId</a:t>
                      </a:r>
                    </a:p>
                  </a:txBody>
                  <a:tcPr anchor="ctr" marL="54864" marR="54864" marT="18288" marB="18288">
                    <a:solidFill>
                      <a:srgbClr val="FFFFFF"/>
                    </a:solidFill>
                  </a:tcPr>
                </a:tc>
                <a:tc>
                  <a:txBody>
                    <a:bodyPr/>
                    <a:lstStyle/>
                    <a:p>
                      <a:pPr algn="ctr">
                        <a:lnSpc>
                          <a:spcPct val="92000"/>
                        </a:lnSpc>
                      </a:pPr>
                      <a:r>
                        <a:rPr sz="1100" b="0">
                          <a:solidFill>
                            <a:srgbClr val="1F3B63"/>
                          </a:solidFill>
                        </a:rPr>
                        <a:t>1</a:t>
                      </a:r>
                    </a:p>
                  </a:txBody>
                  <a:tcPr anchor="ctr" marL="54864" marR="54864" marT="18288" marB="18288">
                    <a:solidFill>
                      <a:srgbClr val="FFFFFF"/>
                    </a:solidFill>
                  </a:tcPr>
                </a:tc>
                <a:tc>
                  <a:txBody>
                    <a:bodyPr/>
                    <a:lstStyle/>
                    <a:p>
                      <a:pPr algn="ctr">
                        <a:lnSpc>
                          <a:spcPct val="92000"/>
                        </a:lnSpc>
                      </a:pPr>
                      <a:r>
                        <a:rPr sz="1100" b="0">
                          <a:solidFill>
                            <a:srgbClr val="1F3B63"/>
                          </a:solidFill>
                        </a:rPr>
                        <a:t>0.85</a:t>
                      </a:r>
                    </a:p>
                  </a:txBody>
                  <a:tcPr anchor="ctr" marL="54864" marR="54864" marT="18288" marB="18288">
                    <a:solidFill>
                      <a:srgbClr val="FFFFFF"/>
                    </a:solidFill>
                  </a:tcPr>
                </a:tc>
                <a:tc>
                  <a:txBody>
                    <a:bodyPr/>
                    <a:lstStyle/>
                    <a:p>
                      <a:pPr algn="l">
                        <a:lnSpc>
                          <a:spcPct val="92000"/>
                        </a:lnSpc>
                      </a:pPr>
                    </a:p>
                  </a:txBody>
                  <a:tcPr anchor="ctr" marL="54864" marR="54864" marT="18288" marB="18288">
                    <a:solidFill>
                      <a:srgbClr val="FFFFFF"/>
                    </a:solidFill>
                  </a:tcPr>
                </a:tc>
              </a:tr>
              <a:tr h="283464">
                <a:tc>
                  <a:txBody>
                    <a:bodyPr/>
                    <a:lstStyle/>
                    <a:p>
                      <a:pPr algn="l">
                        <a:lnSpc>
                          <a:spcPct val="92000"/>
                        </a:lnSpc>
                      </a:pPr>
                      <a:r>
                        <a:rPr sz="1100" b="0">
                          <a:solidFill>
                            <a:srgbClr val="1F3B63"/>
                          </a:solidFill>
                        </a:rPr>
                        <a:t>BMAp</a:t>
                      </a:r>
                    </a:p>
                  </a:txBody>
                  <a:tcPr anchor="ctr" marL="54864" marR="54864" marT="18288" marB="18288">
                    <a:solidFill>
                      <a:srgbClr val="D8ECD8"/>
                    </a:solidFill>
                  </a:tcPr>
                </a:tc>
                <a:tc>
                  <a:txBody>
                    <a:bodyPr/>
                    <a:lstStyle/>
                    <a:p>
                      <a:pPr algn="ctr">
                        <a:lnSpc>
                          <a:spcPct val="92000"/>
                        </a:lnSpc>
                      </a:pPr>
                      <a:r>
                        <a:rPr sz="1100" b="0">
                          <a:solidFill>
                            <a:srgbClr val="1F3B63"/>
                          </a:solidFill>
                        </a:rPr>
                        <a:t>4</a:t>
                      </a:r>
                    </a:p>
                  </a:txBody>
                  <a:tcPr anchor="ctr" marL="54864" marR="54864" marT="18288" marB="18288">
                    <a:solidFill>
                      <a:srgbClr val="D8ECD8"/>
                    </a:solidFill>
                  </a:tcPr>
                </a:tc>
                <a:tc>
                  <a:txBody>
                    <a:bodyPr/>
                    <a:lstStyle/>
                    <a:p>
                      <a:pPr algn="ctr">
                        <a:lnSpc>
                          <a:spcPct val="92000"/>
                        </a:lnSpc>
                      </a:pPr>
                      <a:r>
                        <a:rPr sz="1100" b="0">
                          <a:solidFill>
                            <a:srgbClr val="1F3B63"/>
                          </a:solidFill>
                        </a:rPr>
                        <a:t>0.74</a:t>
                      </a:r>
                    </a:p>
                  </a:txBody>
                  <a:tcPr anchor="ctr" marL="54864" marR="54864" marT="18288" marB="18288">
                    <a:solidFill>
                      <a:srgbClr val="D8ECD8"/>
                    </a:solidFill>
                  </a:tcPr>
                </a:tc>
                <a:tc>
                  <a:txBody>
                    <a:bodyPr/>
                    <a:lstStyle/>
                    <a:p>
                      <a:pPr algn="l">
                        <a:lnSpc>
                          <a:spcPct val="92000"/>
                        </a:lnSpc>
                      </a:pPr>
                      <a:r>
                        <a:rPr sz="1100" b="0">
                          <a:solidFill>
                            <a:srgbClr val="1F3B63"/>
                          </a:solidFill>
                        </a:rPr>
                        <a:t>YES — Experiment 1 + 2</a:t>
                      </a:r>
                    </a:p>
                  </a:txBody>
                  <a:tcPr anchor="ctr" marL="54864" marR="54864" marT="18288" marB="18288">
                    <a:solidFill>
                      <a:srgbClr val="D8ECD8"/>
                    </a:solidFill>
                  </a:tcPr>
                </a:tc>
              </a:tr>
              <a:tr h="283464">
                <a:tc>
                  <a:txBody>
                    <a:bodyPr/>
                    <a:lstStyle/>
                    <a:p>
                      <a:pPr algn="l">
                        <a:lnSpc>
                          <a:spcPct val="92000"/>
                        </a:lnSpc>
                      </a:pPr>
                      <a:r>
                        <a:rPr sz="1100" b="0">
                          <a:solidFill>
                            <a:srgbClr val="1F3B63"/>
                          </a:solidFill>
                        </a:rPr>
                        <a:t>CP</a:t>
                      </a:r>
                    </a:p>
                  </a:txBody>
                  <a:tcPr anchor="ctr" marL="54864" marR="54864" marT="18288" marB="18288">
                    <a:solidFill>
                      <a:srgbClr val="FFFFFF"/>
                    </a:solidFill>
                  </a:tcPr>
                </a:tc>
                <a:tc>
                  <a:txBody>
                    <a:bodyPr/>
                    <a:lstStyle/>
                    <a:p>
                      <a:pPr algn="ctr">
                        <a:lnSpc>
                          <a:spcPct val="92000"/>
                        </a:lnSpc>
                      </a:pPr>
                      <a:r>
                        <a:rPr sz="1100" b="0">
                          <a:solidFill>
                            <a:srgbClr val="1F3B63"/>
                          </a:solidFill>
                        </a:rPr>
                        <a:t>4</a:t>
                      </a:r>
                    </a:p>
                  </a:txBody>
                  <a:tcPr anchor="ctr" marL="54864" marR="54864" marT="18288" marB="18288">
                    <a:solidFill>
                      <a:srgbClr val="FFFFFF"/>
                    </a:solidFill>
                  </a:tcPr>
                </a:tc>
                <a:tc>
                  <a:txBody>
                    <a:bodyPr/>
                    <a:lstStyle/>
                    <a:p>
                      <a:pPr algn="ctr">
                        <a:lnSpc>
                          <a:spcPct val="92000"/>
                        </a:lnSpc>
                      </a:pPr>
                      <a:r>
                        <a:rPr sz="1100" b="0">
                          <a:solidFill>
                            <a:srgbClr val="1F3B63"/>
                          </a:solidFill>
                        </a:rPr>
                        <a:t>0.31</a:t>
                      </a:r>
                    </a:p>
                  </a:txBody>
                  <a:tcPr anchor="ctr" marL="54864" marR="54864" marT="18288" marB="18288">
                    <a:solidFill>
                      <a:srgbClr val="FFFFFF"/>
                    </a:solidFill>
                  </a:tcPr>
                </a:tc>
                <a:tc>
                  <a:txBody>
                    <a:bodyPr/>
                    <a:lstStyle/>
                    <a:p>
                      <a:pPr algn="l">
                        <a:lnSpc>
                          <a:spcPct val="92000"/>
                        </a:lnSpc>
                      </a:pPr>
                    </a:p>
                  </a:txBody>
                  <a:tcPr anchor="ctr" marL="54864" marR="54864" marT="18288" marB="18288">
                    <a:solidFill>
                      <a:srgbClr val="FFFFFF"/>
                    </a:solidFill>
                  </a:tcPr>
                </a:tc>
              </a:tr>
            </a:tbl>
          </a:graphicData>
        </a:graphic>
      </p:graphicFrame>
      <p:sp>
        <p:nvSpPr>
          <p:cNvPr id="7" name="TextBox 6"/>
          <p:cNvSpPr txBox="1"/>
          <p:nvPr/>
        </p:nvSpPr>
        <p:spPr>
          <a:xfrm>
            <a:off x="6238951" y="1252728"/>
            <a:ext cx="5449824" cy="4983480"/>
          </a:xfrm>
          <a:prstGeom prst="rect">
            <a:avLst/>
          </a:prstGeom>
          <a:noFill/>
        </p:spPr>
        <p:txBody>
          <a:bodyPr wrap="square">
            <a:spAutoFit/>
          </a:bodyPr>
          <a:lstStyle/>
          <a:p>
            <a:pPr>
              <a:lnSpc>
                <a:spcPct val="98000"/>
              </a:lnSpc>
              <a:spcAft>
                <a:spcPts val="500"/>
              </a:spcAft>
            </a:pPr>
            <a:r>
              <a:rPr sz="1250" b="1">
                <a:solidFill>
                  <a:srgbClr val="1F3B63"/>
                </a:solidFill>
              </a:rPr>
              <a:t>What the number is</a:t>
            </a:r>
          </a:p>
          <a:p>
            <a:pPr lvl="1">
              <a:lnSpc>
                <a:spcPct val="98000"/>
              </a:lnSpc>
              <a:spcAft>
                <a:spcPts val="200"/>
              </a:spcAft>
            </a:pPr>
            <a:r>
              <a:rPr sz="1100">
                <a:solidFill>
                  <a:srgbClr val="595959"/>
                </a:solidFill>
              </a:rPr>
              <a:t>– Active minus Passive tdTomato+ density, z-scored within phase, averaged over Post and Reinstatement.</a:t>
            </a:r>
          </a:p>
          <a:p>
            <a:pPr>
              <a:lnSpc>
                <a:spcPct val="98000"/>
              </a:lnSpc>
              <a:spcAft>
                <a:spcPts val="500"/>
              </a:spcAft>
            </a:pPr>
            <a:r>
              <a:rPr sz="1250" b="1">
                <a:solidFill>
                  <a:srgbClr val="1F3B63"/>
                </a:solidFill>
              </a:rPr>
              <a:t>What the phase pattern means</a:t>
            </a:r>
          </a:p>
          <a:p>
            <a:pPr lvl="1">
              <a:lnSpc>
                <a:spcPct val="98000"/>
              </a:lnSpc>
              <a:spcAft>
                <a:spcPts val="200"/>
              </a:spcAft>
            </a:pPr>
            <a:r>
              <a:rPr sz="1100">
                <a:solidFill>
                  <a:srgbClr val="595959"/>
                </a:solidFill>
              </a:rPr>
              <a:t>– The difference is not largest during morphine taking. It is largest at Post and again at Reinstatement, and it narrows during Withdrawal.</a:t>
            </a:r>
          </a:p>
          <a:p>
            <a:pPr lvl="1">
              <a:lnSpc>
                <a:spcPct val="98000"/>
              </a:lnSpc>
              <a:spcAft>
                <a:spcPts val="200"/>
              </a:spcAft>
            </a:pPr>
            <a:r>
              <a:rPr sz="1100">
                <a:solidFill>
                  <a:srgbClr val="595959"/>
                </a:solidFill>
              </a:rPr>
              <a:t>– So the ensemble that distinguishes a mouse that earned its morphine from a mouse that merely received it is engaged at Post and re-engaged at relapse.</a:t>
            </a:r>
          </a:p>
          <a:p>
            <a:pPr>
              <a:lnSpc>
                <a:spcPct val="98000"/>
              </a:lnSpc>
              <a:spcAft>
                <a:spcPts val="500"/>
              </a:spcAft>
            </a:pPr>
            <a:r>
              <a:rPr sz="1250" b="1">
                <a:solidFill>
                  <a:srgbClr val="1F3B63"/>
                </a:solidFill>
              </a:rPr>
              <a:t>Why ORBm and BMAp specifically</a:t>
            </a:r>
          </a:p>
          <a:p>
            <a:pPr lvl="1">
              <a:lnSpc>
                <a:spcPct val="98000"/>
              </a:lnSpc>
              <a:spcAft>
                <a:spcPts val="200"/>
              </a:spcAft>
            </a:pPr>
            <a:r>
              <a:rPr sz="1100">
                <a:solidFill>
                  <a:srgbClr val="595959"/>
                </a:solidFill>
              </a:rPr>
              <a:t>– They come from the two different clusters, so together they sample a cortical and an amygdalar node rather than two versions of the same signal.</a:t>
            </a:r>
          </a:p>
          <a:p>
            <a:pPr lvl="1">
              <a:lnSpc>
                <a:spcPct val="98000"/>
              </a:lnSpc>
              <a:spcAft>
                <a:spcPts val="200"/>
              </a:spcAft>
            </a:pPr>
            <a:r>
              <a:rPr sz="1100">
                <a:solidFill>
                  <a:srgbClr val="595959"/>
                </a:solidFill>
              </a:rPr>
              <a:t>– Both have independent opioid literature: OFC is required for incubated oxycodone and heroin craving; amygdala ensembles are required for incubated craving across several drugs.</a:t>
            </a:r>
          </a:p>
          <a:p>
            <a:pPr>
              <a:lnSpc>
                <a:spcPct val="98000"/>
              </a:lnSpc>
              <a:spcAft>
                <a:spcPts val="500"/>
              </a:spcAft>
            </a:pPr>
            <a:r>
              <a:rPr sz="1250" b="1">
                <a:solidFill>
                  <a:srgbClr val="B31B1B"/>
                </a:solidFill>
              </a:rPr>
              <a:t>Limitation I want to be explicit about</a:t>
            </a:r>
          </a:p>
          <a:p>
            <a:pPr lvl="1">
              <a:lnSpc>
                <a:spcPct val="98000"/>
              </a:lnSpc>
              <a:spcAft>
                <a:spcPts val="200"/>
              </a:spcAft>
            </a:pPr>
            <a:r>
              <a:rPr sz="1100">
                <a:solidFill>
                  <a:srgbClr val="595959"/>
                </a:solidFill>
              </a:rPr>
              <a:t>– This is a correlation from a terminal design with 4-6 mice per phase. It is a hypothesis generator, not a causal claim. That is what Experiment 2 is for.</a:t>
            </a:r>
          </a:p>
        </p:txBody>
      </p:sp>
      <p:sp>
        <p:nvSpPr>
          <p:cNvPr id="8" name="TextBox 7"/>
          <p:cNvSpPr txBox="1"/>
          <p:nvPr/>
        </p:nvSpPr>
        <p:spPr>
          <a:xfrm>
            <a:off x="502920" y="4160520"/>
            <a:ext cx="5486400" cy="274320"/>
          </a:xfrm>
          <a:prstGeom prst="rect">
            <a:avLst/>
          </a:prstGeom>
          <a:noFill/>
        </p:spPr>
        <p:txBody>
          <a:bodyPr wrap="square">
            <a:spAutoFit/>
          </a:bodyPr>
          <a:lstStyle/>
          <a:p>
            <a:pPr>
              <a:lnSpc>
                <a:spcPct val="95000"/>
              </a:lnSpc>
              <a:spcAft>
                <a:spcPts val="400"/>
              </a:spcAft>
            </a:pPr>
            <a:r>
              <a:rPr sz="1100" b="1">
                <a:solidFill>
                  <a:srgbClr val="1F3B63"/>
                </a:solidFill>
              </a:rPr>
              <a:t>Where the Active−Passive difference appears across the 18-day paradigm</a:t>
            </a:r>
          </a:p>
        </p:txBody>
      </p:sp>
      <p:sp>
        <p:nvSpPr>
          <p:cNvPr id="9" name="Rectangle 8"/>
          <p:cNvSpPr/>
          <p:nvPr/>
        </p:nvSpPr>
        <p:spPr>
          <a:xfrm>
            <a:off x="502920" y="4480560"/>
            <a:ext cx="609600" cy="457200"/>
          </a:xfrm>
          <a:prstGeom prst="rect">
            <a:avLst/>
          </a:prstGeom>
          <a:solidFill>
            <a:srgbClr val="B7B7B7"/>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950" b="1">
                <a:solidFill>
                  <a:srgbClr val="1F3B63"/>
                </a:solidFill>
              </a:rPr>
              <a:t>FR</a:t>
            </a:r>
          </a:p>
          <a:p>
            <a:pPr algn="ctr">
              <a:lnSpc>
                <a:spcPct val="85000"/>
              </a:lnSpc>
            </a:pPr>
            <a:r>
              <a:rPr sz="950" b="1">
                <a:solidFill>
                  <a:srgbClr val="1F3B63"/>
                </a:solidFill>
              </a:rPr>
              <a:t>1-2</a:t>
            </a:r>
          </a:p>
        </p:txBody>
      </p:sp>
      <p:sp>
        <p:nvSpPr>
          <p:cNvPr id="10" name="Rectangle 9"/>
          <p:cNvSpPr/>
          <p:nvPr/>
        </p:nvSpPr>
        <p:spPr>
          <a:xfrm>
            <a:off x="1112520" y="4480560"/>
            <a:ext cx="914400" cy="457200"/>
          </a:xfrm>
          <a:prstGeom prst="rect">
            <a:avLst/>
          </a:prstGeom>
          <a:solidFill>
            <a:srgbClr val="7AA6C2"/>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950" b="1">
                <a:solidFill>
                  <a:srgbClr val="1F3B63"/>
                </a:solidFill>
              </a:rPr>
              <a:t>Pre</a:t>
            </a:r>
          </a:p>
          <a:p>
            <a:pPr algn="ctr">
              <a:lnSpc>
                <a:spcPct val="85000"/>
              </a:lnSpc>
            </a:pPr>
            <a:r>
              <a:rPr sz="950" b="1">
                <a:solidFill>
                  <a:srgbClr val="1F3B63"/>
                </a:solidFill>
              </a:rPr>
              <a:t>3-5</a:t>
            </a:r>
          </a:p>
        </p:txBody>
      </p:sp>
      <p:sp>
        <p:nvSpPr>
          <p:cNvPr id="11" name="Rectangle 10"/>
          <p:cNvSpPr/>
          <p:nvPr/>
        </p:nvSpPr>
        <p:spPr>
          <a:xfrm>
            <a:off x="2026920" y="4480560"/>
            <a:ext cx="1524000" cy="457200"/>
          </a:xfrm>
          <a:prstGeom prst="rect">
            <a:avLst/>
          </a:prstGeom>
          <a:solidFill>
            <a:srgbClr val="C0504D"/>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950" b="1">
                <a:solidFill>
                  <a:srgbClr val="FFFFFF"/>
                </a:solidFill>
              </a:rPr>
              <a:t>During</a:t>
            </a:r>
          </a:p>
          <a:p>
            <a:pPr algn="ctr">
              <a:lnSpc>
                <a:spcPct val="85000"/>
              </a:lnSpc>
            </a:pPr>
            <a:r>
              <a:rPr sz="950" b="1">
                <a:solidFill>
                  <a:srgbClr val="FFFFFF"/>
                </a:solidFill>
              </a:rPr>
              <a:t>6-10</a:t>
            </a:r>
          </a:p>
        </p:txBody>
      </p:sp>
      <p:sp>
        <p:nvSpPr>
          <p:cNvPr id="12" name="Rectangle 11"/>
          <p:cNvSpPr/>
          <p:nvPr/>
        </p:nvSpPr>
        <p:spPr>
          <a:xfrm>
            <a:off x="3550920" y="4480560"/>
            <a:ext cx="914400" cy="457200"/>
          </a:xfrm>
          <a:prstGeom prst="rect">
            <a:avLst/>
          </a:prstGeom>
          <a:solidFill>
            <a:srgbClr val="C0504D"/>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950" b="1">
                <a:solidFill>
                  <a:srgbClr val="FFFFFF"/>
                </a:solidFill>
              </a:rPr>
              <a:t>Post</a:t>
            </a:r>
          </a:p>
          <a:p>
            <a:pPr algn="ctr">
              <a:lnSpc>
                <a:spcPct val="85000"/>
              </a:lnSpc>
            </a:pPr>
            <a:r>
              <a:rPr sz="950" b="1">
                <a:solidFill>
                  <a:srgbClr val="FFFFFF"/>
                </a:solidFill>
              </a:rPr>
              <a:t>11-13</a:t>
            </a:r>
          </a:p>
        </p:txBody>
      </p:sp>
      <p:sp>
        <p:nvSpPr>
          <p:cNvPr id="13" name="Rectangle 12"/>
          <p:cNvSpPr/>
          <p:nvPr/>
        </p:nvSpPr>
        <p:spPr>
          <a:xfrm>
            <a:off x="4465320" y="4480560"/>
            <a:ext cx="914400" cy="457200"/>
          </a:xfrm>
          <a:prstGeom prst="rect">
            <a:avLst/>
          </a:prstGeom>
          <a:solidFill>
            <a:srgbClr val="7AA6C2"/>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950" b="1">
                <a:solidFill>
                  <a:srgbClr val="1F3B63"/>
                </a:solidFill>
              </a:rPr>
              <a:t>Withdr.</a:t>
            </a:r>
          </a:p>
          <a:p>
            <a:pPr algn="ctr">
              <a:lnSpc>
                <a:spcPct val="85000"/>
              </a:lnSpc>
            </a:pPr>
            <a:r>
              <a:rPr sz="950" b="1">
                <a:solidFill>
                  <a:srgbClr val="1F3B63"/>
                </a:solidFill>
              </a:rPr>
              <a:t>14-16</a:t>
            </a:r>
          </a:p>
        </p:txBody>
      </p:sp>
      <p:sp>
        <p:nvSpPr>
          <p:cNvPr id="14" name="Rectangle 13"/>
          <p:cNvSpPr/>
          <p:nvPr/>
        </p:nvSpPr>
        <p:spPr>
          <a:xfrm>
            <a:off x="5379720" y="4480560"/>
            <a:ext cx="609600" cy="457200"/>
          </a:xfrm>
          <a:prstGeom prst="rect">
            <a:avLst/>
          </a:prstGeom>
          <a:solidFill>
            <a:srgbClr val="C0504D"/>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950" b="1">
                <a:solidFill>
                  <a:srgbClr val="FFFFFF"/>
                </a:solidFill>
              </a:rPr>
              <a:t>Re-exp</a:t>
            </a:r>
          </a:p>
          <a:p>
            <a:pPr algn="ctr">
              <a:lnSpc>
                <a:spcPct val="85000"/>
              </a:lnSpc>
            </a:pPr>
            <a:r>
              <a:rPr sz="950" b="1">
                <a:solidFill>
                  <a:srgbClr val="FFFFFF"/>
                </a:solidFill>
              </a:rPr>
              <a:t>17-18</a:t>
            </a:r>
          </a:p>
        </p:txBody>
      </p:sp>
      <p:sp>
        <p:nvSpPr>
          <p:cNvPr id="15" name="TextBox 14"/>
          <p:cNvSpPr txBox="1"/>
          <p:nvPr/>
        </p:nvSpPr>
        <p:spPr>
          <a:xfrm>
            <a:off x="3459479" y="5010912"/>
            <a:ext cx="1097280" cy="384048"/>
          </a:xfrm>
          <a:prstGeom prst="rect">
            <a:avLst/>
          </a:prstGeom>
          <a:noFill/>
        </p:spPr>
        <p:txBody>
          <a:bodyPr wrap="square">
            <a:spAutoFit/>
          </a:bodyPr>
          <a:lstStyle/>
          <a:p>
            <a:pPr algn="ctr">
              <a:lnSpc>
                <a:spcPct val="85000"/>
              </a:lnSpc>
            </a:pPr>
            <a:r>
              <a:rPr sz="900" b="1">
                <a:solidFill>
                  <a:srgbClr val="1E6F3C"/>
                </a:solidFill>
              </a:rPr>
              <a:t>▲ gap opens</a:t>
            </a:r>
          </a:p>
        </p:txBody>
      </p:sp>
      <p:sp>
        <p:nvSpPr>
          <p:cNvPr id="16" name="TextBox 15"/>
          <p:cNvSpPr txBox="1"/>
          <p:nvPr/>
        </p:nvSpPr>
        <p:spPr>
          <a:xfrm>
            <a:off x="4373880" y="5010912"/>
            <a:ext cx="1097280" cy="384048"/>
          </a:xfrm>
          <a:prstGeom prst="rect">
            <a:avLst/>
          </a:prstGeom>
          <a:noFill/>
        </p:spPr>
        <p:txBody>
          <a:bodyPr wrap="square">
            <a:spAutoFit/>
          </a:bodyPr>
          <a:lstStyle/>
          <a:p>
            <a:pPr algn="ctr">
              <a:lnSpc>
                <a:spcPct val="85000"/>
              </a:lnSpc>
            </a:pPr>
            <a:r>
              <a:rPr sz="900" b="1">
                <a:solidFill>
                  <a:srgbClr val="9C6300"/>
                </a:solidFill>
              </a:rPr>
              <a:t>▲ gap narrows</a:t>
            </a:r>
          </a:p>
        </p:txBody>
      </p:sp>
      <p:sp>
        <p:nvSpPr>
          <p:cNvPr id="17" name="TextBox 16"/>
          <p:cNvSpPr txBox="1"/>
          <p:nvPr/>
        </p:nvSpPr>
        <p:spPr>
          <a:xfrm>
            <a:off x="5135879" y="5010912"/>
            <a:ext cx="1097280" cy="384048"/>
          </a:xfrm>
          <a:prstGeom prst="rect">
            <a:avLst/>
          </a:prstGeom>
          <a:noFill/>
        </p:spPr>
        <p:txBody>
          <a:bodyPr wrap="square">
            <a:spAutoFit/>
          </a:bodyPr>
          <a:lstStyle/>
          <a:p>
            <a:pPr algn="ctr">
              <a:lnSpc>
                <a:spcPct val="85000"/>
              </a:lnSpc>
            </a:pPr>
            <a:r>
              <a:rPr sz="900" b="1">
                <a:solidFill>
                  <a:srgbClr val="1E6F3C"/>
                </a:solidFill>
              </a:rPr>
              <a:t>▲ gap returns</a:t>
            </a:r>
          </a:p>
        </p:txBody>
      </p:sp>
      <p:sp>
        <p:nvSpPr>
          <p:cNvPr id="18" name="Rectangle 17"/>
          <p:cNvSpPr/>
          <p:nvPr/>
        </p:nvSpPr>
        <p:spPr>
          <a:xfrm>
            <a:off x="502920" y="5559552"/>
            <a:ext cx="146304" cy="1188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513832"/>
            <a:ext cx="1243584" cy="219456"/>
          </a:xfrm>
          <a:prstGeom prst="rect">
            <a:avLst/>
          </a:prstGeom>
          <a:noFill/>
        </p:spPr>
        <p:txBody>
          <a:bodyPr wrap="square">
            <a:spAutoFit/>
          </a:bodyPr>
          <a:lstStyle/>
          <a:p>
            <a:pPr>
              <a:lnSpc>
                <a:spcPct val="95000"/>
              </a:lnSpc>
              <a:spcAft>
                <a:spcPts val="400"/>
              </a:spcAft>
            </a:pPr>
            <a:r>
              <a:rPr sz="900" b="0">
                <a:solidFill>
                  <a:srgbClr val="595959"/>
                </a:solidFill>
              </a:rPr>
              <a:t>morphine</a:t>
            </a:r>
          </a:p>
        </p:txBody>
      </p:sp>
      <p:sp>
        <p:nvSpPr>
          <p:cNvPr id="20" name="Rectangle 19"/>
          <p:cNvSpPr/>
          <p:nvPr/>
        </p:nvSpPr>
        <p:spPr>
          <a:xfrm>
            <a:off x="1399032" y="5559552"/>
            <a:ext cx="146304" cy="118872"/>
          </a:xfrm>
          <a:prstGeom prst="rect">
            <a:avLst/>
          </a:prstGeom>
          <a:solidFill>
            <a:srgbClr val="7AA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81912" y="5513832"/>
            <a:ext cx="914400" cy="219456"/>
          </a:xfrm>
          <a:prstGeom prst="rect">
            <a:avLst/>
          </a:prstGeom>
          <a:noFill/>
        </p:spPr>
        <p:txBody>
          <a:bodyPr wrap="square">
            <a:spAutoFit/>
          </a:bodyPr>
          <a:lstStyle/>
          <a:p>
            <a:pPr>
              <a:lnSpc>
                <a:spcPct val="95000"/>
              </a:lnSpc>
              <a:spcAft>
                <a:spcPts val="400"/>
              </a:spcAft>
            </a:pPr>
            <a:r>
              <a:rPr sz="900" b="0">
                <a:solidFill>
                  <a:srgbClr val="595959"/>
                </a:solidFill>
              </a:rPr>
              <a:t>water</a:t>
            </a:r>
          </a:p>
        </p:txBody>
      </p:sp>
      <p:sp>
        <p:nvSpPr>
          <p:cNvPr id="22" name="Rectangle 21"/>
          <p:cNvSpPr/>
          <p:nvPr/>
        </p:nvSpPr>
        <p:spPr>
          <a:xfrm>
            <a:off x="2089403" y="5559552"/>
            <a:ext cx="146304" cy="118872"/>
          </a:xfrm>
          <a:prstGeom prst="rect">
            <a:avLst/>
          </a:prstGeom>
          <a:solidFill>
            <a:srgbClr val="B7B7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2283" y="5513832"/>
            <a:ext cx="1572767" cy="219456"/>
          </a:xfrm>
          <a:prstGeom prst="rect">
            <a:avLst/>
          </a:prstGeom>
          <a:noFill/>
        </p:spPr>
        <p:txBody>
          <a:bodyPr wrap="square">
            <a:spAutoFit/>
          </a:bodyPr>
          <a:lstStyle/>
          <a:p>
            <a:pPr>
              <a:lnSpc>
                <a:spcPct val="95000"/>
              </a:lnSpc>
              <a:spcAft>
                <a:spcPts val="400"/>
              </a:spcAft>
            </a:pPr>
            <a:r>
              <a:rPr sz="900" b="0">
                <a:solidFill>
                  <a:srgbClr val="595959"/>
                </a:solidFill>
              </a:rPr>
              <a:t>fixed ratio</a:t>
            </a:r>
          </a:p>
        </p:txBody>
      </p:sp>
      <p:sp>
        <p:nvSpPr>
          <p:cNvPr id="24" name="TextBox 23"/>
          <p:cNvSpPr txBox="1"/>
          <p:nvPr/>
        </p:nvSpPr>
        <p:spPr>
          <a:xfrm>
            <a:off x="502920" y="6473952"/>
            <a:ext cx="11185855" cy="256032"/>
          </a:xfrm>
          <a:prstGeom prst="rect">
            <a:avLst/>
          </a:prstGeom>
          <a:noFill/>
        </p:spPr>
        <p:txBody>
          <a:bodyPr wrap="square">
            <a:spAutoFit/>
          </a:bodyPr>
          <a:lstStyle/>
          <a:p>
            <a:pPr algn="l">
              <a:lnSpc>
                <a:spcPct val="95000"/>
              </a:lnSpc>
              <a:spcAft>
                <a:spcPts val="400"/>
              </a:spcAft>
            </a:pPr>
            <a:r>
              <a:rPr sz="950" b="0">
                <a:solidFill>
                  <a:srgbClr val="595959"/>
                </a:solidFill>
              </a:rPr>
              <a:t>Fig06_7region_phase_delta.csv; paired_slope_consistency.csv. Opioid literature cited on final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PLAN</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Two questions, two experiments</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Experiment 1 gives us the target. Experiment 2 gives us the causal claim.</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5449824" cy="292608"/>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Q1  WHAT ARE THESE NEURONS?     →  EXPERIMENT 1: Xenium</a:t>
            </a:r>
          </a:p>
        </p:txBody>
      </p:sp>
      <p:sp>
        <p:nvSpPr>
          <p:cNvPr id="7" name="Rectangle 6"/>
          <p:cNvSpPr/>
          <p:nvPr/>
        </p:nvSpPr>
        <p:spPr>
          <a:xfrm>
            <a:off x="502920" y="1591056"/>
            <a:ext cx="5449824" cy="295351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250" b="0">
                <a:solidFill>
                  <a:srgbClr val="595959"/>
                </a:solidFill>
              </a:rPr>
              <a:t>Cell-type identity of the Post-tagged ensemble in ORBm and BMAp, in situ, at single-cell resolution.</a:t>
            </a:r>
          </a:p>
          <a:p>
            <a:pPr algn="l">
              <a:lnSpc>
                <a:spcPct val="97000"/>
              </a:lnSpc>
              <a:spcAft>
                <a:spcPts val="500"/>
              </a:spcAft>
            </a:pPr>
            <a:r>
              <a:rPr sz="1250" b="0">
                <a:solidFill>
                  <a:srgbClr val="595959"/>
                </a:solidFill>
              </a:rPr>
              <a:t>Which of the 20 Allen subclasses the tdTomato+ cells actually belong to — is the Active-specific signal one population or many?</a:t>
            </a:r>
          </a:p>
          <a:p>
            <a:pPr algn="l">
              <a:lnSpc>
                <a:spcPct val="97000"/>
              </a:lnSpc>
              <a:spcAft>
                <a:spcPts val="500"/>
              </a:spcAft>
            </a:pPr>
            <a:r>
              <a:rPr sz="1250" b="0">
                <a:solidFill>
                  <a:srgbClr val="595959"/>
                </a:solidFill>
              </a:rPr>
              <a:t>Which druggable GPCRs those specific cells express.</a:t>
            </a:r>
          </a:p>
          <a:p>
            <a:pPr algn="l">
              <a:lnSpc>
                <a:spcPct val="97000"/>
              </a:lnSpc>
              <a:spcAft>
                <a:spcPts val="500"/>
              </a:spcAft>
            </a:pPr>
            <a:r>
              <a:rPr sz="1250" b="0">
                <a:solidFill>
                  <a:srgbClr val="595959"/>
                </a:solidFill>
              </a:rPr>
              <a:t>Whether the Post ensemble and the relapse ensemble are the same cells (tdTomato and Fos co-detected in the same section).</a:t>
            </a:r>
          </a:p>
          <a:p>
            <a:pPr algn="l">
              <a:lnSpc>
                <a:spcPct val="97000"/>
              </a:lnSpc>
              <a:spcAft>
                <a:spcPts val="500"/>
              </a:spcAft>
            </a:pPr>
            <a:r>
              <a:rPr sz="1250" b="1">
                <a:solidFill>
                  <a:srgbClr val="1F3B63"/>
                </a:solidFill>
              </a:rPr>
              <a:t>Output: a defensible molecular target, and the probe panel is already built.</a:t>
            </a:r>
          </a:p>
        </p:txBody>
      </p:sp>
      <p:sp>
        <p:nvSpPr>
          <p:cNvPr id="8" name="Rectangle 7"/>
          <p:cNvSpPr/>
          <p:nvPr/>
        </p:nvSpPr>
        <p:spPr>
          <a:xfrm>
            <a:off x="6238951" y="1298448"/>
            <a:ext cx="5449824" cy="292608"/>
          </a:xfrm>
          <a:prstGeom prst="rect">
            <a:avLst/>
          </a:prstGeom>
          <a:solidFill>
            <a:srgbClr val="7A3E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Q2  IS THE BEHAVIOUR NECESSARY?  →  EXPERIMENT 2: TRAP-chemogenetics</a:t>
            </a:r>
          </a:p>
        </p:txBody>
      </p:sp>
      <p:sp>
        <p:nvSpPr>
          <p:cNvPr id="9" name="Rectangle 8"/>
          <p:cNvSpPr/>
          <p:nvPr/>
        </p:nvSpPr>
        <p:spPr>
          <a:xfrm>
            <a:off x="6238951" y="1591056"/>
            <a:ext cx="5449824" cy="295351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250" b="0">
                <a:solidFill>
                  <a:srgbClr val="595959"/>
                </a:solidFill>
              </a:rPr>
              <a:t>Silence the Post-tagged ensemble and ask whether morphine seeking falls.</a:t>
            </a:r>
          </a:p>
          <a:p>
            <a:pPr algn="l">
              <a:lnSpc>
                <a:spcPct val="97000"/>
              </a:lnSpc>
              <a:spcAft>
                <a:spcPts val="500"/>
              </a:spcAft>
            </a:pPr>
            <a:r>
              <a:rPr sz="1250" b="0">
                <a:solidFill>
                  <a:srgbClr val="595959"/>
                </a:solidFill>
              </a:rPr>
              <a:t>Hypothesis: inhibiting the Post ensemble reduces seeking and relapse in Active mice, and does not in yoked Passive mice.</a:t>
            </a:r>
          </a:p>
          <a:p>
            <a:pPr algn="l">
              <a:lnSpc>
                <a:spcPct val="97000"/>
              </a:lnSpc>
              <a:spcAft>
                <a:spcPts val="500"/>
              </a:spcAft>
            </a:pPr>
            <a:r>
              <a:rPr sz="1250" b="0">
                <a:solidFill>
                  <a:srgbClr val="595959"/>
                </a:solidFill>
              </a:rPr>
              <a:t>The Active-only prediction is the strong part of the hypothesis — it makes the experiment falsifiable rather than merely descriptive.</a:t>
            </a:r>
          </a:p>
          <a:p>
            <a:pPr algn="l">
              <a:lnSpc>
                <a:spcPct val="97000"/>
              </a:lnSpc>
              <a:spcAft>
                <a:spcPts val="500"/>
              </a:spcAft>
            </a:pPr>
            <a:r>
              <a:rPr sz="1250" b="1">
                <a:solidFill>
                  <a:srgbClr val="1F3B63"/>
                </a:solidFill>
              </a:rPr>
              <a:t>Output: a causal statement about a specific ensemble in a specific region.</a:t>
            </a:r>
          </a:p>
          <a:p>
            <a:pPr algn="l">
              <a:lnSpc>
                <a:spcPct val="97000"/>
              </a:lnSpc>
              <a:spcAft>
                <a:spcPts val="500"/>
              </a:spcAft>
            </a:pPr>
            <a:r>
              <a:rPr sz="1250" b="1">
                <a:solidFill>
                  <a:srgbClr val="1F3B63"/>
                </a:solidFill>
              </a:rPr>
              <a:t>This experiment needs one design change from my first sketch. Slides 8-9.</a:t>
            </a:r>
          </a:p>
        </p:txBody>
      </p:sp>
      <p:sp>
        <p:nvSpPr>
          <p:cNvPr id="10" name="Rectangle 9"/>
          <p:cNvSpPr/>
          <p:nvPr/>
        </p:nvSpPr>
        <p:spPr>
          <a:xfrm>
            <a:off x="502920" y="4800600"/>
            <a:ext cx="11185855" cy="868680"/>
          </a:xfrm>
          <a:prstGeom prst="rect">
            <a:avLst/>
          </a:prstGeom>
          <a:solidFill>
            <a:srgbClr val="EEF3F9"/>
          </a:solidFill>
          <a:ln w="15875">
            <a:solidFill>
              <a:srgbClr val="2E6DA4"/>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l">
              <a:lnSpc>
                <a:spcPct val="100000"/>
              </a:lnSpc>
              <a:spcAft>
                <a:spcPts val="400"/>
              </a:spcAft>
            </a:pPr>
            <a:r>
              <a:rPr sz="1300" b="1">
                <a:solidFill>
                  <a:srgbClr val="1F3B63"/>
                </a:solidFill>
              </a:rPr>
              <a:t>Together they answer one sentence: the Post-active ensemble in region X consists of cell type Y expressing receptor Z, and relapse requires it. Either half alone is a weaker paper.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EXPERIMENT 1</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Experiment 1 — Xenium on the Post-tagged ensemble</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One design choice does most of the work: tag at Post, read out at relapse</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98448"/>
          <a:ext cx="11185854" cy="4151376"/>
        </p:xfrm>
        <a:graphic>
          <a:graphicData uri="http://schemas.openxmlformats.org/drawingml/2006/table">
            <a:tbl>
              <a:tblPr firstRow="1" bandRow="1">
                <a:tableStyleId>{5C22544A-7EE6-4342-B048-85BDC9FD1C3A}</a:tableStyleId>
              </a:tblPr>
              <a:tblGrid>
                <a:gridCol w="1257581"/>
                <a:gridCol w="4103686"/>
                <a:gridCol w="5824587"/>
              </a:tblGrid>
              <a:tr h="274320">
                <a:tc>
                  <a:txBody>
                    <a:bodyPr/>
                    <a:lstStyle/>
                    <a:p>
                      <a:pPr algn="l">
                        <a:lnSpc>
                          <a:spcPct val="92000"/>
                        </a:lnSpc>
                      </a:pPr>
                    </a:p>
                  </a:txBody>
                  <a:tcPr anchor="ctr" marL="54864" marR="54864" marT="18288" marB="18288">
                    <a:solidFill>
                      <a:srgbClr val="1F3B63"/>
                    </a:solidFill>
                  </a:tcPr>
                </a:tc>
                <a:tc>
                  <a:txBody>
                    <a:bodyPr/>
                    <a:lstStyle/>
                    <a:p>
                      <a:pPr algn="l">
                        <a:lnSpc>
                          <a:spcPct val="92000"/>
                        </a:lnSpc>
                      </a:pPr>
                      <a:r>
                        <a:rPr sz="1100" b="1">
                          <a:solidFill>
                            <a:srgbClr val="FFFFFF"/>
                          </a:solidFill>
                        </a:rPr>
                        <a:t>Specification</a:t>
                      </a:r>
                    </a:p>
                  </a:txBody>
                  <a:tcPr anchor="ctr" marL="54864" marR="54864" marT="18288" marB="18288">
                    <a:solidFill>
                      <a:srgbClr val="1F3B63"/>
                    </a:solidFill>
                  </a:tcPr>
                </a:tc>
                <a:tc>
                  <a:txBody>
                    <a:bodyPr/>
                    <a:lstStyle/>
                    <a:p>
                      <a:pPr algn="l">
                        <a:lnSpc>
                          <a:spcPct val="92000"/>
                        </a:lnSpc>
                      </a:pPr>
                      <a:r>
                        <a:rPr sz="1100" b="1">
                          <a:solidFill>
                            <a:srgbClr val="FFFFFF"/>
                          </a:solidFill>
                        </a:rPr>
                        <a:t>Why this and not something else</a:t>
                      </a:r>
                    </a:p>
                  </a:txBody>
                  <a:tcPr anchor="ctr" marL="54864" marR="54864" marT="18288" marB="18288">
                    <a:solidFill>
                      <a:srgbClr val="1F3B63"/>
                    </a:solidFill>
                  </a:tcPr>
                </a:tc>
              </a:tr>
              <a:tr h="484632">
                <a:tc>
                  <a:txBody>
                    <a:bodyPr/>
                    <a:lstStyle/>
                    <a:p>
                      <a:pPr algn="l">
                        <a:lnSpc>
                          <a:spcPct val="92000"/>
                        </a:lnSpc>
                      </a:pPr>
                      <a:r>
                        <a:rPr sz="1050" b="0">
                          <a:solidFill>
                            <a:srgbClr val="1F3B63"/>
                          </a:solidFill>
                        </a:rPr>
                        <a:t>Mice</a:t>
                      </a:r>
                    </a:p>
                  </a:txBody>
                  <a:tcPr anchor="ctr" marL="54864" marR="54864" marT="18288" marB="18288">
                    <a:solidFill>
                      <a:srgbClr val="FFFFFF"/>
                    </a:solidFill>
                  </a:tcPr>
                </a:tc>
                <a:tc>
                  <a:txBody>
                    <a:bodyPr/>
                    <a:lstStyle/>
                    <a:p>
                      <a:pPr algn="l">
                        <a:lnSpc>
                          <a:spcPct val="92000"/>
                        </a:lnSpc>
                      </a:pPr>
                      <a:r>
                        <a:rPr sz="1050" b="0">
                          <a:solidFill>
                            <a:srgbClr val="1F3B63"/>
                          </a:solidFill>
                        </a:rPr>
                        <a:t>TRAP2;Ai14 (Fos2A-iCreER × Ai14)</a:t>
                      </a:r>
                    </a:p>
                    <a:p>
                      <a:pPr algn="l">
                        <a:lnSpc>
                          <a:spcPct val="92000"/>
                        </a:lnSpc>
                      </a:pPr>
                      <a:r>
                        <a:rPr sz="1050" b="0">
                          <a:solidFill>
                            <a:srgbClr val="1F3B63"/>
                          </a:solidFill>
                        </a:rPr>
                        <a:t>JAX 030323 × 007914</a:t>
                      </a:r>
                    </a:p>
                  </a:txBody>
                  <a:tcPr anchor="ctr" marL="54864" marR="54864" marT="18288" marB="18288">
                    <a:solidFill>
                      <a:srgbClr val="FFFFFF"/>
                    </a:solidFill>
                  </a:tcPr>
                </a:tc>
                <a:tc>
                  <a:txBody>
                    <a:bodyPr/>
                    <a:lstStyle/>
                    <a:p>
                      <a:pPr algn="l">
                        <a:lnSpc>
                          <a:spcPct val="92000"/>
                        </a:lnSpc>
                      </a:pPr>
                      <a:r>
                        <a:rPr sz="1050" b="0">
                          <a:solidFill>
                            <a:srgbClr val="1F3B63"/>
                          </a:solidFill>
                        </a:rPr>
                        <a:t>Ai14 is the reporter you have chosen; tdTomato mRNA is the TRAP tag Xenium reads.</a:t>
                      </a:r>
                    </a:p>
                  </a:txBody>
                  <a:tcPr anchor="ctr" marL="54864" marR="54864" marT="18288" marB="18288">
                    <a:solidFill>
                      <a:srgbClr val="FFFFFF"/>
                    </a:solidFill>
                  </a:tcPr>
                </a:tc>
              </a:tr>
              <a:tr h="484632">
                <a:tc>
                  <a:txBody>
                    <a:bodyPr/>
                    <a:lstStyle/>
                    <a:p>
                      <a:pPr algn="l">
                        <a:lnSpc>
                          <a:spcPct val="92000"/>
                        </a:lnSpc>
                      </a:pPr>
                      <a:r>
                        <a:rPr sz="1050" b="0">
                          <a:solidFill>
                            <a:srgbClr val="1F3B63"/>
                          </a:solidFill>
                        </a:rPr>
                        <a:t>Groups</a:t>
                      </a:r>
                    </a:p>
                  </a:txBody>
                  <a:tcPr anchor="ctr" marL="54864" marR="54864" marT="18288" marB="18288">
                    <a:solidFill>
                      <a:srgbClr val="EEF3F9"/>
                    </a:solidFill>
                  </a:tcPr>
                </a:tc>
                <a:tc>
                  <a:txBody>
                    <a:bodyPr/>
                    <a:lstStyle/>
                    <a:p>
                      <a:pPr algn="l">
                        <a:lnSpc>
                          <a:spcPct val="92000"/>
                        </a:lnSpc>
                      </a:pPr>
                      <a:r>
                        <a:rPr sz="1050" b="0">
                          <a:solidFill>
                            <a:srgbClr val="1F3B63"/>
                          </a:solidFill>
                        </a:rPr>
                        <a:t>Active n=3, Passive n=3</a:t>
                      </a:r>
                    </a:p>
                  </a:txBody>
                  <a:tcPr anchor="ctr" marL="54864" marR="54864" marT="18288" marB="18288">
                    <a:solidFill>
                      <a:srgbClr val="EEF3F9"/>
                    </a:solidFill>
                  </a:tcPr>
                </a:tc>
                <a:tc>
                  <a:txBody>
                    <a:bodyPr/>
                    <a:lstStyle/>
                    <a:p>
                      <a:pPr algn="l">
                        <a:lnSpc>
                          <a:spcPct val="92000"/>
                        </a:lnSpc>
                      </a:pPr>
                      <a:r>
                        <a:rPr sz="1050" b="0">
                          <a:solidFill>
                            <a:srgbClr val="1F3B63"/>
                          </a:solidFill>
                        </a:rPr>
                        <a:t>Pilot scale. Statistics caveat on the next slide.</a:t>
                      </a:r>
                    </a:p>
                  </a:txBody>
                  <a:tcPr anchor="ctr" marL="54864" marR="54864" marT="18288" marB="18288">
                    <a:solidFill>
                      <a:srgbClr val="EEF3F9"/>
                    </a:solidFill>
                  </a:tcPr>
                </a:tc>
              </a:tr>
              <a:tr h="484632">
                <a:tc>
                  <a:txBody>
                    <a:bodyPr/>
                    <a:lstStyle/>
                    <a:p>
                      <a:pPr algn="l">
                        <a:lnSpc>
                          <a:spcPct val="92000"/>
                        </a:lnSpc>
                      </a:pPr>
                      <a:r>
                        <a:rPr sz="1050" b="0">
                          <a:solidFill>
                            <a:srgbClr val="1F3B63"/>
                          </a:solidFill>
                        </a:rPr>
                        <a:t>Tag</a:t>
                      </a:r>
                    </a:p>
                  </a:txBody>
                  <a:tcPr anchor="ctr" marL="54864" marR="54864" marT="18288" marB="18288">
                    <a:solidFill>
                      <a:srgbClr val="FFFFFF"/>
                    </a:solidFill>
                  </a:tcPr>
                </a:tc>
                <a:tc>
                  <a:txBody>
                    <a:bodyPr/>
                    <a:lstStyle/>
                    <a:p>
                      <a:pPr algn="l">
                        <a:lnSpc>
                          <a:spcPct val="92000"/>
                        </a:lnSpc>
                      </a:pPr>
                      <a:r>
                        <a:rPr sz="1050" b="0">
                          <a:solidFill>
                            <a:srgbClr val="1F3B63"/>
                          </a:solidFill>
                        </a:rPr>
                        <a:t>4-OHT 50 mg/kg i.p. immediately after the</a:t>
                      </a:r>
                    </a:p>
                    <a:p>
                      <a:pPr algn="l">
                        <a:lnSpc>
                          <a:spcPct val="92000"/>
                        </a:lnSpc>
                      </a:pPr>
                      <a:r>
                        <a:rPr sz="1050" b="0">
                          <a:solidFill>
                            <a:srgbClr val="1F3B63"/>
                          </a:solidFill>
                        </a:rPr>
                        <a:t>behaviour day 12 session (Post day 2)</a:t>
                      </a:r>
                    </a:p>
                  </a:txBody>
                  <a:tcPr anchor="ctr" marL="54864" marR="54864" marT="18288" marB="18288">
                    <a:solidFill>
                      <a:srgbClr val="FFFFFF"/>
                    </a:solidFill>
                  </a:tcPr>
                </a:tc>
                <a:tc>
                  <a:txBody>
                    <a:bodyPr/>
                    <a:lstStyle/>
                    <a:p>
                      <a:pPr algn="l">
                        <a:lnSpc>
                          <a:spcPct val="92000"/>
                        </a:lnSpc>
                      </a:pPr>
                      <a:r>
                        <a:rPr sz="1050" b="0">
                          <a:solidFill>
                            <a:srgbClr val="1F3B63"/>
                          </a:solidFill>
                        </a:rPr>
                        <a:t>TRAP2 labels within ~6 h centred on the injection, so this captures the Post state.</a:t>
                      </a:r>
                    </a:p>
                  </a:txBody>
                  <a:tcPr anchor="ctr" marL="54864" marR="54864" marT="18288" marB="18288">
                    <a:solidFill>
                      <a:srgbClr val="FFFFFF"/>
                    </a:solidFill>
                  </a:tcPr>
                </a:tc>
              </a:tr>
              <a:tr h="484632">
                <a:tc>
                  <a:txBody>
                    <a:bodyPr/>
                    <a:lstStyle/>
                    <a:p>
                      <a:pPr algn="l">
                        <a:lnSpc>
                          <a:spcPct val="92000"/>
                        </a:lnSpc>
                      </a:pPr>
                      <a:r>
                        <a:rPr sz="1050" b="0">
                          <a:solidFill>
                            <a:srgbClr val="1F3B63"/>
                          </a:solidFill>
                        </a:rPr>
                        <a:t>Behaviour</a:t>
                      </a:r>
                    </a:p>
                  </a:txBody>
                  <a:tcPr anchor="ctr" marL="54864" marR="54864" marT="18288" marB="18288">
                    <a:solidFill>
                      <a:srgbClr val="EEF3F9"/>
                    </a:solidFill>
                  </a:tcPr>
                </a:tc>
                <a:tc>
                  <a:txBody>
                    <a:bodyPr/>
                    <a:lstStyle/>
                    <a:p>
                      <a:pPr algn="l">
                        <a:lnSpc>
                          <a:spcPct val="92000"/>
                        </a:lnSpc>
                      </a:pPr>
                      <a:r>
                        <a:rPr sz="1050" b="0">
                          <a:solidFill>
                            <a:srgbClr val="1F3B63"/>
                          </a:solidFill>
                        </a:rPr>
                        <a:t>Unchanged, days 1-18</a:t>
                      </a:r>
                    </a:p>
                    <a:p>
                      <a:pPr algn="l">
                        <a:lnSpc>
                          <a:spcPct val="92000"/>
                        </a:lnSpc>
                      </a:pPr>
                      <a:r>
                        <a:rPr sz="1050" b="0">
                          <a:solidFill>
                            <a:srgbClr val="1F3B63"/>
                          </a:solidFill>
                        </a:rPr>
                        <a:t>(FR, Pre, During, Post, Withdrawal, Re-exposure)</a:t>
                      </a:r>
                    </a:p>
                  </a:txBody>
                  <a:tcPr anchor="ctr" marL="54864" marR="54864" marT="18288" marB="18288">
                    <a:solidFill>
                      <a:srgbClr val="EEF3F9"/>
                    </a:solidFill>
                  </a:tcPr>
                </a:tc>
                <a:tc>
                  <a:txBody>
                    <a:bodyPr/>
                    <a:lstStyle/>
                    <a:p>
                      <a:pPr algn="l">
                        <a:lnSpc>
                          <a:spcPct val="92000"/>
                        </a:lnSpc>
                      </a:pPr>
                      <a:r>
                        <a:rPr sz="1050" b="0">
                          <a:solidFill>
                            <a:srgbClr val="1F3B63"/>
                          </a:solidFill>
                        </a:rPr>
                        <a:t>Keeping the paradigm identical means the whole-brain TRAP result still maps onto it.</a:t>
                      </a:r>
                    </a:p>
                  </a:txBody>
                  <a:tcPr anchor="ctr" marL="54864" marR="54864" marT="18288" marB="18288">
                    <a:solidFill>
                      <a:srgbClr val="EEF3F9"/>
                    </a:solidFill>
                  </a:tcPr>
                </a:tc>
              </a:tr>
              <a:tr h="484632">
                <a:tc>
                  <a:txBody>
                    <a:bodyPr/>
                    <a:lstStyle/>
                    <a:p>
                      <a:pPr algn="l">
                        <a:lnSpc>
                          <a:spcPct val="92000"/>
                        </a:lnSpc>
                      </a:pPr>
                      <a:r>
                        <a:rPr sz="1050" b="0">
                          <a:solidFill>
                            <a:srgbClr val="1F3B63"/>
                          </a:solidFill>
                        </a:rPr>
                        <a:t>Abstinence</a:t>
                      </a:r>
                    </a:p>
                  </a:txBody>
                  <a:tcPr anchor="ctr" marL="54864" marR="54864" marT="18288" marB="18288">
                    <a:solidFill>
                      <a:srgbClr val="FFFFFF"/>
                    </a:solidFill>
                  </a:tcPr>
                </a:tc>
                <a:tc>
                  <a:txBody>
                    <a:bodyPr/>
                    <a:lstStyle/>
                    <a:p>
                      <a:pPr algn="l">
                        <a:lnSpc>
                          <a:spcPct val="92000"/>
                        </a:lnSpc>
                      </a:pPr>
                      <a:r>
                        <a:rPr sz="1050" b="0">
                          <a:solidFill>
                            <a:srgbClr val="1F3B63"/>
                          </a:solidFill>
                        </a:rPr>
                        <a:t>Days 19-31, home cage</a:t>
                      </a:r>
                    </a:p>
                  </a:txBody>
                  <a:tcPr anchor="ctr" marL="54864" marR="54864" marT="18288" marB="18288">
                    <a:solidFill>
                      <a:srgbClr val="FFFFFF"/>
                    </a:solidFill>
                  </a:tcPr>
                </a:tc>
                <a:tc>
                  <a:txBody>
                    <a:bodyPr/>
                    <a:lstStyle/>
                    <a:p>
                      <a:pPr algn="l">
                        <a:lnSpc>
                          <a:spcPct val="92000"/>
                        </a:lnSpc>
                      </a:pPr>
                      <a:r>
                        <a:rPr sz="1050" b="0">
                          <a:solidFill>
                            <a:srgbClr val="1F3B63"/>
                          </a:solidFill>
                        </a:rPr>
                        <a:t>Lets tdTomato accumulate and lets craving incubate.</a:t>
                      </a:r>
                    </a:p>
                  </a:txBody>
                  <a:tcPr anchor="ctr" marL="54864" marR="54864" marT="18288" marB="18288">
                    <a:solidFill>
                      <a:srgbClr val="FFFFFF"/>
                    </a:solidFill>
                  </a:tcPr>
                </a:tc>
              </a:tr>
              <a:tr h="484632">
                <a:tc>
                  <a:txBody>
                    <a:bodyPr/>
                    <a:lstStyle/>
                    <a:p>
                      <a:pPr algn="l">
                        <a:lnSpc>
                          <a:spcPct val="92000"/>
                        </a:lnSpc>
                      </a:pPr>
                      <a:r>
                        <a:rPr sz="1050" b="0">
                          <a:solidFill>
                            <a:srgbClr val="1F3B63"/>
                          </a:solidFill>
                        </a:rPr>
                        <a:t>Readout day</a:t>
                      </a:r>
                    </a:p>
                  </a:txBody>
                  <a:tcPr anchor="ctr" marL="54864" marR="54864" marT="18288" marB="18288">
                    <a:solidFill>
                      <a:srgbClr val="EEF3F9"/>
                    </a:solidFill>
                  </a:tcPr>
                </a:tc>
                <a:tc>
                  <a:txBody>
                    <a:bodyPr/>
                    <a:lstStyle/>
                    <a:p>
                      <a:pPr algn="l">
                        <a:lnSpc>
                          <a:spcPct val="92000"/>
                        </a:lnSpc>
                      </a:pPr>
                      <a:r>
                        <a:rPr sz="1050" b="0">
                          <a:solidFill>
                            <a:srgbClr val="1F3B63"/>
                          </a:solidFill>
                        </a:rPr>
                        <a:t>Day 32: cue-induced seeking test,</a:t>
                      </a:r>
                    </a:p>
                    <a:p>
                      <a:pPr algn="l">
                        <a:lnSpc>
                          <a:spcPct val="92000"/>
                        </a:lnSpc>
                      </a:pPr>
                      <a:r>
                        <a:rPr sz="1050" b="0">
                          <a:solidFill>
                            <a:srgbClr val="1F3B63"/>
                          </a:solidFill>
                        </a:rPr>
                        <a:t>sacrifice 90 min later</a:t>
                      </a:r>
                    </a:p>
                  </a:txBody>
                  <a:tcPr anchor="ctr" marL="54864" marR="54864" marT="18288" marB="18288">
                    <a:solidFill>
                      <a:srgbClr val="EEF3F9"/>
                    </a:solidFill>
                  </a:tcPr>
                </a:tc>
                <a:tc>
                  <a:txBody>
                    <a:bodyPr/>
                    <a:lstStyle/>
                    <a:p>
                      <a:pPr algn="l">
                        <a:lnSpc>
                          <a:spcPct val="92000"/>
                        </a:lnSpc>
                      </a:pPr>
                      <a:r>
                        <a:rPr sz="1050" b="0">
                          <a:solidFill>
                            <a:srgbClr val="1F3B63"/>
                          </a:solidFill>
                        </a:rPr>
                        <a:t>20 days after tagging: well past your 10-day minimum, and Fos from the test is at peak.</a:t>
                      </a:r>
                    </a:p>
                  </a:txBody>
                  <a:tcPr anchor="ctr" marL="54864" marR="54864" marT="18288" marB="18288">
                    <a:solidFill>
                      <a:srgbClr val="EEF3F9"/>
                    </a:solidFill>
                  </a:tcPr>
                </a:tc>
              </a:tr>
              <a:tr h="484632">
                <a:tc>
                  <a:txBody>
                    <a:bodyPr/>
                    <a:lstStyle/>
                    <a:p>
                      <a:pPr algn="l">
                        <a:lnSpc>
                          <a:spcPct val="92000"/>
                        </a:lnSpc>
                      </a:pPr>
                      <a:r>
                        <a:rPr sz="1050" b="0">
                          <a:solidFill>
                            <a:srgbClr val="1F3B63"/>
                          </a:solidFill>
                        </a:rPr>
                        <a:t>Tissue</a:t>
                      </a:r>
                    </a:p>
                  </a:txBody>
                  <a:tcPr anchor="ctr" marL="54864" marR="54864" marT="18288" marB="18288">
                    <a:solidFill>
                      <a:srgbClr val="FFFFFF"/>
                    </a:solidFill>
                  </a:tcPr>
                </a:tc>
                <a:tc>
                  <a:txBody>
                    <a:bodyPr/>
                    <a:lstStyle/>
                    <a:p>
                      <a:pPr algn="l">
                        <a:lnSpc>
                          <a:spcPct val="92000"/>
                        </a:lnSpc>
                      </a:pPr>
                      <a:r>
                        <a:rPr sz="1050" b="0">
                          <a:solidFill>
                            <a:srgbClr val="1F3B63"/>
                          </a:solidFill>
                        </a:rPr>
                        <a:t>ORBm and BMAp coronal sections;</a:t>
                      </a:r>
                    </a:p>
                    <a:p>
                      <a:pPr algn="l">
                        <a:lnSpc>
                          <a:spcPct val="92000"/>
                        </a:lnSpc>
                      </a:pPr>
                      <a:r>
                        <a:rPr sz="1050" b="0">
                          <a:solidFill>
                            <a:srgbClr val="1F3B63"/>
                          </a:solidFill>
                        </a:rPr>
                        <a:t>Active and Passive on the SAME slide</a:t>
                      </a:r>
                    </a:p>
                  </a:txBody>
                  <a:tcPr anchor="ctr" marL="54864" marR="54864" marT="18288" marB="18288">
                    <a:solidFill>
                      <a:srgbClr val="FFFFFF"/>
                    </a:solidFill>
                  </a:tcPr>
                </a:tc>
                <a:tc>
                  <a:txBody>
                    <a:bodyPr/>
                    <a:lstStyle/>
                    <a:p>
                      <a:pPr algn="l">
                        <a:lnSpc>
                          <a:spcPct val="92000"/>
                        </a:lnSpc>
                      </a:pPr>
                      <a:r>
                        <a:rPr sz="1050" b="0">
                          <a:solidFill>
                            <a:srgbClr val="1F3B63"/>
                          </a:solidFill>
                        </a:rPr>
                        <a:t>Puts the group comparison inside a slide instead of across slides.</a:t>
                      </a:r>
                    </a:p>
                  </a:txBody>
                  <a:tcPr anchor="ctr" marL="54864" marR="54864" marT="18288" marB="18288">
                    <a:solidFill>
                      <a:srgbClr val="FFFFFF"/>
                    </a:solidFill>
                  </a:tcPr>
                </a:tc>
              </a:tr>
              <a:tr h="484632">
                <a:tc>
                  <a:txBody>
                    <a:bodyPr/>
                    <a:lstStyle/>
                    <a:p>
                      <a:pPr algn="l">
                        <a:lnSpc>
                          <a:spcPct val="92000"/>
                        </a:lnSpc>
                      </a:pPr>
                      <a:r>
                        <a:rPr sz="1050" b="0">
                          <a:solidFill>
                            <a:srgbClr val="1F3B63"/>
                          </a:solidFill>
                        </a:rPr>
                        <a:t>Readouts</a:t>
                      </a:r>
                    </a:p>
                  </a:txBody>
                  <a:tcPr anchor="ctr" marL="54864" marR="54864" marT="18288" marB="18288">
                    <a:solidFill>
                      <a:srgbClr val="EEF3F9"/>
                    </a:solidFill>
                  </a:tcPr>
                </a:tc>
                <a:tc>
                  <a:txBody>
                    <a:bodyPr/>
                    <a:lstStyle/>
                    <a:p>
                      <a:pPr algn="l">
                        <a:lnSpc>
                          <a:spcPct val="92000"/>
                        </a:lnSpc>
                      </a:pPr>
                      <a:r>
                        <a:rPr sz="1050" b="0">
                          <a:solidFill>
                            <a:srgbClr val="1F3B63"/>
                          </a:solidFill>
                        </a:rPr>
                        <a:t>tdTomato (Post ensemble) + Fos (relapse</a:t>
                      </a:r>
                    </a:p>
                    <a:p>
                      <a:pPr algn="l">
                        <a:lnSpc>
                          <a:spcPct val="92000"/>
                        </a:lnSpc>
                      </a:pPr>
                      <a:r>
                        <a:rPr sz="1050" b="0">
                          <a:solidFill>
                            <a:srgbClr val="1F3B63"/>
                          </a:solidFill>
                        </a:rPr>
                        <a:t>ensemble) + 20 subclasses + GPCRs</a:t>
                      </a:r>
                    </a:p>
                  </a:txBody>
                  <a:tcPr anchor="ctr" marL="54864" marR="54864" marT="18288" marB="18288">
                    <a:solidFill>
                      <a:srgbClr val="EEF3F9"/>
                    </a:solidFill>
                  </a:tcPr>
                </a:tc>
                <a:tc>
                  <a:txBody>
                    <a:bodyPr/>
                    <a:lstStyle/>
                    <a:p>
                      <a:pPr algn="l">
                        <a:lnSpc>
                          <a:spcPct val="92000"/>
                        </a:lnSpc>
                      </a:pPr>
                      <a:r>
                        <a:rPr sz="1050" b="0">
                          <a:solidFill>
                            <a:srgbClr val="1F3B63"/>
                          </a:solidFill>
                        </a:rPr>
                        <a:t>The overlap of tdTomato and Fos is the single most informative measurement here.</a:t>
                      </a:r>
                    </a:p>
                  </a:txBody>
                  <a:tcPr anchor="ctr" marL="54864" marR="54864" marT="18288" marB="18288">
                    <a:solidFill>
                      <a:srgbClr val="EEF3F9"/>
                    </a:solidFill>
                  </a:tcPr>
                </a:tc>
              </a:tr>
            </a:tbl>
          </a:graphicData>
        </a:graphic>
      </p:graphicFrame>
      <p:sp>
        <p:nvSpPr>
          <p:cNvPr id="7" name="Rectangle 6"/>
          <p:cNvSpPr/>
          <p:nvPr/>
        </p:nvSpPr>
        <p:spPr>
          <a:xfrm>
            <a:off x="502920" y="5870448"/>
            <a:ext cx="11185855" cy="548640"/>
          </a:xfrm>
          <a:prstGeom prst="rect">
            <a:avLst/>
          </a:prstGeom>
          <a:solidFill>
            <a:srgbClr val="EEF3F9"/>
          </a:solidFill>
          <a:ln w="15875">
            <a:solidFill>
              <a:srgbClr val="2E6DA4"/>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l">
              <a:lnSpc>
                <a:spcPct val="100000"/>
              </a:lnSpc>
              <a:spcAft>
                <a:spcPts val="400"/>
              </a:spcAft>
            </a:pPr>
            <a:r>
              <a:rPr sz="1200" b="1">
                <a:solidFill>
                  <a:srgbClr val="1F3B63"/>
                </a:solidFill>
              </a:rPr>
              <a:t>Key point: tagging at Post and reading out at relapse turns one experiment into two measurements — what the Post ensemble is, and how much of it comes back at relapse.</a:t>
            </a:r>
          </a:p>
        </p:txBody>
      </p:sp>
      <p:sp>
        <p:nvSpPr>
          <p:cNvPr id="8" name="TextBox 7"/>
          <p:cNvSpPr txBox="1"/>
          <p:nvPr/>
        </p:nvSpPr>
        <p:spPr>
          <a:xfrm>
            <a:off x="502920" y="6473952"/>
            <a:ext cx="11185855" cy="256032"/>
          </a:xfrm>
          <a:prstGeom prst="rect">
            <a:avLst/>
          </a:prstGeom>
          <a:noFill/>
        </p:spPr>
        <p:txBody>
          <a:bodyPr wrap="square">
            <a:spAutoFit/>
          </a:bodyPr>
          <a:lstStyle/>
          <a:p>
            <a:pPr algn="l">
              <a:lnSpc>
                <a:spcPct val="95000"/>
              </a:lnSpc>
              <a:spcAft>
                <a:spcPts val="400"/>
              </a:spcAft>
            </a:pPr>
            <a:r>
              <a:rPr sz="950" b="0">
                <a:solidFill>
                  <a:srgbClr val="595959"/>
                </a:solidFill>
              </a:rPr>
              <a:t>TRAP2 6-h window and 50 mg/kg 4-OHT: DeNardo et al. 2019 Nat Neurosci.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EXPERIMENT 1</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Experiment 1 — the panel is built, with one procurement risk</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168 genes in four blocks; the risk is the 100-gene cap on custom add-ons</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98448"/>
          <a:ext cx="6537960" cy="2157984"/>
        </p:xfrm>
        <a:graphic>
          <a:graphicData uri="http://schemas.openxmlformats.org/drawingml/2006/table">
            <a:tbl>
              <a:tblPr firstRow="1" bandRow="1">
                <a:tableStyleId>{5C22544A-7EE6-4342-B048-85BDC9FD1C3A}</a:tableStyleId>
              </a:tblPr>
              <a:tblGrid>
                <a:gridCol w="2095500"/>
                <a:gridCol w="2514600"/>
                <a:gridCol w="628650"/>
                <a:gridCol w="628650"/>
                <a:gridCol w="670560"/>
              </a:tblGrid>
              <a:tr h="292608">
                <a:tc>
                  <a:txBody>
                    <a:bodyPr/>
                    <a:lstStyle/>
                    <a:p>
                      <a:pPr algn="l">
                        <a:lnSpc>
                          <a:spcPct val="92000"/>
                        </a:lnSpc>
                      </a:pPr>
                      <a:r>
                        <a:rPr sz="1100" b="1">
                          <a:solidFill>
                            <a:srgbClr val="FFFFFF"/>
                          </a:solidFill>
                        </a:rPr>
                        <a:t>Block</a:t>
                      </a:r>
                    </a:p>
                  </a:txBody>
                  <a:tcPr anchor="ctr" marL="54864" marR="54864" marT="18288" marB="18288">
                    <a:solidFill>
                      <a:srgbClr val="1F3B63"/>
                    </a:solidFill>
                  </a:tcPr>
                </a:tc>
                <a:tc>
                  <a:txBody>
                    <a:bodyPr/>
                    <a:lstStyle/>
                    <a:p>
                      <a:pPr algn="l">
                        <a:lnSpc>
                          <a:spcPct val="92000"/>
                        </a:lnSpc>
                      </a:pPr>
                      <a:r>
                        <a:rPr sz="1100" b="1">
                          <a:solidFill>
                            <a:srgbClr val="FFFFFF"/>
                          </a:solidFill>
                        </a:rPr>
                        <a:t>What it answers</a:t>
                      </a:r>
                    </a:p>
                  </a:txBody>
                  <a:tcPr anchor="ctr" marL="54864" marR="54864" marT="18288" marB="18288">
                    <a:solidFill>
                      <a:srgbClr val="1F3B63"/>
                    </a:solidFill>
                  </a:tcPr>
                </a:tc>
                <a:tc>
                  <a:txBody>
                    <a:bodyPr/>
                    <a:lstStyle/>
                    <a:p>
                      <a:pPr algn="ctr">
                        <a:lnSpc>
                          <a:spcPct val="92000"/>
                        </a:lnSpc>
                      </a:pPr>
                      <a:r>
                        <a:rPr sz="1100" b="1">
                          <a:solidFill>
                            <a:srgbClr val="FFFFFF"/>
                          </a:solidFill>
                        </a:rPr>
                        <a:t>BMAp</a:t>
                      </a:r>
                    </a:p>
                  </a:txBody>
                  <a:tcPr anchor="ctr" marL="54864" marR="54864" marT="18288" marB="18288">
                    <a:solidFill>
                      <a:srgbClr val="1F3B63"/>
                    </a:solidFill>
                  </a:tcPr>
                </a:tc>
                <a:tc>
                  <a:txBody>
                    <a:bodyPr/>
                    <a:lstStyle/>
                    <a:p>
                      <a:pPr algn="ctr">
                        <a:lnSpc>
                          <a:spcPct val="92000"/>
                        </a:lnSpc>
                      </a:pPr>
                      <a:r>
                        <a:rPr sz="1100" b="1">
                          <a:solidFill>
                            <a:srgbClr val="FFFFFF"/>
                          </a:solidFill>
                        </a:rPr>
                        <a:t>ORBm</a:t>
                      </a:r>
                    </a:p>
                  </a:txBody>
                  <a:tcPr anchor="ctr" marL="54864" marR="54864" marT="18288" marB="18288">
                    <a:solidFill>
                      <a:srgbClr val="1F3B63"/>
                    </a:solidFill>
                  </a:tcPr>
                </a:tc>
                <a:tc>
                  <a:txBody>
                    <a:bodyPr/>
                    <a:lstStyle/>
                    <a:p>
                      <a:pPr algn="ctr">
                        <a:lnSpc>
                          <a:spcPct val="92000"/>
                        </a:lnSpc>
                      </a:pPr>
                      <a:r>
                        <a:rPr sz="1100" b="1">
                          <a:solidFill>
                            <a:srgbClr val="FFFFFF"/>
                          </a:solidFill>
                        </a:rPr>
                        <a:t>Union</a:t>
                      </a:r>
                    </a:p>
                  </a:txBody>
                  <a:tcPr anchor="ctr" marL="54864" marR="54864" marT="18288" marB="18288">
                    <a:solidFill>
                      <a:srgbClr val="1F3B63"/>
                    </a:solidFill>
                  </a:tcPr>
                </a:tc>
              </a:tr>
              <a:tr h="310896">
                <a:tc>
                  <a:txBody>
                    <a:bodyPr/>
                    <a:lstStyle/>
                    <a:p>
                      <a:pPr algn="l">
                        <a:lnSpc>
                          <a:spcPct val="92000"/>
                        </a:lnSpc>
                      </a:pPr>
                      <a:r>
                        <a:rPr sz="1050" b="0">
                          <a:solidFill>
                            <a:srgbClr val="1F3B63"/>
                          </a:solidFill>
                        </a:rPr>
                        <a:t>1  Cell-type unique markers</a:t>
                      </a:r>
                    </a:p>
                  </a:txBody>
                  <a:tcPr anchor="ctr" marL="54864" marR="54864" marT="18288" marB="18288">
                    <a:solidFill>
                      <a:srgbClr val="FFFFFF"/>
                    </a:solidFill>
                  </a:tcPr>
                </a:tc>
                <a:tc>
                  <a:txBody>
                    <a:bodyPr/>
                    <a:lstStyle/>
                    <a:p>
                      <a:pPr algn="l">
                        <a:lnSpc>
                          <a:spcPct val="92000"/>
                        </a:lnSpc>
                      </a:pPr>
                      <a:r>
                        <a:rPr sz="1050" b="0">
                          <a:solidFill>
                            <a:srgbClr val="1F3B63"/>
                          </a:solidFill>
                        </a:rPr>
                        <a:t>Which of the 20 populations is this cell?</a:t>
                      </a:r>
                    </a:p>
                  </a:txBody>
                  <a:tcPr anchor="ctr" marL="54864" marR="54864" marT="18288" marB="18288">
                    <a:solidFill>
                      <a:srgbClr val="FFFFFF"/>
                    </a:solidFill>
                  </a:tcPr>
                </a:tc>
                <a:tc>
                  <a:txBody>
                    <a:bodyPr/>
                    <a:lstStyle/>
                    <a:p>
                      <a:pPr algn="ctr">
                        <a:lnSpc>
                          <a:spcPct val="92000"/>
                        </a:lnSpc>
                      </a:pPr>
                      <a:r>
                        <a:rPr sz="1050" b="0">
                          <a:solidFill>
                            <a:srgbClr val="1F3B63"/>
                          </a:solidFill>
                        </a:rPr>
                        <a:t>68</a:t>
                      </a:r>
                    </a:p>
                  </a:txBody>
                  <a:tcPr anchor="ctr" marL="54864" marR="54864" marT="18288" marB="18288">
                    <a:solidFill>
                      <a:srgbClr val="FFFFFF"/>
                    </a:solidFill>
                  </a:tcPr>
                </a:tc>
                <a:tc>
                  <a:txBody>
                    <a:bodyPr/>
                    <a:lstStyle/>
                    <a:p>
                      <a:pPr algn="ctr">
                        <a:lnSpc>
                          <a:spcPct val="92000"/>
                        </a:lnSpc>
                      </a:pPr>
                      <a:r>
                        <a:rPr sz="1050" b="0">
                          <a:solidFill>
                            <a:srgbClr val="1F3B63"/>
                          </a:solidFill>
                        </a:rPr>
                        <a:t>77</a:t>
                      </a:r>
                    </a:p>
                  </a:txBody>
                  <a:tcPr anchor="ctr" marL="54864" marR="54864" marT="18288" marB="18288">
                    <a:solidFill>
                      <a:srgbClr val="FFFFFF"/>
                    </a:solidFill>
                  </a:tcPr>
                </a:tc>
                <a:tc>
                  <a:txBody>
                    <a:bodyPr/>
                    <a:lstStyle/>
                    <a:p>
                      <a:pPr algn="ctr">
                        <a:lnSpc>
                          <a:spcPct val="92000"/>
                        </a:lnSpc>
                      </a:pPr>
                      <a:r>
                        <a:rPr sz="1050" b="0">
                          <a:solidFill>
                            <a:srgbClr val="1F3B63"/>
                          </a:solidFill>
                        </a:rPr>
                        <a:t>—</a:t>
                      </a:r>
                    </a:p>
                  </a:txBody>
                  <a:tcPr anchor="ctr" marL="54864" marR="54864" marT="18288" marB="18288">
                    <a:solidFill>
                      <a:srgbClr val="FFFFFF"/>
                    </a:solidFill>
                  </a:tcPr>
                </a:tc>
              </a:tr>
              <a:tr h="310896">
                <a:tc>
                  <a:txBody>
                    <a:bodyPr/>
                    <a:lstStyle/>
                    <a:p>
                      <a:pPr algn="l">
                        <a:lnSpc>
                          <a:spcPct val="92000"/>
                        </a:lnSpc>
                      </a:pPr>
                      <a:r>
                        <a:rPr sz="1050" b="0">
                          <a:solidFill>
                            <a:srgbClr val="1F3B63"/>
                          </a:solidFill>
                        </a:rPr>
                        <a:t>2  Cell-type-specific GPCRs</a:t>
                      </a:r>
                    </a:p>
                  </a:txBody>
                  <a:tcPr anchor="ctr" marL="54864" marR="54864" marT="18288" marB="18288">
                    <a:solidFill>
                      <a:srgbClr val="EEF3F9"/>
                    </a:solidFill>
                  </a:tcPr>
                </a:tc>
                <a:tc>
                  <a:txBody>
                    <a:bodyPr/>
                    <a:lstStyle/>
                    <a:p>
                      <a:pPr algn="l">
                        <a:lnSpc>
                          <a:spcPct val="92000"/>
                        </a:lnSpc>
                      </a:pPr>
                      <a:r>
                        <a:rPr sz="1050" b="0">
                          <a:solidFill>
                            <a:srgbClr val="1F3B63"/>
                          </a:solidFill>
                        </a:rPr>
                        <a:t>Druggable AND informative about cell type</a:t>
                      </a:r>
                    </a:p>
                  </a:txBody>
                  <a:tcPr anchor="ctr" marL="54864" marR="54864" marT="18288" marB="18288">
                    <a:solidFill>
                      <a:srgbClr val="EEF3F9"/>
                    </a:solidFill>
                  </a:tcPr>
                </a:tc>
                <a:tc>
                  <a:txBody>
                    <a:bodyPr/>
                    <a:lstStyle/>
                    <a:p>
                      <a:pPr algn="ctr">
                        <a:lnSpc>
                          <a:spcPct val="92000"/>
                        </a:lnSpc>
                      </a:pPr>
                      <a:r>
                        <a:rPr sz="1050" b="0">
                          <a:solidFill>
                            <a:srgbClr val="1F3B63"/>
                          </a:solidFill>
                        </a:rPr>
                        <a:t>6</a:t>
                      </a:r>
                    </a:p>
                  </a:txBody>
                  <a:tcPr anchor="ctr" marL="54864" marR="54864" marT="18288" marB="18288">
                    <a:solidFill>
                      <a:srgbClr val="EEF3F9"/>
                    </a:solidFill>
                  </a:tcPr>
                </a:tc>
                <a:tc>
                  <a:txBody>
                    <a:bodyPr/>
                    <a:lstStyle/>
                    <a:p>
                      <a:pPr algn="ctr">
                        <a:lnSpc>
                          <a:spcPct val="92000"/>
                        </a:lnSpc>
                      </a:pPr>
                      <a:r>
                        <a:rPr sz="1050" b="0">
                          <a:solidFill>
                            <a:srgbClr val="1F3B63"/>
                          </a:solidFill>
                        </a:rPr>
                        <a:t>3</a:t>
                      </a:r>
                    </a:p>
                  </a:txBody>
                  <a:tcPr anchor="ctr" marL="54864" marR="54864" marT="18288" marB="18288">
                    <a:solidFill>
                      <a:srgbClr val="EEF3F9"/>
                    </a:solidFill>
                  </a:tcPr>
                </a:tc>
                <a:tc>
                  <a:txBody>
                    <a:bodyPr/>
                    <a:lstStyle/>
                    <a:p>
                      <a:pPr algn="ctr">
                        <a:lnSpc>
                          <a:spcPct val="92000"/>
                        </a:lnSpc>
                      </a:pPr>
                      <a:r>
                        <a:rPr sz="1050" b="0">
                          <a:solidFill>
                            <a:srgbClr val="1F3B63"/>
                          </a:solidFill>
                        </a:rPr>
                        <a:t>—</a:t>
                      </a:r>
                    </a:p>
                  </a:txBody>
                  <a:tcPr anchor="ctr" marL="54864" marR="54864" marT="18288" marB="18288">
                    <a:solidFill>
                      <a:srgbClr val="EEF3F9"/>
                    </a:solidFill>
                  </a:tcPr>
                </a:tc>
              </a:tr>
              <a:tr h="310896">
                <a:tc>
                  <a:txBody>
                    <a:bodyPr/>
                    <a:lstStyle/>
                    <a:p>
                      <a:pPr algn="l">
                        <a:lnSpc>
                          <a:spcPct val="92000"/>
                        </a:lnSpc>
                      </a:pPr>
                      <a:r>
                        <a:rPr sz="1050" b="0">
                          <a:solidFill>
                            <a:srgbClr val="1F3B63"/>
                          </a:solidFill>
                        </a:rPr>
                        <a:t>3  Broad GPCRs / shared markers</a:t>
                      </a:r>
                    </a:p>
                  </a:txBody>
                  <a:tcPr anchor="ctr" marL="54864" marR="54864" marT="18288" marB="18288">
                    <a:solidFill>
                      <a:srgbClr val="FFFFFF"/>
                    </a:solidFill>
                  </a:tcPr>
                </a:tc>
                <a:tc>
                  <a:txBody>
                    <a:bodyPr/>
                    <a:lstStyle/>
                    <a:p>
                      <a:pPr algn="l">
                        <a:lnSpc>
                          <a:spcPct val="92000"/>
                        </a:lnSpc>
                      </a:pPr>
                      <a:r>
                        <a:rPr sz="1050" b="0">
                          <a:solidFill>
                            <a:srgbClr val="1F3B63"/>
                          </a:solidFill>
                        </a:rPr>
                        <a:t>Druggable but group-level only</a:t>
                      </a:r>
                    </a:p>
                  </a:txBody>
                  <a:tcPr anchor="ctr" marL="54864" marR="54864" marT="18288" marB="18288">
                    <a:solidFill>
                      <a:srgbClr val="FFFFFF"/>
                    </a:solidFill>
                  </a:tcPr>
                </a:tc>
                <a:tc>
                  <a:txBody>
                    <a:bodyPr/>
                    <a:lstStyle/>
                    <a:p>
                      <a:pPr algn="ctr">
                        <a:lnSpc>
                          <a:spcPct val="92000"/>
                        </a:lnSpc>
                      </a:pPr>
                      <a:r>
                        <a:rPr sz="1050" b="0">
                          <a:solidFill>
                            <a:srgbClr val="1F3B63"/>
                          </a:solidFill>
                        </a:rPr>
                        <a:t>29</a:t>
                      </a:r>
                    </a:p>
                  </a:txBody>
                  <a:tcPr anchor="ctr" marL="54864" marR="54864" marT="18288" marB="18288">
                    <a:solidFill>
                      <a:srgbClr val="FFFFFF"/>
                    </a:solidFill>
                  </a:tcPr>
                </a:tc>
                <a:tc>
                  <a:txBody>
                    <a:bodyPr/>
                    <a:lstStyle/>
                    <a:p>
                      <a:pPr algn="ctr">
                        <a:lnSpc>
                          <a:spcPct val="92000"/>
                        </a:lnSpc>
                      </a:pPr>
                      <a:r>
                        <a:rPr sz="1050" b="0">
                          <a:solidFill>
                            <a:srgbClr val="1F3B63"/>
                          </a:solidFill>
                        </a:rPr>
                        <a:t>29</a:t>
                      </a:r>
                    </a:p>
                  </a:txBody>
                  <a:tcPr anchor="ctr" marL="54864" marR="54864" marT="18288" marB="18288">
                    <a:solidFill>
                      <a:srgbClr val="FFFFFF"/>
                    </a:solidFill>
                  </a:tcPr>
                </a:tc>
                <a:tc>
                  <a:txBody>
                    <a:bodyPr/>
                    <a:lstStyle/>
                    <a:p>
                      <a:pPr algn="ctr">
                        <a:lnSpc>
                          <a:spcPct val="92000"/>
                        </a:lnSpc>
                      </a:pPr>
                      <a:r>
                        <a:rPr sz="1050" b="0">
                          <a:solidFill>
                            <a:srgbClr val="1F3B63"/>
                          </a:solidFill>
                        </a:rPr>
                        <a:t>—</a:t>
                      </a:r>
                    </a:p>
                  </a:txBody>
                  <a:tcPr anchor="ctr" marL="54864" marR="54864" marT="18288" marB="18288">
                    <a:solidFill>
                      <a:srgbClr val="FFFFFF"/>
                    </a:solidFill>
                  </a:tcPr>
                </a:tc>
              </a:tr>
              <a:tr h="310896">
                <a:tc>
                  <a:txBody>
                    <a:bodyPr/>
                    <a:lstStyle/>
                    <a:p>
                      <a:pPr algn="l">
                        <a:lnSpc>
                          <a:spcPct val="92000"/>
                        </a:lnSpc>
                      </a:pPr>
                      <a:r>
                        <a:rPr sz="1050" b="0">
                          <a:solidFill>
                            <a:srgbClr val="1F3B63"/>
                          </a:solidFill>
                        </a:rPr>
                        <a:t>4  IEG + reporter + backbone</a:t>
                      </a:r>
                    </a:p>
                  </a:txBody>
                  <a:tcPr anchor="ctr" marL="54864" marR="54864" marT="18288" marB="18288">
                    <a:solidFill>
                      <a:srgbClr val="EEF3F9"/>
                    </a:solidFill>
                  </a:tcPr>
                </a:tc>
                <a:tc>
                  <a:txBody>
                    <a:bodyPr/>
                    <a:lstStyle/>
                    <a:p>
                      <a:pPr algn="l">
                        <a:lnSpc>
                          <a:spcPct val="92000"/>
                        </a:lnSpc>
                      </a:pPr>
                      <a:r>
                        <a:rPr sz="1050" b="0">
                          <a:solidFill>
                            <a:srgbClr val="1F3B63"/>
                          </a:solidFill>
                        </a:rPr>
                        <a:t>Was it active, was it TRAPped, what class</a:t>
                      </a:r>
                    </a:p>
                  </a:txBody>
                  <a:tcPr anchor="ctr" marL="54864" marR="54864" marT="18288" marB="18288">
                    <a:solidFill>
                      <a:srgbClr val="EEF3F9"/>
                    </a:solidFill>
                  </a:tcPr>
                </a:tc>
                <a:tc>
                  <a:txBody>
                    <a:bodyPr/>
                    <a:lstStyle/>
                    <a:p>
                      <a:pPr algn="ctr">
                        <a:lnSpc>
                          <a:spcPct val="92000"/>
                        </a:lnSpc>
                      </a:pPr>
                      <a:r>
                        <a:rPr sz="1050" b="0">
                          <a:solidFill>
                            <a:srgbClr val="1F3B63"/>
                          </a:solidFill>
                        </a:rPr>
                        <a:t>21</a:t>
                      </a:r>
                    </a:p>
                  </a:txBody>
                  <a:tcPr anchor="ctr" marL="54864" marR="54864" marT="18288" marB="18288">
                    <a:solidFill>
                      <a:srgbClr val="EEF3F9"/>
                    </a:solidFill>
                  </a:tcPr>
                </a:tc>
                <a:tc>
                  <a:txBody>
                    <a:bodyPr/>
                    <a:lstStyle/>
                    <a:p>
                      <a:pPr algn="ctr">
                        <a:lnSpc>
                          <a:spcPct val="92000"/>
                        </a:lnSpc>
                      </a:pPr>
                      <a:r>
                        <a:rPr sz="1050" b="0">
                          <a:solidFill>
                            <a:srgbClr val="1F3B63"/>
                          </a:solidFill>
                        </a:rPr>
                        <a:t>19</a:t>
                      </a:r>
                    </a:p>
                  </a:txBody>
                  <a:tcPr anchor="ctr" marL="54864" marR="54864" marT="18288" marB="18288">
                    <a:solidFill>
                      <a:srgbClr val="EEF3F9"/>
                    </a:solidFill>
                  </a:tcPr>
                </a:tc>
                <a:tc>
                  <a:txBody>
                    <a:bodyPr/>
                    <a:lstStyle/>
                    <a:p>
                      <a:pPr algn="ctr">
                        <a:lnSpc>
                          <a:spcPct val="92000"/>
                        </a:lnSpc>
                      </a:pPr>
                      <a:r>
                        <a:rPr sz="1050" b="0">
                          <a:solidFill>
                            <a:srgbClr val="1F3B63"/>
                          </a:solidFill>
                        </a:rPr>
                        <a:t>—</a:t>
                      </a:r>
                    </a:p>
                  </a:txBody>
                  <a:tcPr anchor="ctr" marL="54864" marR="54864" marT="18288" marB="18288">
                    <a:solidFill>
                      <a:srgbClr val="EEF3F9"/>
                    </a:solidFill>
                  </a:tcPr>
                </a:tc>
              </a:tr>
              <a:tr h="310896">
                <a:tc>
                  <a:txBody>
                    <a:bodyPr/>
                    <a:lstStyle/>
                    <a:p>
                      <a:pPr algn="l">
                        <a:lnSpc>
                          <a:spcPct val="92000"/>
                        </a:lnSpc>
                      </a:pPr>
                      <a:r>
                        <a:rPr sz="1050" b="0">
                          <a:solidFill>
                            <a:srgbClr val="1F3B63"/>
                          </a:solidFill>
                        </a:rPr>
                        <a:t>TOTAL genes to order</a:t>
                      </a:r>
                    </a:p>
                  </a:txBody>
                  <a:tcPr anchor="ctr" marL="54864" marR="54864" marT="18288" marB="18288">
                    <a:solidFill>
                      <a:srgbClr val="FFF2CC"/>
                    </a:solidFill>
                  </a:tcPr>
                </a:tc>
                <a:tc>
                  <a:txBody>
                    <a:bodyPr/>
                    <a:lstStyle/>
                    <a:p>
                      <a:pPr algn="l">
                        <a:lnSpc>
                          <a:spcPct val="92000"/>
                        </a:lnSpc>
                      </a:pPr>
                    </a:p>
                  </a:txBody>
                  <a:tcPr anchor="ctr" marL="54864" marR="54864" marT="18288" marB="18288">
                    <a:solidFill>
                      <a:srgbClr val="FFF2CC"/>
                    </a:solidFill>
                  </a:tcPr>
                </a:tc>
                <a:tc>
                  <a:txBody>
                    <a:bodyPr/>
                    <a:lstStyle/>
                    <a:p>
                      <a:pPr algn="ctr">
                        <a:lnSpc>
                          <a:spcPct val="92000"/>
                        </a:lnSpc>
                      </a:pPr>
                      <a:r>
                        <a:rPr sz="1050" b="0">
                          <a:solidFill>
                            <a:srgbClr val="1F3B63"/>
                          </a:solidFill>
                        </a:rPr>
                        <a:t>124</a:t>
                      </a:r>
                    </a:p>
                  </a:txBody>
                  <a:tcPr anchor="ctr" marL="54864" marR="54864" marT="18288" marB="18288">
                    <a:solidFill>
                      <a:srgbClr val="FFF2CC"/>
                    </a:solidFill>
                  </a:tcPr>
                </a:tc>
                <a:tc>
                  <a:txBody>
                    <a:bodyPr/>
                    <a:lstStyle/>
                    <a:p>
                      <a:pPr algn="ctr">
                        <a:lnSpc>
                          <a:spcPct val="92000"/>
                        </a:lnSpc>
                      </a:pPr>
                      <a:r>
                        <a:rPr sz="1050" b="0">
                          <a:solidFill>
                            <a:srgbClr val="1F3B63"/>
                          </a:solidFill>
                        </a:rPr>
                        <a:t>128</a:t>
                      </a:r>
                    </a:p>
                  </a:txBody>
                  <a:tcPr anchor="ctr" marL="54864" marR="54864" marT="18288" marB="18288">
                    <a:solidFill>
                      <a:srgbClr val="FFF2CC"/>
                    </a:solidFill>
                  </a:tcPr>
                </a:tc>
                <a:tc>
                  <a:txBody>
                    <a:bodyPr/>
                    <a:lstStyle/>
                    <a:p>
                      <a:pPr algn="ctr">
                        <a:lnSpc>
                          <a:spcPct val="92000"/>
                        </a:lnSpc>
                      </a:pPr>
                      <a:r>
                        <a:rPr sz="1050" b="0">
                          <a:solidFill>
                            <a:srgbClr val="1F3B63"/>
                          </a:solidFill>
                        </a:rPr>
                        <a:t>168</a:t>
                      </a:r>
                    </a:p>
                  </a:txBody>
                  <a:tcPr anchor="ctr" marL="54864" marR="54864" marT="18288" marB="18288">
                    <a:solidFill>
                      <a:srgbClr val="FFF2CC"/>
                    </a:solidFill>
                  </a:tcPr>
                </a:tc>
              </a:tr>
              <a:tr h="310896">
                <a:tc>
                  <a:txBody>
                    <a:bodyPr/>
                    <a:lstStyle/>
                    <a:p>
                      <a:pPr algn="l">
                        <a:lnSpc>
                          <a:spcPct val="92000"/>
                        </a:lnSpc>
                      </a:pPr>
                      <a:r>
                        <a:rPr sz="1050" b="0">
                          <a:solidFill>
                            <a:srgbClr val="1F3B63"/>
                          </a:solidFill>
                        </a:rPr>
                        <a:t>Minimum that still IDs all 20</a:t>
                      </a:r>
                    </a:p>
                  </a:txBody>
                  <a:tcPr anchor="ctr" marL="54864" marR="54864" marT="18288" marB="18288">
                    <a:solidFill>
                      <a:srgbClr val="D8ECD8"/>
                    </a:solidFill>
                  </a:tcPr>
                </a:tc>
                <a:tc>
                  <a:txBody>
                    <a:bodyPr/>
                    <a:lstStyle/>
                    <a:p>
                      <a:pPr algn="l">
                        <a:lnSpc>
                          <a:spcPct val="92000"/>
                        </a:lnSpc>
                      </a:pPr>
                    </a:p>
                  </a:txBody>
                  <a:tcPr anchor="ctr" marL="54864" marR="54864" marT="18288" marB="18288">
                    <a:solidFill>
                      <a:srgbClr val="D8ECD8"/>
                    </a:solidFill>
                  </a:tcPr>
                </a:tc>
                <a:tc>
                  <a:txBody>
                    <a:bodyPr/>
                    <a:lstStyle/>
                    <a:p>
                      <a:pPr algn="ctr">
                        <a:lnSpc>
                          <a:spcPct val="92000"/>
                        </a:lnSpc>
                      </a:pPr>
                      <a:r>
                        <a:rPr sz="1050" b="0">
                          <a:solidFill>
                            <a:srgbClr val="1F3B63"/>
                          </a:solidFill>
                        </a:rPr>
                        <a:t>38</a:t>
                      </a:r>
                    </a:p>
                  </a:txBody>
                  <a:tcPr anchor="ctr" marL="54864" marR="54864" marT="18288" marB="18288">
                    <a:solidFill>
                      <a:srgbClr val="D8ECD8"/>
                    </a:solidFill>
                  </a:tcPr>
                </a:tc>
                <a:tc>
                  <a:txBody>
                    <a:bodyPr/>
                    <a:lstStyle/>
                    <a:p>
                      <a:pPr algn="ctr">
                        <a:lnSpc>
                          <a:spcPct val="92000"/>
                        </a:lnSpc>
                      </a:pPr>
                      <a:r>
                        <a:rPr sz="1050" b="0">
                          <a:solidFill>
                            <a:srgbClr val="1F3B63"/>
                          </a:solidFill>
                        </a:rPr>
                        <a:t>52</a:t>
                      </a:r>
                    </a:p>
                  </a:txBody>
                  <a:tcPr anchor="ctr" marL="54864" marR="54864" marT="18288" marB="18288">
                    <a:solidFill>
                      <a:srgbClr val="D8ECD8"/>
                    </a:solidFill>
                  </a:tcPr>
                </a:tc>
                <a:tc>
                  <a:txBody>
                    <a:bodyPr/>
                    <a:lstStyle/>
                    <a:p>
                      <a:pPr algn="ctr">
                        <a:lnSpc>
                          <a:spcPct val="92000"/>
                        </a:lnSpc>
                      </a:pPr>
                      <a:r>
                        <a:rPr sz="1050" b="0">
                          <a:solidFill>
                            <a:srgbClr val="1F3B63"/>
                          </a:solidFill>
                        </a:rPr>
                        <a:t>77</a:t>
                      </a:r>
                    </a:p>
                  </a:txBody>
                  <a:tcPr anchor="ctr" marL="54864" marR="54864" marT="18288" marB="18288">
                    <a:solidFill>
                      <a:srgbClr val="D8ECD8"/>
                    </a:solidFill>
                  </a:tcPr>
                </a:tc>
              </a:tr>
            </a:tbl>
          </a:graphicData>
        </a:graphic>
      </p:graphicFrame>
      <p:sp>
        <p:nvSpPr>
          <p:cNvPr id="7" name="Rectangle 6"/>
          <p:cNvSpPr/>
          <p:nvPr/>
        </p:nvSpPr>
        <p:spPr>
          <a:xfrm>
            <a:off x="502920" y="4041648"/>
            <a:ext cx="6537960" cy="292608"/>
          </a:xfrm>
          <a:prstGeom prst="rect">
            <a:avLst/>
          </a:prstGeom>
          <a:solidFill>
            <a:srgbClr val="7A3E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BLOCK 4 IS THE TRAP READOUT — 4 GENES NEED CUSTOM PROBES</a:t>
            </a:r>
          </a:p>
        </p:txBody>
      </p:sp>
      <p:sp>
        <p:nvSpPr>
          <p:cNvPr id="8" name="Rectangle 7"/>
          <p:cNvSpPr/>
          <p:nvPr/>
        </p:nvSpPr>
        <p:spPr>
          <a:xfrm>
            <a:off x="502920" y="4334256"/>
            <a:ext cx="6537960" cy="121615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150" b="0">
                <a:solidFill>
                  <a:srgbClr val="595959"/>
                </a:solidFill>
              </a:rPr>
              <a:t>tdTomato and iCre are not mouse genes. Xenium supports exogenous targets, but 10x does not validate them, so these are at our risk.</a:t>
            </a:r>
          </a:p>
          <a:p>
            <a:pPr algn="l">
              <a:lnSpc>
                <a:spcPct val="97000"/>
              </a:lnSpc>
              <a:spcAft>
                <a:spcPts val="500"/>
              </a:spcAft>
            </a:pPr>
            <a:r>
              <a:rPr sz="1150" b="0">
                <a:solidFill>
                  <a:srgbClr val="595959"/>
                </a:solidFill>
              </a:rPr>
              <a:t>tdTomato = the permanent tag (Ai14). iCre = the driver, which separates cells that expressed the driver from cells that completed recombination.</a:t>
            </a:r>
          </a:p>
          <a:p>
            <a:pPr algn="l">
              <a:lnSpc>
                <a:spcPct val="97000"/>
              </a:lnSpc>
              <a:spcAft>
                <a:spcPts val="500"/>
              </a:spcAft>
            </a:pPr>
            <a:r>
              <a:rPr sz="1150" b="0">
                <a:solidFill>
                  <a:srgbClr val="595959"/>
                </a:solidFill>
              </a:rPr>
              <a:t>Fos, Npas4 and Arc give activity at the time of the test; Slc17a7 / Slc17a6 / Gad1 / Gad2 give the neurotransmitter class.</a:t>
            </a:r>
          </a:p>
        </p:txBody>
      </p:sp>
      <p:sp>
        <p:nvSpPr>
          <p:cNvPr id="9" name="Rectangle 8"/>
          <p:cNvSpPr/>
          <p:nvPr/>
        </p:nvSpPr>
        <p:spPr>
          <a:xfrm>
            <a:off x="7315200" y="1298448"/>
            <a:ext cx="4370832" cy="29260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PROCUREMENT RISK — RESOLVE BEFORE ORDERING</a:t>
            </a:r>
          </a:p>
        </p:txBody>
      </p:sp>
      <p:sp>
        <p:nvSpPr>
          <p:cNvPr id="10" name="Rectangle 9"/>
          <p:cNvSpPr/>
          <p:nvPr/>
        </p:nvSpPr>
        <p:spPr>
          <a:xfrm>
            <a:off x="7315200" y="1591056"/>
            <a:ext cx="4370832" cy="281635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150" b="1">
                <a:solidFill>
                  <a:srgbClr val="1F3B63"/>
                </a:solidFill>
              </a:rPr>
              <a:t>A Xenium custom add-on is capped at 100 genes on top of a pre-designed base panel. Our list is 168.</a:t>
            </a:r>
          </a:p>
          <a:p>
            <a:pPr algn="l">
              <a:lnSpc>
                <a:spcPct val="97000"/>
              </a:lnSpc>
              <a:spcAft>
                <a:spcPts val="500"/>
              </a:spcAft>
            </a:pPr>
            <a:r>
              <a:rPr sz="1150" b="0">
                <a:solidFill>
                  <a:srgbClr val="595959"/>
                </a:solidFill>
              </a:rPr>
              <a:t>Option A (preferred): Xenium Prime 5K mouse panel as the base. It should already contain nearly all 164 endogenous genes, leaving only the 4 transgenes as custom.</a:t>
            </a:r>
          </a:p>
          <a:p>
            <a:pPr algn="l">
              <a:lnSpc>
                <a:spcPct val="97000"/>
              </a:lnSpc>
              <a:spcAft>
                <a:spcPts val="500"/>
              </a:spcAft>
            </a:pPr>
            <a:r>
              <a:rPr sz="1150" b="0">
                <a:solidFill>
                  <a:srgbClr val="595959"/>
                </a:solidFill>
              </a:rPr>
              <a:t>Option B: base mouse brain panel + 100-gene add-on. Feasible because the 77-gene minimum panel plus the transgenes fits inside the cap. This is exactly why I tiered the list.</a:t>
            </a:r>
          </a:p>
          <a:p>
            <a:pPr algn="l">
              <a:lnSpc>
                <a:spcPct val="97000"/>
              </a:lnSpc>
              <a:spcAft>
                <a:spcPts val="500"/>
              </a:spcAft>
            </a:pPr>
            <a:r>
              <a:rPr sz="1150" b="1">
                <a:solidFill>
                  <a:srgbClr val="1F3B63"/>
                </a:solidFill>
              </a:rPr>
              <a:t>Action: cross-check our 168 genes against the base panel gene lists and get a quote for both options. Two days of work, must happen before the October order.</a:t>
            </a:r>
          </a:p>
        </p:txBody>
      </p:sp>
      <p:sp>
        <p:nvSpPr>
          <p:cNvPr id="11" name="Rectangle 10"/>
          <p:cNvSpPr/>
          <p:nvPr/>
        </p:nvSpPr>
        <p:spPr>
          <a:xfrm>
            <a:off x="7315200" y="4050791"/>
            <a:ext cx="4370832" cy="978408"/>
          </a:xfrm>
          <a:prstGeom prst="rect">
            <a:avLst/>
          </a:prstGeom>
          <a:solidFill>
            <a:srgbClr val="FDE9E9"/>
          </a:solidFill>
          <a:ln w="15875">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l">
              <a:lnSpc>
                <a:spcPct val="100000"/>
              </a:lnSpc>
              <a:spcAft>
                <a:spcPts val="400"/>
              </a:spcAft>
            </a:pPr>
            <a:r>
              <a:rPr sz="1100" b="0">
                <a:solidFill>
                  <a:srgbClr val="1F3B63"/>
                </a:solidFill>
              </a:rPr>
              <a:t>Statistics caveat: n=3 per group means the unit of inference is the mouse, not the cell. I will analyse cells nested within mouse and report mouse-level effects. Treat Experiment 1 as descriptive; if QC passes I would extend to n=5 per group.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EXPERIMENT 1</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Experiment 1 — schedule</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The September pilot deliberately uses the base panel only, so tissue QC is not blocked by panel design</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98448"/>
          <a:ext cx="11185854" cy="4242816"/>
        </p:xfrm>
        <a:graphic>
          <a:graphicData uri="http://schemas.openxmlformats.org/drawingml/2006/table">
            <a:tbl>
              <a:tblPr firstRow="1" bandRow="1">
                <a:tableStyleId>{5C22544A-7EE6-4342-B048-85BDC9FD1C3A}</a:tableStyleId>
              </a:tblPr>
              <a:tblGrid>
                <a:gridCol w="1533086"/>
                <a:gridCol w="5223851"/>
                <a:gridCol w="4428917"/>
              </a:tblGrid>
              <a:tr h="274320">
                <a:tc>
                  <a:txBody>
                    <a:bodyPr/>
                    <a:lstStyle/>
                    <a:p>
                      <a:pPr algn="l">
                        <a:lnSpc>
                          <a:spcPct val="92000"/>
                        </a:lnSpc>
                      </a:pPr>
                      <a:r>
                        <a:rPr sz="1100" b="1">
                          <a:solidFill>
                            <a:srgbClr val="FFFFFF"/>
                          </a:solidFill>
                        </a:rPr>
                        <a:t>When</a:t>
                      </a:r>
                    </a:p>
                  </a:txBody>
                  <a:tcPr anchor="ctr" marL="54864" marR="54864" marT="18288" marB="18288">
                    <a:solidFill>
                      <a:srgbClr val="1F3B63"/>
                    </a:solidFill>
                  </a:tcPr>
                </a:tc>
                <a:tc>
                  <a:txBody>
                    <a:bodyPr/>
                    <a:lstStyle/>
                    <a:p>
                      <a:pPr algn="l">
                        <a:lnSpc>
                          <a:spcPct val="92000"/>
                        </a:lnSpc>
                      </a:pPr>
                      <a:r>
                        <a:rPr sz="1100" b="1">
                          <a:solidFill>
                            <a:srgbClr val="FFFFFF"/>
                          </a:solidFill>
                        </a:rPr>
                        <a:t>Step</a:t>
                      </a:r>
                    </a:p>
                  </a:txBody>
                  <a:tcPr anchor="ctr" marL="54864" marR="54864" marT="18288" marB="18288">
                    <a:solidFill>
                      <a:srgbClr val="1F3B63"/>
                    </a:solidFill>
                  </a:tcPr>
                </a:tc>
                <a:tc>
                  <a:txBody>
                    <a:bodyPr/>
                    <a:lstStyle/>
                    <a:p>
                      <a:pPr algn="l">
                        <a:lnSpc>
                          <a:spcPct val="92000"/>
                        </a:lnSpc>
                      </a:pPr>
                      <a:r>
                        <a:rPr sz="1100" b="1">
                          <a:solidFill>
                            <a:srgbClr val="FFFFFF"/>
                          </a:solidFill>
                        </a:rPr>
                        <a:t>What must be true to proceed</a:t>
                      </a:r>
                    </a:p>
                  </a:txBody>
                  <a:tcPr anchor="ctr" marL="54864" marR="54864" marT="18288" marB="18288">
                    <a:solidFill>
                      <a:srgbClr val="1F3B63"/>
                    </a:solidFill>
                  </a:tcPr>
                </a:tc>
              </a:tr>
              <a:tr h="566928">
                <a:tc>
                  <a:txBody>
                    <a:bodyPr/>
                    <a:lstStyle/>
                    <a:p>
                      <a:pPr algn="l">
                        <a:lnSpc>
                          <a:spcPct val="92000"/>
                        </a:lnSpc>
                      </a:pPr>
                      <a:r>
                        <a:rPr sz="1050" b="0">
                          <a:solidFill>
                            <a:srgbClr val="1F3B63"/>
                          </a:solidFill>
                        </a:rPr>
                        <a:t>Sep 2026</a:t>
                      </a:r>
                    </a:p>
                  </a:txBody>
                  <a:tcPr anchor="ctr" marL="54864" marR="54864" marT="18288" marB="18288">
                    <a:solidFill>
                      <a:srgbClr val="FFFFFF"/>
                    </a:solidFill>
                  </a:tcPr>
                </a:tc>
                <a:tc>
                  <a:txBody>
                    <a:bodyPr/>
                    <a:lstStyle/>
                    <a:p>
                      <a:pPr algn="l">
                        <a:lnSpc>
                          <a:spcPct val="92000"/>
                        </a:lnSpc>
                      </a:pPr>
                      <a:r>
                        <a:rPr sz="1050" b="0">
                          <a:solidFill>
                            <a:srgbClr val="1F3B63"/>
                          </a:solidFill>
                        </a:rPr>
                        <a:t>Xenium pilot with Alina's lab. Base mouse brain panel only, 1 Active + 1 Passive brain from existing tissue.</a:t>
                      </a:r>
                    </a:p>
                  </a:txBody>
                  <a:tcPr anchor="ctr" marL="54864" marR="54864" marT="18288" marB="18288">
                    <a:solidFill>
                      <a:srgbClr val="FFFFFF"/>
                    </a:solidFill>
                  </a:tcPr>
                </a:tc>
                <a:tc>
                  <a:txBody>
                    <a:bodyPr/>
                    <a:lstStyle/>
                    <a:p>
                      <a:pPr algn="l">
                        <a:lnSpc>
                          <a:spcPct val="92000"/>
                        </a:lnSpc>
                      </a:pPr>
                      <a:r>
                        <a:rPr sz="1050" b="0">
                          <a:solidFill>
                            <a:srgbClr val="1F3B63"/>
                          </a:solidFill>
                        </a:rPr>
                        <a:t>Nothing — this is the gate, and it needs no new panel.</a:t>
                      </a:r>
                    </a:p>
                  </a:txBody>
                  <a:tcPr anchor="ctr" marL="54864" marR="54864" marT="18288" marB="18288">
                    <a:solidFill>
                      <a:srgbClr val="FFFFFF"/>
                    </a:solidFill>
                  </a:tcPr>
                </a:tc>
              </a:tr>
              <a:tr h="566928">
                <a:tc>
                  <a:txBody>
                    <a:bodyPr/>
                    <a:lstStyle/>
                    <a:p>
                      <a:pPr algn="l">
                        <a:lnSpc>
                          <a:spcPct val="92000"/>
                        </a:lnSpc>
                      </a:pPr>
                      <a:r>
                        <a:rPr sz="1050" b="0">
                          <a:solidFill>
                            <a:srgbClr val="1F3B63"/>
                          </a:solidFill>
                        </a:rPr>
                        <a:t>Sep 2026</a:t>
                      </a:r>
                    </a:p>
                  </a:txBody>
                  <a:tcPr anchor="ctr" marL="54864" marR="54864" marT="18288" marB="18288">
                    <a:solidFill>
                      <a:srgbClr val="EEF3F9"/>
                    </a:solidFill>
                  </a:tcPr>
                </a:tc>
                <a:tc>
                  <a:txBody>
                    <a:bodyPr/>
                    <a:lstStyle/>
                    <a:p>
                      <a:pPr algn="l">
                        <a:lnSpc>
                          <a:spcPct val="92000"/>
                        </a:lnSpc>
                      </a:pPr>
                      <a:r>
                        <a:rPr sz="1050" b="0">
                          <a:solidFill>
                            <a:srgbClr val="1F3B63"/>
                          </a:solidFill>
                        </a:rPr>
                        <a:t>QC criteria fixed in advance: transcripts per cell, negative-probe rate, segmentation quality, registration of ORBm and BMAp to Allen, and recovery of the expected subclasses.</a:t>
                      </a:r>
                    </a:p>
                  </a:txBody>
                  <a:tcPr anchor="ctr" marL="54864" marR="54864" marT="18288" marB="18288">
                    <a:solidFill>
                      <a:srgbClr val="EEF3F9"/>
                    </a:solidFill>
                  </a:tcPr>
                </a:tc>
                <a:tc>
                  <a:txBody>
                    <a:bodyPr/>
                    <a:lstStyle/>
                    <a:p>
                      <a:pPr algn="l">
                        <a:lnSpc>
                          <a:spcPct val="92000"/>
                        </a:lnSpc>
                      </a:pPr>
                      <a:r>
                        <a:rPr sz="1050" b="0">
                          <a:solidFill>
                            <a:srgbClr val="1F3B63"/>
                          </a:solidFill>
                        </a:rPr>
                        <a:t>Agree the numeric thresholds with Alina BEFORE the run, so pass/fail is not a judgement call.</a:t>
                      </a:r>
                    </a:p>
                  </a:txBody>
                  <a:tcPr anchor="ctr" marL="54864" marR="54864" marT="18288" marB="18288">
                    <a:solidFill>
                      <a:srgbClr val="EEF3F9"/>
                    </a:solidFill>
                  </a:tcPr>
                </a:tc>
              </a:tr>
              <a:tr h="566928">
                <a:tc>
                  <a:txBody>
                    <a:bodyPr/>
                    <a:lstStyle/>
                    <a:p>
                      <a:pPr algn="l">
                        <a:lnSpc>
                          <a:spcPct val="92000"/>
                        </a:lnSpc>
                      </a:pPr>
                      <a:r>
                        <a:rPr sz="1050" b="0">
                          <a:solidFill>
                            <a:srgbClr val="1F3B63"/>
                          </a:solidFill>
                        </a:rPr>
                        <a:t>Sep-Oct 2026</a:t>
                      </a:r>
                    </a:p>
                  </a:txBody>
                  <a:tcPr anchor="ctr" marL="54864" marR="54864" marT="18288" marB="18288">
                    <a:solidFill>
                      <a:srgbClr val="FFFFFF"/>
                    </a:solidFill>
                  </a:tcPr>
                </a:tc>
                <a:tc>
                  <a:txBody>
                    <a:bodyPr/>
                    <a:lstStyle/>
                    <a:p>
                      <a:pPr algn="l">
                        <a:lnSpc>
                          <a:spcPct val="92000"/>
                        </a:lnSpc>
                      </a:pPr>
                      <a:r>
                        <a:rPr sz="1050" b="0">
                          <a:solidFill>
                            <a:srgbClr val="1F3B63"/>
                          </a:solidFill>
                        </a:rPr>
                        <a:t>Cross-check the 168 genes against base panel content; quote Prime 5K vs base + 100 add-on.</a:t>
                      </a:r>
                    </a:p>
                  </a:txBody>
                  <a:tcPr anchor="ctr" marL="54864" marR="54864" marT="18288" marB="18288">
                    <a:solidFill>
                      <a:srgbClr val="FFFFFF"/>
                    </a:solidFill>
                  </a:tcPr>
                </a:tc>
                <a:tc>
                  <a:txBody>
                    <a:bodyPr/>
                    <a:lstStyle/>
                    <a:p>
                      <a:pPr algn="l">
                        <a:lnSpc>
                          <a:spcPct val="92000"/>
                        </a:lnSpc>
                      </a:pPr>
                      <a:r>
                        <a:rPr sz="1050" b="0">
                          <a:solidFill>
                            <a:srgbClr val="1F3B63"/>
                          </a:solidFill>
                        </a:rPr>
                        <a:t>Pilot QC passed.</a:t>
                      </a:r>
                    </a:p>
                  </a:txBody>
                  <a:tcPr anchor="ctr" marL="54864" marR="54864" marT="18288" marB="18288">
                    <a:solidFill>
                      <a:srgbClr val="FFFFFF"/>
                    </a:solidFill>
                  </a:tcPr>
                </a:tc>
              </a:tr>
              <a:tr h="566928">
                <a:tc>
                  <a:txBody>
                    <a:bodyPr/>
                    <a:lstStyle/>
                    <a:p>
                      <a:pPr algn="l">
                        <a:lnSpc>
                          <a:spcPct val="92000"/>
                        </a:lnSpc>
                      </a:pPr>
                      <a:r>
                        <a:rPr sz="1050" b="0">
                          <a:solidFill>
                            <a:srgbClr val="1F3B63"/>
                          </a:solidFill>
                        </a:rPr>
                        <a:t>Oct 2026</a:t>
                      </a:r>
                    </a:p>
                  </a:txBody>
                  <a:tcPr anchor="ctr" marL="54864" marR="54864" marT="18288" marB="18288">
                    <a:solidFill>
                      <a:srgbClr val="EEF3F9"/>
                    </a:solidFill>
                  </a:tcPr>
                </a:tc>
                <a:tc>
                  <a:txBody>
                    <a:bodyPr/>
                    <a:lstStyle/>
                    <a:p>
                      <a:pPr algn="l">
                        <a:lnSpc>
                          <a:spcPct val="92000"/>
                        </a:lnSpc>
                      </a:pPr>
                      <a:r>
                        <a:rPr sz="1050" b="0">
                          <a:solidFill>
                            <a:srgbClr val="1F3B63"/>
                          </a:solidFill>
                        </a:rPr>
                        <a:t>Submit panel design, including the 4 transgene FASTA sequences (tdTomato, iCre, and EGFP/WPRE if wanted).</a:t>
                      </a:r>
                    </a:p>
                  </a:txBody>
                  <a:tcPr anchor="ctr" marL="54864" marR="54864" marT="18288" marB="18288">
                    <a:solidFill>
                      <a:srgbClr val="EEF3F9"/>
                    </a:solidFill>
                  </a:tcPr>
                </a:tc>
                <a:tc>
                  <a:txBody>
                    <a:bodyPr/>
                    <a:lstStyle/>
                    <a:p>
                      <a:pPr algn="l">
                        <a:lnSpc>
                          <a:spcPct val="92000"/>
                        </a:lnSpc>
                      </a:pPr>
                      <a:r>
                        <a:rPr sz="1050" b="0">
                          <a:solidFill>
                            <a:srgbClr val="1F3B63"/>
                          </a:solidFill>
                        </a:rPr>
                        <a:t>Budget option chosen; Ai14 and TRAP2 construct sequences in hand.</a:t>
                      </a:r>
                    </a:p>
                  </a:txBody>
                  <a:tcPr anchor="ctr" marL="54864" marR="54864" marT="18288" marB="18288">
                    <a:solidFill>
                      <a:srgbClr val="EEF3F9"/>
                    </a:solidFill>
                  </a:tcPr>
                </a:tc>
              </a:tr>
              <a:tr h="566928">
                <a:tc>
                  <a:txBody>
                    <a:bodyPr/>
                    <a:lstStyle/>
                    <a:p>
                      <a:pPr algn="l">
                        <a:lnSpc>
                          <a:spcPct val="92000"/>
                        </a:lnSpc>
                      </a:pPr>
                      <a:r>
                        <a:rPr sz="1050" b="0">
                          <a:solidFill>
                            <a:srgbClr val="1F3B63"/>
                          </a:solidFill>
                        </a:rPr>
                        <a:t>Oct-Nov 2026</a:t>
                      </a:r>
                    </a:p>
                  </a:txBody>
                  <a:tcPr anchor="ctr" marL="54864" marR="54864" marT="18288" marB="18288">
                    <a:solidFill>
                      <a:srgbClr val="FFFFFF"/>
                    </a:solidFill>
                  </a:tcPr>
                </a:tc>
                <a:tc>
                  <a:txBody>
                    <a:bodyPr/>
                    <a:lstStyle/>
                    <a:p>
                      <a:pPr algn="l">
                        <a:lnSpc>
                          <a:spcPct val="92000"/>
                        </a:lnSpc>
                      </a:pPr>
                      <a:r>
                        <a:rPr sz="1050" b="0">
                          <a:solidFill>
                            <a:srgbClr val="1F3B63"/>
                          </a:solidFill>
                        </a:rPr>
                        <a:t>Panel manufacture and delivery (allow 6-8 weeks).</a:t>
                      </a:r>
                    </a:p>
                  </a:txBody>
                  <a:tcPr anchor="ctr" marL="54864" marR="54864" marT="18288" marB="18288">
                    <a:solidFill>
                      <a:srgbClr val="FFFFFF"/>
                    </a:solidFill>
                  </a:tcPr>
                </a:tc>
                <a:tc>
                  <a:txBody>
                    <a:bodyPr/>
                    <a:lstStyle/>
                    <a:p>
                      <a:pPr algn="l">
                        <a:lnSpc>
                          <a:spcPct val="92000"/>
                        </a:lnSpc>
                      </a:pPr>
                      <a:r>
                        <a:rPr sz="1050" b="0">
                          <a:solidFill>
                            <a:srgbClr val="1F3B63"/>
                          </a:solidFill>
                        </a:rPr>
                        <a:t>Order placed.</a:t>
                      </a:r>
                    </a:p>
                  </a:txBody>
                  <a:tcPr anchor="ctr" marL="54864" marR="54864" marT="18288" marB="18288">
                    <a:solidFill>
                      <a:srgbClr val="FFFFFF"/>
                    </a:solidFill>
                  </a:tcPr>
                </a:tc>
              </a:tr>
              <a:tr h="566928">
                <a:tc>
                  <a:txBody>
                    <a:bodyPr/>
                    <a:lstStyle/>
                    <a:p>
                      <a:pPr algn="l">
                        <a:lnSpc>
                          <a:spcPct val="92000"/>
                        </a:lnSpc>
                      </a:pPr>
                      <a:r>
                        <a:rPr sz="1050" b="0">
                          <a:solidFill>
                            <a:srgbClr val="1F3B63"/>
                          </a:solidFill>
                        </a:rPr>
                        <a:t>Nov 2026</a:t>
                      </a:r>
                    </a:p>
                  </a:txBody>
                  <a:tcPr anchor="ctr" marL="54864" marR="54864" marT="18288" marB="18288">
                    <a:solidFill>
                      <a:srgbClr val="EEF3F9"/>
                    </a:solidFill>
                  </a:tcPr>
                </a:tc>
                <a:tc>
                  <a:txBody>
                    <a:bodyPr/>
                    <a:lstStyle/>
                    <a:p>
                      <a:pPr algn="l">
                        <a:lnSpc>
                          <a:spcPct val="92000"/>
                        </a:lnSpc>
                      </a:pPr>
                      <a:r>
                        <a:rPr sz="1050" b="0">
                          <a:solidFill>
                            <a:srgbClr val="1F3B63"/>
                          </a:solidFill>
                        </a:rPr>
                        <a:t>Run the behaviour cohort for Experiment 1 (n=3+3) so tissue is ready when the panel arrives.</a:t>
                      </a:r>
                    </a:p>
                  </a:txBody>
                  <a:tcPr anchor="ctr" marL="54864" marR="54864" marT="18288" marB="18288">
                    <a:solidFill>
                      <a:srgbClr val="EEF3F9"/>
                    </a:solidFill>
                  </a:tcPr>
                </a:tc>
                <a:tc>
                  <a:txBody>
                    <a:bodyPr/>
                    <a:lstStyle/>
                    <a:p>
                      <a:pPr algn="l">
                        <a:lnSpc>
                          <a:spcPct val="92000"/>
                        </a:lnSpc>
                      </a:pPr>
                      <a:r>
                        <a:rPr sz="1050" b="0">
                          <a:solidFill>
                            <a:srgbClr val="1F3B63"/>
                          </a:solidFill>
                        </a:rPr>
                        <a:t>Mice genotyped TRAP2;Ai14; 4-OHT prepared fresh.</a:t>
                      </a:r>
                    </a:p>
                  </a:txBody>
                  <a:tcPr anchor="ctr" marL="54864" marR="54864" marT="18288" marB="18288">
                    <a:solidFill>
                      <a:srgbClr val="EEF3F9"/>
                    </a:solidFill>
                  </a:tcPr>
                </a:tc>
              </a:tr>
              <a:tr h="566928">
                <a:tc>
                  <a:txBody>
                    <a:bodyPr/>
                    <a:lstStyle/>
                    <a:p>
                      <a:pPr algn="l">
                        <a:lnSpc>
                          <a:spcPct val="92000"/>
                        </a:lnSpc>
                      </a:pPr>
                      <a:r>
                        <a:rPr sz="1050" b="0">
                          <a:solidFill>
                            <a:srgbClr val="1F3B63"/>
                          </a:solidFill>
                        </a:rPr>
                        <a:t>Dec 2026 - Jan 2027</a:t>
                      </a:r>
                    </a:p>
                  </a:txBody>
                  <a:tcPr anchor="ctr" marL="54864" marR="54864" marT="18288" marB="18288">
                    <a:solidFill>
                      <a:srgbClr val="FFFFFF"/>
                    </a:solidFill>
                  </a:tcPr>
                </a:tc>
                <a:tc>
                  <a:txBody>
                    <a:bodyPr/>
                    <a:lstStyle/>
                    <a:p>
                      <a:pPr algn="l">
                        <a:lnSpc>
                          <a:spcPct val="92000"/>
                        </a:lnSpc>
                      </a:pPr>
                      <a:r>
                        <a:rPr sz="1050" b="0">
                          <a:solidFill>
                            <a:srgbClr val="1F3B63"/>
                          </a:solidFill>
                        </a:rPr>
                        <a:t>Xenium run on ORBm and BMAp; analysis.</a:t>
                      </a:r>
                    </a:p>
                  </a:txBody>
                  <a:tcPr anchor="ctr" marL="54864" marR="54864" marT="18288" marB="18288">
                    <a:solidFill>
                      <a:srgbClr val="FFFFFF"/>
                    </a:solidFill>
                  </a:tcPr>
                </a:tc>
                <a:tc>
                  <a:txBody>
                    <a:bodyPr/>
                    <a:lstStyle/>
                    <a:p>
                      <a:pPr algn="l">
                        <a:lnSpc>
                          <a:spcPct val="92000"/>
                        </a:lnSpc>
                      </a:pPr>
                      <a:r>
                        <a:rPr sz="1050" b="0">
                          <a:solidFill>
                            <a:srgbClr val="1F3B63"/>
                          </a:solidFill>
                        </a:rPr>
                        <a:t>Panel delivered; sections cut and QC'd.</a:t>
                      </a:r>
                    </a:p>
                  </a:txBody>
                  <a:tcPr anchor="ctr" marL="54864" marR="54864" marT="18288" marB="18288">
                    <a:solidFill>
                      <a:srgbClr val="FFFFFF"/>
                    </a:solidFill>
                  </a:tcPr>
                </a:tc>
              </a:tr>
            </a:tbl>
          </a:graphicData>
        </a:graphic>
      </p:graphicFrame>
      <p:sp>
        <p:nvSpPr>
          <p:cNvPr id="7" name="Rectangle 6"/>
          <p:cNvSpPr/>
          <p:nvPr/>
        </p:nvSpPr>
        <p:spPr>
          <a:xfrm>
            <a:off x="502920" y="5806440"/>
            <a:ext cx="11185855" cy="548640"/>
          </a:xfrm>
          <a:prstGeom prst="rect">
            <a:avLst/>
          </a:prstGeom>
          <a:solidFill>
            <a:srgbClr val="FFF4D6"/>
          </a:solidFill>
          <a:ln w="15875">
            <a:solidFill>
              <a:srgbClr val="9C6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l">
              <a:lnSpc>
                <a:spcPct val="100000"/>
              </a:lnSpc>
              <a:spcAft>
                <a:spcPts val="400"/>
              </a:spcAft>
            </a:pPr>
            <a:r>
              <a:rPr sz="1200" b="1">
                <a:solidFill>
                  <a:srgbClr val="1F3B63"/>
                </a:solidFill>
              </a:rPr>
              <a:t>The one thing that can slip this schedule is the panel cross-check. If we discover in October that our genes do not fit the cap, we lose the manufacturing slot.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EXPERIMENT 2  ·  THE PROBLEM</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Experiment 2 — the problem with my first sketch</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Injecting CNO on Post day 7 would have tested nothing, because the receptor is not there yet</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5449824" cy="29260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TRAP IS INTRINSICALLY RETROSPECTIVE</a:t>
            </a:r>
          </a:p>
        </p:txBody>
      </p:sp>
      <p:sp>
        <p:nvSpPr>
          <p:cNvPr id="7" name="Rectangle 6"/>
          <p:cNvSpPr/>
          <p:nvPr/>
        </p:nvSpPr>
        <p:spPr>
          <a:xfrm>
            <a:off x="502920" y="1591056"/>
            <a:ext cx="5449824" cy="185623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250" b="1">
                <a:solidFill>
                  <a:srgbClr val="1F3B63"/>
                </a:solidFill>
              </a:rPr>
              <a:t>To be tagged, a neuron must be active. To be silenced, it must first manufacture the receptor. Those cannot happen at the same time.</a:t>
            </a:r>
          </a:p>
          <a:p>
            <a:pPr algn="l">
              <a:lnSpc>
                <a:spcPct val="97000"/>
              </a:lnSpc>
              <a:spcAft>
                <a:spcPts val="500"/>
              </a:spcAft>
            </a:pPr>
            <a:r>
              <a:rPr sz="1250" b="0">
                <a:solidFill>
                  <a:srgbClr val="595959"/>
                </a:solidFill>
              </a:rPr>
              <a:t>So TRAP can never answer 'does activity during Post cause behaviour during Post'. It answers 'are the neurons that were active during Post required for behaviour later'.</a:t>
            </a:r>
          </a:p>
          <a:p>
            <a:pPr algn="l">
              <a:lnSpc>
                <a:spcPct val="97000"/>
              </a:lnSpc>
              <a:spcAft>
                <a:spcPts val="500"/>
              </a:spcAft>
            </a:pPr>
            <a:r>
              <a:rPr sz="1250" b="0">
                <a:solidFill>
                  <a:srgbClr val="595959"/>
                </a:solidFill>
              </a:rPr>
              <a:t>This is a property of the method, not a flaw in the plan — but it decides what the experiment is allowed to claim.</a:t>
            </a:r>
          </a:p>
        </p:txBody>
      </p:sp>
      <p:sp>
        <p:nvSpPr>
          <p:cNvPr id="8" name="Rectangle 7"/>
          <p:cNvSpPr/>
          <p:nvPr/>
        </p:nvSpPr>
        <p:spPr>
          <a:xfrm>
            <a:off x="6238951" y="1298448"/>
            <a:ext cx="5449824" cy="29260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AND THE ARITHMETIC DOES NOT WORK</a:t>
            </a:r>
          </a:p>
        </p:txBody>
      </p:sp>
      <p:sp>
        <p:nvSpPr>
          <p:cNvPr id="9" name="Rectangle 8"/>
          <p:cNvSpPr/>
          <p:nvPr/>
        </p:nvSpPr>
        <p:spPr>
          <a:xfrm>
            <a:off x="6238951" y="1591056"/>
            <a:ext cx="5449824" cy="185623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250" b="1">
                <a:solidFill>
                  <a:srgbClr val="1F3B63"/>
                </a:solidFill>
              </a:rPr>
              <a:t>AAV-DIO-hM4Di needs about 14 days after 4-OHT before hM4Di is functional, on top of ~3 weeks for the AAV itself before tagging.</a:t>
            </a:r>
          </a:p>
          <a:p>
            <a:pPr algn="l">
              <a:lnSpc>
                <a:spcPct val="97000"/>
              </a:lnSpc>
              <a:spcAft>
                <a:spcPts val="500"/>
              </a:spcAft>
            </a:pPr>
            <a:r>
              <a:rPr sz="1250" b="0">
                <a:solidFill>
                  <a:srgbClr val="595959"/>
                </a:solidFill>
              </a:rPr>
              <a:t>My sketch: 4-OHT on Post day 2 (behaviour day 12), CNO on 'Post day 7' — five days later.</a:t>
            </a:r>
          </a:p>
          <a:p>
            <a:pPr algn="l">
              <a:lnSpc>
                <a:spcPct val="97000"/>
              </a:lnSpc>
              <a:spcAft>
                <a:spcPts val="500"/>
              </a:spcAft>
            </a:pPr>
            <a:r>
              <a:rPr sz="1250" b="0">
                <a:solidFill>
                  <a:srgbClr val="595959"/>
                </a:solidFill>
              </a:rPr>
              <a:t>Five days is not enough. We would inhibit nothing, see no behavioural effect, and be unable to tell that apart from the hypothesis being wrong.</a:t>
            </a:r>
          </a:p>
        </p:txBody>
      </p:sp>
      <p:graphicFrame>
        <p:nvGraphicFramePr>
          <p:cNvPr id="10" name="Table 9"/>
          <p:cNvGraphicFramePr>
            <a:graphicFrameLocks noGrp="1"/>
          </p:cNvGraphicFramePr>
          <p:nvPr/>
        </p:nvGraphicFramePr>
        <p:xfrm>
          <a:off x="502920" y="3227832"/>
          <a:ext cx="7680958" cy="1197864"/>
        </p:xfrm>
        <a:graphic>
          <a:graphicData uri="http://schemas.openxmlformats.org/drawingml/2006/table">
            <a:tbl>
              <a:tblPr firstRow="1" bandRow="1">
                <a:tableStyleId>{5C22544A-7EE6-4342-B048-85BDC9FD1C3A}</a:tableStyleId>
              </a:tblPr>
              <a:tblGrid>
                <a:gridCol w="3577433"/>
                <a:gridCol w="1262623"/>
                <a:gridCol w="1683498"/>
                <a:gridCol w="1157404"/>
              </a:tblGrid>
              <a:tr h="292608">
                <a:tc>
                  <a:txBody>
                    <a:bodyPr/>
                    <a:lstStyle/>
                    <a:p>
                      <a:pPr algn="l">
                        <a:lnSpc>
                          <a:spcPct val="92000"/>
                        </a:lnSpc>
                      </a:pPr>
                      <a:r>
                        <a:rPr sz="1100" b="1">
                          <a:solidFill>
                            <a:srgbClr val="FFFFFF"/>
                          </a:solidFill>
                        </a:rPr>
                        <a:t>Requirement</a:t>
                      </a:r>
                    </a:p>
                  </a:txBody>
                  <a:tcPr anchor="ctr" marL="54864" marR="54864" marT="18288" marB="18288">
                    <a:solidFill>
                      <a:srgbClr val="1F3B63"/>
                    </a:solidFill>
                  </a:tcPr>
                </a:tc>
                <a:tc>
                  <a:txBody>
                    <a:bodyPr/>
                    <a:lstStyle/>
                    <a:p>
                      <a:pPr algn="ctr">
                        <a:lnSpc>
                          <a:spcPct val="92000"/>
                        </a:lnSpc>
                      </a:pPr>
                      <a:r>
                        <a:rPr sz="1100" b="1">
                          <a:solidFill>
                            <a:srgbClr val="FFFFFF"/>
                          </a:solidFill>
                        </a:rPr>
                        <a:t>Needs</a:t>
                      </a:r>
                    </a:p>
                  </a:txBody>
                  <a:tcPr anchor="ctr" marL="54864" marR="54864" marT="18288" marB="18288">
                    <a:solidFill>
                      <a:srgbClr val="1F3B63"/>
                    </a:solidFill>
                  </a:tcPr>
                </a:tc>
                <a:tc>
                  <a:txBody>
                    <a:bodyPr/>
                    <a:lstStyle/>
                    <a:p>
                      <a:pPr algn="ctr">
                        <a:lnSpc>
                          <a:spcPct val="92000"/>
                        </a:lnSpc>
                      </a:pPr>
                      <a:r>
                        <a:rPr sz="1100" b="1">
                          <a:solidFill>
                            <a:srgbClr val="FFFFFF"/>
                          </a:solidFill>
                        </a:rPr>
                        <a:t>My sketch gave it</a:t>
                      </a:r>
                    </a:p>
                  </a:txBody>
                  <a:tcPr anchor="ctr" marL="54864" marR="54864" marT="18288" marB="18288">
                    <a:solidFill>
                      <a:srgbClr val="1F3B63"/>
                    </a:solidFill>
                  </a:tcPr>
                </a:tc>
                <a:tc>
                  <a:txBody>
                    <a:bodyPr/>
                    <a:lstStyle/>
                    <a:p>
                      <a:pPr algn="ctr">
                        <a:lnSpc>
                          <a:spcPct val="92000"/>
                        </a:lnSpc>
                      </a:pPr>
                      <a:r>
                        <a:rPr sz="1100" b="1">
                          <a:solidFill>
                            <a:srgbClr val="FFFFFF"/>
                          </a:solidFill>
                        </a:rPr>
                        <a:t>Verdict</a:t>
                      </a:r>
                    </a:p>
                  </a:txBody>
                  <a:tcPr anchor="ctr" marL="54864" marR="54864" marT="18288" marB="18288">
                    <a:solidFill>
                      <a:srgbClr val="1F3B63"/>
                    </a:solidFill>
                  </a:tcPr>
                </a:tc>
              </a:tr>
              <a:tr h="301752">
                <a:tc>
                  <a:txBody>
                    <a:bodyPr/>
                    <a:lstStyle/>
                    <a:p>
                      <a:pPr algn="l">
                        <a:lnSpc>
                          <a:spcPct val="92000"/>
                        </a:lnSpc>
                      </a:pPr>
                      <a:r>
                        <a:rPr sz="1100" b="0">
                          <a:solidFill>
                            <a:srgbClr val="1F3B63"/>
                          </a:solidFill>
                        </a:rPr>
                        <a:t>AAV established before tagging</a:t>
                      </a:r>
                    </a:p>
                  </a:txBody>
                  <a:tcPr anchor="ctr" marL="54864" marR="54864" marT="18288" marB="18288">
                    <a:solidFill>
                      <a:srgbClr val="FFFFFF"/>
                    </a:solidFill>
                  </a:tcPr>
                </a:tc>
                <a:tc>
                  <a:txBody>
                    <a:bodyPr/>
                    <a:lstStyle/>
                    <a:p>
                      <a:pPr algn="ctr">
                        <a:lnSpc>
                          <a:spcPct val="92000"/>
                        </a:lnSpc>
                      </a:pPr>
                      <a:r>
                        <a:rPr sz="1100" b="0">
                          <a:solidFill>
                            <a:srgbClr val="1F3B63"/>
                          </a:solidFill>
                        </a:rPr>
                        <a:t>~21 days</a:t>
                      </a:r>
                    </a:p>
                  </a:txBody>
                  <a:tcPr anchor="ctr" marL="54864" marR="54864" marT="18288" marB="18288">
                    <a:solidFill>
                      <a:srgbClr val="FFFFFF"/>
                    </a:solidFill>
                  </a:tcPr>
                </a:tc>
                <a:tc>
                  <a:txBody>
                    <a:bodyPr/>
                    <a:lstStyle/>
                    <a:p>
                      <a:pPr algn="ctr">
                        <a:lnSpc>
                          <a:spcPct val="92000"/>
                        </a:lnSpc>
                      </a:pPr>
                      <a:r>
                        <a:rPr sz="1100" b="0">
                          <a:solidFill>
                            <a:srgbClr val="1F3B63"/>
                          </a:solidFill>
                        </a:rPr>
                        <a:t>not specified</a:t>
                      </a:r>
                    </a:p>
                  </a:txBody>
                  <a:tcPr anchor="ctr" marL="54864" marR="54864" marT="18288" marB="18288">
                    <a:solidFill>
                      <a:srgbClr val="FFFFFF"/>
                    </a:solidFill>
                  </a:tcPr>
                </a:tc>
                <a:tc>
                  <a:txBody>
                    <a:bodyPr/>
                    <a:lstStyle/>
                    <a:p>
                      <a:pPr algn="ctr">
                        <a:lnSpc>
                          <a:spcPct val="92000"/>
                        </a:lnSpc>
                      </a:pPr>
                      <a:r>
                        <a:rPr sz="1100" b="0">
                          <a:solidFill>
                            <a:srgbClr val="1F3B63"/>
                          </a:solidFill>
                        </a:rPr>
                        <a:t>fixable</a:t>
                      </a:r>
                    </a:p>
                  </a:txBody>
                  <a:tcPr anchor="ctr" marL="54864" marR="54864" marT="18288" marB="18288">
                    <a:solidFill>
                      <a:srgbClr val="FFF2CC"/>
                    </a:solidFill>
                  </a:tcPr>
                </a:tc>
              </a:tr>
              <a:tr h="301752">
                <a:tc>
                  <a:txBody>
                    <a:bodyPr/>
                    <a:lstStyle/>
                    <a:p>
                      <a:pPr algn="l">
                        <a:lnSpc>
                          <a:spcPct val="92000"/>
                        </a:lnSpc>
                      </a:pPr>
                      <a:r>
                        <a:rPr sz="1100" b="0">
                          <a:solidFill>
                            <a:srgbClr val="1F3B63"/>
                          </a:solidFill>
                        </a:rPr>
                        <a:t>hM4Di functional after 4-OHT</a:t>
                      </a:r>
                    </a:p>
                  </a:txBody>
                  <a:tcPr anchor="ctr" marL="54864" marR="54864" marT="18288" marB="18288">
                    <a:solidFill>
                      <a:srgbClr val="EEF3F9"/>
                    </a:solidFill>
                  </a:tcPr>
                </a:tc>
                <a:tc>
                  <a:txBody>
                    <a:bodyPr/>
                    <a:lstStyle/>
                    <a:p>
                      <a:pPr algn="ctr">
                        <a:lnSpc>
                          <a:spcPct val="92000"/>
                        </a:lnSpc>
                      </a:pPr>
                      <a:r>
                        <a:rPr sz="1100" b="0">
                          <a:solidFill>
                            <a:srgbClr val="1F3B63"/>
                          </a:solidFill>
                        </a:rPr>
                        <a:t>~14 days</a:t>
                      </a:r>
                    </a:p>
                  </a:txBody>
                  <a:tcPr anchor="ctr" marL="54864" marR="54864" marT="18288" marB="18288">
                    <a:solidFill>
                      <a:srgbClr val="EEF3F9"/>
                    </a:solidFill>
                  </a:tcPr>
                </a:tc>
                <a:tc>
                  <a:txBody>
                    <a:bodyPr/>
                    <a:lstStyle/>
                    <a:p>
                      <a:pPr algn="ctr">
                        <a:lnSpc>
                          <a:spcPct val="92000"/>
                        </a:lnSpc>
                      </a:pPr>
                      <a:r>
                        <a:rPr sz="1100" b="0">
                          <a:solidFill>
                            <a:srgbClr val="1F3B63"/>
                          </a:solidFill>
                        </a:rPr>
                        <a:t>5 days</a:t>
                      </a:r>
                    </a:p>
                  </a:txBody>
                  <a:tcPr anchor="ctr" marL="54864" marR="54864" marT="18288" marB="18288">
                    <a:solidFill>
                      <a:srgbClr val="EEF3F9"/>
                    </a:solidFill>
                  </a:tcPr>
                </a:tc>
                <a:tc>
                  <a:txBody>
                    <a:bodyPr/>
                    <a:lstStyle/>
                    <a:p>
                      <a:pPr algn="ctr">
                        <a:lnSpc>
                          <a:spcPct val="92000"/>
                        </a:lnSpc>
                      </a:pPr>
                      <a:r>
                        <a:rPr sz="1100" b="0">
                          <a:solidFill>
                            <a:srgbClr val="1F3B63"/>
                          </a:solidFill>
                        </a:rPr>
                        <a:t>FAILS</a:t>
                      </a:r>
                    </a:p>
                  </a:txBody>
                  <a:tcPr anchor="ctr" marL="54864" marR="54864" marT="18288" marB="18288">
                    <a:solidFill>
                      <a:srgbClr val="FDD8D8"/>
                    </a:solidFill>
                  </a:tcPr>
                </a:tc>
              </a:tr>
              <a:tr h="301752">
                <a:tc>
                  <a:txBody>
                    <a:bodyPr/>
                    <a:lstStyle/>
                    <a:p>
                      <a:pPr algn="l">
                        <a:lnSpc>
                          <a:spcPct val="92000"/>
                        </a:lnSpc>
                      </a:pPr>
                      <a:r>
                        <a:rPr sz="1100" b="0">
                          <a:solidFill>
                            <a:srgbClr val="1F3B63"/>
                          </a:solidFill>
                        </a:rPr>
                        <a:t>Post phase long enough to test inside it</a:t>
                      </a:r>
                    </a:p>
                  </a:txBody>
                  <a:tcPr anchor="ctr" marL="54864" marR="54864" marT="18288" marB="18288">
                    <a:solidFill>
                      <a:srgbClr val="FFFFFF"/>
                    </a:solidFill>
                  </a:tcPr>
                </a:tc>
                <a:tc>
                  <a:txBody>
                    <a:bodyPr/>
                    <a:lstStyle/>
                    <a:p>
                      <a:pPr algn="ctr">
                        <a:lnSpc>
                          <a:spcPct val="92000"/>
                        </a:lnSpc>
                      </a:pPr>
                      <a:r>
                        <a:rPr sz="1100" b="0">
                          <a:solidFill>
                            <a:srgbClr val="1F3B63"/>
                          </a:solidFill>
                        </a:rPr>
                        <a:t>~17 days</a:t>
                      </a:r>
                    </a:p>
                  </a:txBody>
                  <a:tcPr anchor="ctr" marL="54864" marR="54864" marT="18288" marB="18288">
                    <a:solidFill>
                      <a:srgbClr val="FFFFFF"/>
                    </a:solidFill>
                  </a:tcPr>
                </a:tc>
                <a:tc>
                  <a:txBody>
                    <a:bodyPr/>
                    <a:lstStyle/>
                    <a:p>
                      <a:pPr algn="ctr">
                        <a:lnSpc>
                          <a:spcPct val="92000"/>
                        </a:lnSpc>
                      </a:pPr>
                      <a:r>
                        <a:rPr sz="1100" b="0">
                          <a:solidFill>
                            <a:srgbClr val="1F3B63"/>
                          </a:solidFill>
                        </a:rPr>
                        <a:t>3 days (day 11-13)</a:t>
                      </a:r>
                    </a:p>
                  </a:txBody>
                  <a:tcPr anchor="ctr" marL="54864" marR="54864" marT="18288" marB="18288">
                    <a:solidFill>
                      <a:srgbClr val="FFFFFF"/>
                    </a:solidFill>
                  </a:tcPr>
                </a:tc>
                <a:tc>
                  <a:txBody>
                    <a:bodyPr/>
                    <a:lstStyle/>
                    <a:p>
                      <a:pPr algn="ctr">
                        <a:lnSpc>
                          <a:spcPct val="92000"/>
                        </a:lnSpc>
                      </a:pPr>
                      <a:r>
                        <a:rPr sz="1100" b="0">
                          <a:solidFill>
                            <a:srgbClr val="1F3B63"/>
                          </a:solidFill>
                        </a:rPr>
                        <a:t>FAILS</a:t>
                      </a:r>
                    </a:p>
                  </a:txBody>
                  <a:tcPr anchor="ctr" marL="54864" marR="54864" marT="18288" marB="18288">
                    <a:solidFill>
                      <a:srgbClr val="FDD8D8"/>
                    </a:solidFill>
                  </a:tcPr>
                </a:tc>
              </a:tr>
            </a:tbl>
          </a:graphicData>
        </a:graphic>
      </p:graphicFrame>
      <p:sp>
        <p:nvSpPr>
          <p:cNvPr id="11" name="Rectangle 10"/>
          <p:cNvSpPr/>
          <p:nvPr/>
        </p:nvSpPr>
        <p:spPr>
          <a:xfrm>
            <a:off x="8458200" y="3227832"/>
            <a:ext cx="3227832" cy="1508760"/>
          </a:xfrm>
          <a:prstGeom prst="rect">
            <a:avLst/>
          </a:prstGeom>
          <a:solidFill>
            <a:srgbClr val="FDE9E9"/>
          </a:solidFill>
          <a:ln w="15875">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l">
              <a:lnSpc>
                <a:spcPct val="100000"/>
              </a:lnSpc>
              <a:spcAft>
                <a:spcPts val="400"/>
              </a:spcAft>
            </a:pPr>
            <a:r>
              <a:rPr sz="1200" b="1">
                <a:solidFill>
                  <a:srgbClr val="1F3B63"/>
                </a:solidFill>
              </a:rPr>
              <a:t>A null result from an underpowered, under-expressed experiment is the worst outcome available to us: it costs a full cohort and answers nothing. The next slide is the fix.</a:t>
            </a:r>
          </a:p>
        </p:txBody>
      </p:sp>
      <p:sp>
        <p:nvSpPr>
          <p:cNvPr id="12" name="TextBox 11"/>
          <p:cNvSpPr txBox="1"/>
          <p:nvPr/>
        </p:nvSpPr>
        <p:spPr>
          <a:xfrm>
            <a:off x="502920" y="6473952"/>
            <a:ext cx="11185855" cy="256032"/>
          </a:xfrm>
          <a:prstGeom prst="rect">
            <a:avLst/>
          </a:prstGeom>
          <a:noFill/>
        </p:spPr>
        <p:txBody>
          <a:bodyPr wrap="square">
            <a:spAutoFit/>
          </a:bodyPr>
          <a:lstStyle/>
          <a:p>
            <a:pPr algn="l">
              <a:lnSpc>
                <a:spcPct val="95000"/>
              </a:lnSpc>
              <a:spcAft>
                <a:spcPts val="400"/>
              </a:spcAft>
            </a:pPr>
            <a:r>
              <a:rPr sz="950" b="0">
                <a:solidFill>
                  <a:srgbClr val="595959"/>
                </a:solidFill>
              </a:rPr>
              <a:t>14-day post-4-OHT window for AAV-delivered DREADDs: TRAP2 ghrelin study, Int J Mol Sci 2022. 3-4 weeks for Cre-dependent AAV expression is standard.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EXPERIMENT 2  ·  THE FIX</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Experiment 2 — the constraint points at the right experiment</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Three independent timescales all land on the same window, about two weeks after the last morphine</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98448"/>
          <a:ext cx="6766558" cy="1426464"/>
        </p:xfrm>
        <a:graphic>
          <a:graphicData uri="http://schemas.openxmlformats.org/drawingml/2006/table">
            <a:tbl>
              <a:tblPr firstRow="1" bandRow="1">
                <a:tableStyleId>{5C22544A-7EE6-4342-B048-85BDC9FD1C3A}</a:tableStyleId>
              </a:tblPr>
              <a:tblGrid>
                <a:gridCol w="2756746"/>
                <a:gridCol w="1587217"/>
                <a:gridCol w="2422595"/>
              </a:tblGrid>
              <a:tr h="274320">
                <a:tc>
                  <a:txBody>
                    <a:bodyPr/>
                    <a:lstStyle/>
                    <a:p>
                      <a:pPr algn="l">
                        <a:lnSpc>
                          <a:spcPct val="92000"/>
                        </a:lnSpc>
                      </a:pPr>
                      <a:r>
                        <a:rPr sz="1100" b="1">
                          <a:solidFill>
                            <a:srgbClr val="FFFFFF"/>
                          </a:solidFill>
                        </a:rPr>
                        <a:t>Timescale</a:t>
                      </a:r>
                    </a:p>
                  </a:txBody>
                  <a:tcPr anchor="ctr" marL="54864" marR="54864" marT="18288" marB="18288">
                    <a:solidFill>
                      <a:srgbClr val="1F3B63"/>
                    </a:solidFill>
                  </a:tcPr>
                </a:tc>
                <a:tc>
                  <a:txBody>
                    <a:bodyPr/>
                    <a:lstStyle/>
                    <a:p>
                      <a:pPr algn="ctr">
                        <a:lnSpc>
                          <a:spcPct val="92000"/>
                        </a:lnSpc>
                      </a:pPr>
                      <a:r>
                        <a:rPr sz="1100" b="1">
                          <a:solidFill>
                            <a:srgbClr val="FFFFFF"/>
                          </a:solidFill>
                        </a:rPr>
                        <a:t>Value</a:t>
                      </a:r>
                    </a:p>
                  </a:txBody>
                  <a:tcPr anchor="ctr" marL="54864" marR="54864" marT="18288" marB="18288">
                    <a:solidFill>
                      <a:srgbClr val="1F3B63"/>
                    </a:solidFill>
                  </a:tcPr>
                </a:tc>
                <a:tc>
                  <a:txBody>
                    <a:bodyPr/>
                    <a:lstStyle/>
                    <a:p>
                      <a:pPr algn="l">
                        <a:lnSpc>
                          <a:spcPct val="92000"/>
                        </a:lnSpc>
                      </a:pPr>
                      <a:r>
                        <a:rPr sz="1100" b="1">
                          <a:solidFill>
                            <a:srgbClr val="FFFFFF"/>
                          </a:solidFill>
                        </a:rPr>
                        <a:t>Source</a:t>
                      </a:r>
                    </a:p>
                  </a:txBody>
                  <a:tcPr anchor="ctr" marL="54864" marR="54864" marT="18288" marB="18288">
                    <a:solidFill>
                      <a:srgbClr val="1F3B63"/>
                    </a:solidFill>
                  </a:tcPr>
                </a:tc>
              </a:tr>
              <a:tr h="384048">
                <a:tc>
                  <a:txBody>
                    <a:bodyPr/>
                    <a:lstStyle/>
                    <a:p>
                      <a:pPr algn="l">
                        <a:lnSpc>
                          <a:spcPct val="92000"/>
                        </a:lnSpc>
                      </a:pPr>
                      <a:r>
                        <a:rPr sz="1100" b="0">
                          <a:solidFill>
                            <a:srgbClr val="1F3B63"/>
                          </a:solidFill>
                        </a:rPr>
                        <a:t>hM4Di becomes functional after 4-OHT</a:t>
                      </a:r>
                    </a:p>
                  </a:txBody>
                  <a:tcPr anchor="ctr" marL="54864" marR="54864" marT="18288" marB="18288">
                    <a:solidFill>
                      <a:srgbClr val="FFFFFF"/>
                    </a:solidFill>
                  </a:tcPr>
                </a:tc>
                <a:tc>
                  <a:txBody>
                    <a:bodyPr/>
                    <a:lstStyle/>
                    <a:p>
                      <a:pPr algn="ctr">
                        <a:lnSpc>
                          <a:spcPct val="92000"/>
                        </a:lnSpc>
                      </a:pPr>
                      <a:r>
                        <a:rPr sz="1100" b="0">
                          <a:solidFill>
                            <a:srgbClr val="1F3B63"/>
                          </a:solidFill>
                        </a:rPr>
                        <a:t>~14 days</a:t>
                      </a:r>
                    </a:p>
                  </a:txBody>
                  <a:tcPr anchor="ctr" marL="54864" marR="54864" marT="18288" marB="18288">
                    <a:solidFill>
                      <a:srgbClr val="FFFFFF"/>
                    </a:solidFill>
                  </a:tcPr>
                </a:tc>
                <a:tc>
                  <a:txBody>
                    <a:bodyPr/>
                    <a:lstStyle/>
                    <a:p>
                      <a:pPr algn="l">
                        <a:lnSpc>
                          <a:spcPct val="92000"/>
                        </a:lnSpc>
                      </a:pPr>
                      <a:r>
                        <a:rPr sz="1100" b="0">
                          <a:solidFill>
                            <a:srgbClr val="1F3B63"/>
                          </a:solidFill>
                        </a:rPr>
                        <a:t>TRAP2 + AAV-DIO-DREADD studies</a:t>
                      </a:r>
                    </a:p>
                  </a:txBody>
                  <a:tcPr anchor="ctr" marL="54864" marR="54864" marT="18288" marB="18288">
                    <a:solidFill>
                      <a:srgbClr val="FFFFFF"/>
                    </a:solidFill>
                  </a:tcPr>
                </a:tc>
              </a:tr>
              <a:tr h="384048">
                <a:tc>
                  <a:txBody>
                    <a:bodyPr/>
                    <a:lstStyle/>
                    <a:p>
                      <a:pPr algn="l">
                        <a:lnSpc>
                          <a:spcPct val="92000"/>
                        </a:lnSpc>
                      </a:pPr>
                      <a:r>
                        <a:rPr sz="1100" b="0">
                          <a:solidFill>
                            <a:srgbClr val="1F3B63"/>
                          </a:solidFill>
                        </a:rPr>
                        <a:t>Incubation of craving peaks</a:t>
                      </a:r>
                    </a:p>
                  </a:txBody>
                  <a:tcPr anchor="ctr" marL="54864" marR="54864" marT="18288" marB="18288">
                    <a:solidFill>
                      <a:srgbClr val="EEF3F9"/>
                    </a:solidFill>
                  </a:tcPr>
                </a:tc>
                <a:tc>
                  <a:txBody>
                    <a:bodyPr/>
                    <a:lstStyle/>
                    <a:p>
                      <a:pPr algn="ctr">
                        <a:lnSpc>
                          <a:spcPct val="92000"/>
                        </a:lnSpc>
                      </a:pPr>
                      <a:r>
                        <a:rPr sz="1100" b="0">
                          <a:solidFill>
                            <a:srgbClr val="1F3B63"/>
                          </a:solidFill>
                        </a:rPr>
                        <a:t>~withdrawal day 14</a:t>
                      </a:r>
                    </a:p>
                  </a:txBody>
                  <a:tcPr anchor="ctr" marL="54864" marR="54864" marT="18288" marB="18288">
                    <a:solidFill>
                      <a:srgbClr val="EEF3F9"/>
                    </a:solidFill>
                  </a:tcPr>
                </a:tc>
                <a:tc>
                  <a:txBody>
                    <a:bodyPr/>
                    <a:lstStyle/>
                    <a:p>
                      <a:pPr algn="l">
                        <a:lnSpc>
                          <a:spcPct val="92000"/>
                        </a:lnSpc>
                      </a:pPr>
                      <a:r>
                        <a:rPr sz="1100" b="0">
                          <a:solidFill>
                            <a:srgbClr val="1F3B63"/>
                          </a:solidFill>
                        </a:rPr>
                        <a:t>Fos ensemble studies, inverted-U across drugs</a:t>
                      </a:r>
                    </a:p>
                  </a:txBody>
                  <a:tcPr anchor="ctr" marL="54864" marR="54864" marT="18288" marB="18288">
                    <a:solidFill>
                      <a:srgbClr val="EEF3F9"/>
                    </a:solidFill>
                  </a:tcPr>
                </a:tc>
              </a:tr>
              <a:tr h="384048">
                <a:tc>
                  <a:txBody>
                    <a:bodyPr/>
                    <a:lstStyle/>
                    <a:p>
                      <a:pPr algn="l">
                        <a:lnSpc>
                          <a:spcPct val="92000"/>
                        </a:lnSpc>
                      </a:pPr>
                      <a:r>
                        <a:rPr sz="1100" b="0">
                          <a:solidFill>
                            <a:srgbClr val="1F3B63"/>
                          </a:solidFill>
                        </a:rPr>
                        <a:t>OFC inactivation reduces opioid seeking</a:t>
                      </a:r>
                    </a:p>
                  </a:txBody>
                  <a:tcPr anchor="ctr" marL="54864" marR="54864" marT="18288" marB="18288">
                    <a:solidFill>
                      <a:srgbClr val="FFFFFF"/>
                    </a:solidFill>
                  </a:tcPr>
                </a:tc>
                <a:tc>
                  <a:txBody>
                    <a:bodyPr/>
                    <a:lstStyle/>
                    <a:p>
                      <a:pPr algn="ctr">
                        <a:lnSpc>
                          <a:spcPct val="92000"/>
                        </a:lnSpc>
                      </a:pPr>
                      <a:r>
                        <a:rPr sz="1100" b="0">
                          <a:solidFill>
                            <a:srgbClr val="1F3B63"/>
                          </a:solidFill>
                        </a:rPr>
                        <a:t>at day 15, NOT at day 1</a:t>
                      </a:r>
                    </a:p>
                  </a:txBody>
                  <a:tcPr anchor="ctr" marL="54864" marR="54864" marT="18288" marB="18288">
                    <a:solidFill>
                      <a:srgbClr val="FFFFFF"/>
                    </a:solidFill>
                  </a:tcPr>
                </a:tc>
                <a:tc>
                  <a:txBody>
                    <a:bodyPr/>
                    <a:lstStyle/>
                    <a:p>
                      <a:pPr algn="l">
                        <a:lnSpc>
                          <a:spcPct val="92000"/>
                        </a:lnSpc>
                      </a:pPr>
                      <a:r>
                        <a:rPr sz="1100" b="0">
                          <a:solidFill>
                            <a:srgbClr val="1F3B63"/>
                          </a:solidFill>
                        </a:rPr>
                        <a:t>Oxycodone incubation, OFC inactivation</a:t>
                      </a:r>
                    </a:p>
                  </a:txBody>
                  <a:tcPr anchor="ctr" marL="54864" marR="54864" marT="18288" marB="18288">
                    <a:solidFill>
                      <a:srgbClr val="FFFFFF"/>
                    </a:solidFill>
                  </a:tcPr>
                </a:tc>
              </a:tr>
            </a:tbl>
          </a:graphicData>
        </a:graphic>
      </p:graphicFrame>
      <p:sp>
        <p:nvSpPr>
          <p:cNvPr id="7" name="Rectangle 6"/>
          <p:cNvSpPr/>
          <p:nvPr/>
        </p:nvSpPr>
        <p:spPr>
          <a:xfrm>
            <a:off x="502920" y="2788920"/>
            <a:ext cx="6766560" cy="1051560"/>
          </a:xfrm>
          <a:prstGeom prst="rect">
            <a:avLst/>
          </a:prstGeom>
          <a:solidFill>
            <a:srgbClr val="D8ECD8"/>
          </a:solidFill>
          <a:ln w="15875">
            <a:solidFill>
              <a:srgbClr val="1E6F3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l">
              <a:lnSpc>
                <a:spcPct val="100000"/>
              </a:lnSpc>
              <a:spcAft>
                <a:spcPts val="400"/>
              </a:spcAft>
            </a:pPr>
            <a:r>
              <a:rPr sz="1300" b="1">
                <a:solidFill>
                  <a:srgbClr val="1F3B63"/>
                </a:solidFill>
              </a:rPr>
              <a:t>The technique is ready exactly when the behaviour is maximal, and exactly when the region is known to matter. The delay we were fighting is the delay we want.</a:t>
            </a:r>
          </a:p>
        </p:txBody>
      </p:sp>
      <p:sp>
        <p:nvSpPr>
          <p:cNvPr id="8" name="Rectangle 7"/>
          <p:cNvSpPr/>
          <p:nvPr/>
        </p:nvSpPr>
        <p:spPr>
          <a:xfrm>
            <a:off x="502920" y="4041648"/>
            <a:ext cx="6766560" cy="292608"/>
          </a:xfrm>
          <a:prstGeom prst="rect">
            <a:avLst/>
          </a:prstGeom>
          <a:solidFill>
            <a:srgbClr val="1E6F3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WHAT CHANGES, AND WHAT DOES NOT</a:t>
            </a:r>
          </a:p>
        </p:txBody>
      </p:sp>
      <p:sp>
        <p:nvSpPr>
          <p:cNvPr id="9" name="Rectangle 8"/>
          <p:cNvSpPr/>
          <p:nvPr/>
        </p:nvSpPr>
        <p:spPr>
          <a:xfrm>
            <a:off x="502920" y="4334256"/>
            <a:ext cx="6766560" cy="130759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200" b="1">
                <a:solidFill>
                  <a:srgbClr val="1F3B63"/>
                </a:solidFill>
              </a:rPr>
              <a:t>Does NOT change: behaviour days 1-18 stay exactly as run. Same FR, Pre, During, Post, Withdrawal, Re-exposure. The whole-brain TRAP and Xenium data still map on.</a:t>
            </a:r>
          </a:p>
          <a:p>
            <a:pPr algn="l">
              <a:lnSpc>
                <a:spcPct val="97000"/>
              </a:lnSpc>
              <a:spcAft>
                <a:spcPts val="500"/>
              </a:spcAft>
            </a:pPr>
            <a:r>
              <a:rPr sz="1200" b="1">
                <a:solidFill>
                  <a:srgbClr val="1F3B63"/>
                </a:solidFill>
              </a:rPr>
              <a:t>Changes: we add a home-cage abstinence period and a drug test at the end. We add days after day 18; we do not alter days 1-18.</a:t>
            </a:r>
          </a:p>
          <a:p>
            <a:pPr algn="l">
              <a:lnSpc>
                <a:spcPct val="97000"/>
              </a:lnSpc>
              <a:spcAft>
                <a:spcPts val="500"/>
              </a:spcAft>
            </a:pPr>
            <a:r>
              <a:rPr sz="1200" b="0">
                <a:solidFill>
                  <a:srgbClr val="595959"/>
                </a:solidFill>
              </a:rPr>
              <a:t>That is the whole argument for this redesign — it is additive, not a new paradigm.</a:t>
            </a:r>
          </a:p>
        </p:txBody>
      </p:sp>
      <p:sp>
        <p:nvSpPr>
          <p:cNvPr id="10" name="Rectangle 9"/>
          <p:cNvSpPr/>
          <p:nvPr/>
        </p:nvSpPr>
        <p:spPr>
          <a:xfrm>
            <a:off x="7543800" y="1298448"/>
            <a:ext cx="4142232" cy="292608"/>
          </a:xfrm>
          <a:prstGeom prst="rect">
            <a:avLst/>
          </a:prstGeom>
          <a:solidFill>
            <a:srgbClr val="1E6F3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THE QUESTION, RESTATED HONESTLY</a:t>
            </a:r>
          </a:p>
        </p:txBody>
      </p:sp>
      <p:sp>
        <p:nvSpPr>
          <p:cNvPr id="11" name="Rectangle 10"/>
          <p:cNvSpPr/>
          <p:nvPr/>
        </p:nvSpPr>
        <p:spPr>
          <a:xfrm>
            <a:off x="7543800" y="1591056"/>
            <a:ext cx="4142232" cy="322783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250" b="1">
                <a:solidFill>
                  <a:srgbClr val="1F3B63"/>
                </a:solidFill>
              </a:rPr>
              <a:t>Cannot test: does Post activity cause Post seeking?</a:t>
            </a:r>
          </a:p>
          <a:p>
            <a:pPr algn="l">
              <a:lnSpc>
                <a:spcPct val="97000"/>
              </a:lnSpc>
              <a:spcAft>
                <a:spcPts val="500"/>
              </a:spcAft>
            </a:pPr>
            <a:r>
              <a:rPr sz="1250" b="0">
                <a:solidFill>
                  <a:srgbClr val="595959"/>
                </a:solidFill>
              </a:rPr>
              <a:t>Can test, and this was the second half of my own hypothesis:</a:t>
            </a:r>
          </a:p>
          <a:p>
            <a:pPr algn="l">
              <a:lnSpc>
                <a:spcPct val="97000"/>
              </a:lnSpc>
              <a:spcAft>
                <a:spcPts val="500"/>
              </a:spcAft>
            </a:pPr>
            <a:r>
              <a:rPr sz="1250" b="1">
                <a:solidFill>
                  <a:srgbClr val="1F3B63"/>
                </a:solidFill>
              </a:rPr>
              <a:t>Are ORBm / BMAp neurons that were active during Post necessary for morphine seeking after protracted abstinence, and is that requirement specific to mice that earned the drug?</a:t>
            </a:r>
          </a:p>
          <a:p>
            <a:pPr algn="l">
              <a:lnSpc>
                <a:spcPct val="97000"/>
              </a:lnSpc>
              <a:spcAft>
                <a:spcPts val="500"/>
              </a:spcAft>
            </a:pPr>
            <a:r>
              <a:rPr sz="1250" b="0">
                <a:solidFill>
                  <a:srgbClr val="595959"/>
                </a:solidFill>
              </a:rPr>
              <a:t>This is also the more clinically relevant question. Patients do not relapse during use; they relapse after abstinence.</a:t>
            </a:r>
          </a:p>
        </p:txBody>
      </p:sp>
      <p:sp>
        <p:nvSpPr>
          <p:cNvPr id="12" name="Rectangle 11"/>
          <p:cNvSpPr/>
          <p:nvPr/>
        </p:nvSpPr>
        <p:spPr>
          <a:xfrm>
            <a:off x="7543800" y="4370832"/>
            <a:ext cx="4142232" cy="292608"/>
          </a:xfrm>
          <a:prstGeom prst="rect">
            <a:avLst/>
          </a:prstGeom>
          <a:solidFill>
            <a:srgbClr val="9C6300"/>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IF YOU WANT THE WITHIN-POST TEST ANYWAY</a:t>
            </a:r>
          </a:p>
        </p:txBody>
      </p:sp>
      <p:sp>
        <p:nvSpPr>
          <p:cNvPr id="13" name="Rectangle 12"/>
          <p:cNvSpPr/>
          <p:nvPr/>
        </p:nvSpPr>
        <p:spPr>
          <a:xfrm>
            <a:off x="7543800" y="4663440"/>
            <a:ext cx="4142232" cy="457200"/>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200" b="0">
                <a:solidFill>
                  <a:srgbClr val="595959"/>
                </a:solidFill>
              </a:rPr>
              <a:t>There is a way to do it at 48 h instead of 14 days. Slide 13.</a:t>
            </a:r>
          </a:p>
        </p:txBody>
      </p:sp>
      <p:sp>
        <p:nvSpPr>
          <p:cNvPr id="14" name="TextBox 13"/>
          <p:cNvSpPr txBox="1"/>
          <p:nvPr/>
        </p:nvSpPr>
        <p:spPr>
          <a:xfrm>
            <a:off x="502920" y="6473952"/>
            <a:ext cx="11185855" cy="256032"/>
          </a:xfrm>
          <a:prstGeom prst="rect">
            <a:avLst/>
          </a:prstGeom>
          <a:noFill/>
        </p:spPr>
        <p:txBody>
          <a:bodyPr wrap="square">
            <a:spAutoFit/>
          </a:bodyPr>
          <a:lstStyle/>
          <a:p>
            <a:pPr algn="l">
              <a:lnSpc>
                <a:spcPct val="95000"/>
              </a:lnSpc>
              <a:spcAft>
                <a:spcPts val="400"/>
              </a:spcAft>
            </a:pPr>
            <a:r>
              <a:rPr sz="950" b="0">
                <a:solidFill>
                  <a:srgbClr val="595959"/>
                </a:solidFill>
              </a:rPr>
              <a:t>Full citations on the final slide.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EXPERIMENT 2</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Experiment 2 — design</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2 × 2 between subjects, drug crossed within subject; one region at a time</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98448"/>
          <a:ext cx="6857999" cy="2523744"/>
        </p:xfrm>
        <a:graphic>
          <a:graphicData uri="http://schemas.openxmlformats.org/drawingml/2006/table">
            <a:tbl>
              <a:tblPr firstRow="1" bandRow="1">
                <a:tableStyleId>{5C22544A-7EE6-4342-B048-85BDC9FD1C3A}</a:tableStyleId>
              </a:tblPr>
              <a:tblGrid>
                <a:gridCol w="1354666"/>
                <a:gridCol w="2032000"/>
                <a:gridCol w="3471333"/>
              </a:tblGrid>
              <a:tr h="256032">
                <a:tc>
                  <a:txBody>
                    <a:bodyPr/>
                    <a:lstStyle/>
                    <a:p>
                      <a:pPr algn="l">
                        <a:lnSpc>
                          <a:spcPct val="92000"/>
                        </a:lnSpc>
                      </a:pPr>
                    </a:p>
                  </a:txBody>
                  <a:tcPr anchor="ctr" marL="54864" marR="54864" marT="18288" marB="18288">
                    <a:solidFill>
                      <a:srgbClr val="1F3B63"/>
                    </a:solidFill>
                  </a:tcPr>
                </a:tc>
                <a:tc>
                  <a:txBody>
                    <a:bodyPr/>
                    <a:lstStyle/>
                    <a:p>
                      <a:pPr algn="l">
                        <a:lnSpc>
                          <a:spcPct val="92000"/>
                        </a:lnSpc>
                      </a:pPr>
                      <a:r>
                        <a:rPr sz="1100" b="1">
                          <a:solidFill>
                            <a:srgbClr val="FFFFFF"/>
                          </a:solidFill>
                        </a:rPr>
                        <a:t>Levels</a:t>
                      </a:r>
                    </a:p>
                  </a:txBody>
                  <a:tcPr anchor="ctr" marL="54864" marR="54864" marT="18288" marB="18288">
                    <a:solidFill>
                      <a:srgbClr val="1F3B63"/>
                    </a:solidFill>
                  </a:tcPr>
                </a:tc>
                <a:tc>
                  <a:txBody>
                    <a:bodyPr/>
                    <a:lstStyle/>
                    <a:p>
                      <a:pPr algn="l">
                        <a:lnSpc>
                          <a:spcPct val="92000"/>
                        </a:lnSpc>
                      </a:pPr>
                      <a:r>
                        <a:rPr sz="1100" b="1">
                          <a:solidFill>
                            <a:srgbClr val="FFFFFF"/>
                          </a:solidFill>
                        </a:rPr>
                        <a:t>Purpose</a:t>
                      </a:r>
                    </a:p>
                  </a:txBody>
                  <a:tcPr anchor="ctr" marL="54864" marR="54864" marT="18288" marB="18288">
                    <a:solidFill>
                      <a:srgbClr val="1F3B63"/>
                    </a:solidFill>
                  </a:tcPr>
                </a:tc>
              </a:tr>
              <a:tr h="566928">
                <a:tc>
                  <a:txBody>
                    <a:bodyPr/>
                    <a:lstStyle/>
                    <a:p>
                      <a:pPr algn="l">
                        <a:lnSpc>
                          <a:spcPct val="92000"/>
                        </a:lnSpc>
                      </a:pPr>
                      <a:r>
                        <a:rPr sz="1050" b="0">
                          <a:solidFill>
                            <a:srgbClr val="1F3B63"/>
                          </a:solidFill>
                        </a:rPr>
                        <a:t>Group (between)</a:t>
                      </a:r>
                    </a:p>
                  </a:txBody>
                  <a:tcPr anchor="ctr" marL="54864" marR="54864" marT="18288" marB="18288">
                    <a:solidFill>
                      <a:srgbClr val="FFFFFF"/>
                    </a:solidFill>
                  </a:tcPr>
                </a:tc>
                <a:tc>
                  <a:txBody>
                    <a:bodyPr/>
                    <a:lstStyle/>
                    <a:p>
                      <a:pPr algn="l">
                        <a:lnSpc>
                          <a:spcPct val="92000"/>
                        </a:lnSpc>
                      </a:pPr>
                      <a:r>
                        <a:rPr sz="1050" b="0">
                          <a:solidFill>
                            <a:srgbClr val="1F3B63"/>
                          </a:solidFill>
                        </a:rPr>
                        <a:t>Active  /  yoked Passive</a:t>
                      </a:r>
                    </a:p>
                  </a:txBody>
                  <a:tcPr anchor="ctr" marL="54864" marR="54864" marT="18288" marB="18288">
                    <a:solidFill>
                      <a:srgbClr val="FFFFFF"/>
                    </a:solidFill>
                  </a:tcPr>
                </a:tc>
                <a:tc>
                  <a:txBody>
                    <a:bodyPr/>
                    <a:lstStyle/>
                    <a:p>
                      <a:pPr algn="l">
                        <a:lnSpc>
                          <a:spcPct val="92000"/>
                        </a:lnSpc>
                      </a:pPr>
                      <a:r>
                        <a:rPr sz="1050" b="0">
                          <a:solidFill>
                            <a:srgbClr val="1F3B63"/>
                          </a:solidFill>
                        </a:rPr>
                        <a:t>The Active-only prediction. Passive is the specificity control.</a:t>
                      </a:r>
                    </a:p>
                  </a:txBody>
                  <a:tcPr anchor="ctr" marL="54864" marR="54864" marT="18288" marB="18288">
                    <a:solidFill>
                      <a:srgbClr val="FFFFFF"/>
                    </a:solidFill>
                  </a:tcPr>
                </a:tc>
              </a:tr>
              <a:tr h="566928">
                <a:tc>
                  <a:txBody>
                    <a:bodyPr/>
                    <a:lstStyle/>
                    <a:p>
                      <a:pPr algn="l">
                        <a:lnSpc>
                          <a:spcPct val="92000"/>
                        </a:lnSpc>
                      </a:pPr>
                      <a:r>
                        <a:rPr sz="1050" b="0">
                          <a:solidFill>
                            <a:srgbClr val="1F3B63"/>
                          </a:solidFill>
                        </a:rPr>
                        <a:t>Virus (between)</a:t>
                      </a:r>
                    </a:p>
                  </a:txBody>
                  <a:tcPr anchor="ctr" marL="54864" marR="54864" marT="18288" marB="18288">
                    <a:solidFill>
                      <a:srgbClr val="EEF3F9"/>
                    </a:solidFill>
                  </a:tcPr>
                </a:tc>
                <a:tc>
                  <a:txBody>
                    <a:bodyPr/>
                    <a:lstStyle/>
                    <a:p>
                      <a:pPr algn="l">
                        <a:lnSpc>
                          <a:spcPct val="92000"/>
                        </a:lnSpc>
                      </a:pPr>
                      <a:r>
                        <a:rPr sz="1050" b="0">
                          <a:solidFill>
                            <a:srgbClr val="1F3B63"/>
                          </a:solidFill>
                        </a:rPr>
                        <a:t>AAV-DIO-hM4Di-mCherry  /  AAV-DIO-mCherry</a:t>
                      </a:r>
                    </a:p>
                  </a:txBody>
                  <a:tcPr anchor="ctr" marL="54864" marR="54864" marT="18288" marB="18288">
                    <a:solidFill>
                      <a:srgbClr val="EEF3F9"/>
                    </a:solidFill>
                  </a:tcPr>
                </a:tc>
                <a:tc>
                  <a:txBody>
                    <a:bodyPr/>
                    <a:lstStyle/>
                    <a:p>
                      <a:pPr algn="l">
                        <a:lnSpc>
                          <a:spcPct val="92000"/>
                        </a:lnSpc>
                      </a:pPr>
                      <a:r>
                        <a:rPr sz="1050" b="0">
                          <a:solidFill>
                            <a:srgbClr val="1F3B63"/>
                          </a:solidFill>
                        </a:rPr>
                        <a:t>The mCherry + drug arm is the essential control: it removes any effect of the ligand itself. More important than a saline arm.</a:t>
                      </a:r>
                    </a:p>
                  </a:txBody>
                  <a:tcPr anchor="ctr" marL="54864" marR="54864" marT="18288" marB="18288">
                    <a:solidFill>
                      <a:srgbClr val="EEF3F9"/>
                    </a:solidFill>
                  </a:tcPr>
                </a:tc>
              </a:tr>
              <a:tr h="566928">
                <a:tc>
                  <a:txBody>
                    <a:bodyPr/>
                    <a:lstStyle/>
                    <a:p>
                      <a:pPr algn="l">
                        <a:lnSpc>
                          <a:spcPct val="92000"/>
                        </a:lnSpc>
                      </a:pPr>
                      <a:r>
                        <a:rPr sz="1050" b="0">
                          <a:solidFill>
                            <a:srgbClr val="1F3B63"/>
                          </a:solidFill>
                        </a:rPr>
                        <a:t>Drug (WITHIN subject)</a:t>
                      </a:r>
                    </a:p>
                  </a:txBody>
                  <a:tcPr anchor="ctr" marL="54864" marR="54864" marT="18288" marB="18288">
                    <a:solidFill>
                      <a:srgbClr val="FFFFFF"/>
                    </a:solidFill>
                  </a:tcPr>
                </a:tc>
                <a:tc>
                  <a:txBody>
                    <a:bodyPr/>
                    <a:lstStyle/>
                    <a:p>
                      <a:pPr algn="l">
                        <a:lnSpc>
                          <a:spcPct val="92000"/>
                        </a:lnSpc>
                      </a:pPr>
                      <a:r>
                        <a:rPr sz="1050" b="0">
                          <a:solidFill>
                            <a:srgbClr val="1F3B63"/>
                          </a:solidFill>
                        </a:rPr>
                        <a:t>DCZ 0.1 mg/kg  /  vehicle, crossover</a:t>
                      </a:r>
                    </a:p>
                  </a:txBody>
                  <a:tcPr anchor="ctr" marL="54864" marR="54864" marT="18288" marB="18288">
                    <a:solidFill>
                      <a:srgbClr val="FFFFFF"/>
                    </a:solidFill>
                  </a:tcPr>
                </a:tc>
                <a:tc>
                  <a:txBody>
                    <a:bodyPr/>
                    <a:lstStyle/>
                    <a:p>
                      <a:pPr algn="l">
                        <a:lnSpc>
                          <a:spcPct val="92000"/>
                        </a:lnSpc>
                      </a:pPr>
                      <a:r>
                        <a:rPr sz="1050" b="0">
                          <a:solidFill>
                            <a:srgbClr val="1F3B63"/>
                          </a:solidFill>
                        </a:rPr>
                        <a:t>Each mouse is its own control, which roughly halves the mice needed.</a:t>
                      </a:r>
                    </a:p>
                  </a:txBody>
                  <a:tcPr anchor="ctr" marL="54864" marR="54864" marT="18288" marB="18288">
                    <a:solidFill>
                      <a:srgbClr val="FFFFFF"/>
                    </a:solidFill>
                  </a:tcPr>
                </a:tc>
              </a:tr>
              <a:tr h="566928">
                <a:tc>
                  <a:txBody>
                    <a:bodyPr/>
                    <a:lstStyle/>
                    <a:p>
                      <a:pPr algn="l">
                        <a:lnSpc>
                          <a:spcPct val="92000"/>
                        </a:lnSpc>
                      </a:pPr>
                      <a:r>
                        <a:rPr sz="1050" b="0">
                          <a:solidFill>
                            <a:srgbClr val="1F3B63"/>
                          </a:solidFill>
                        </a:rPr>
                        <a:t>Region</a:t>
                      </a:r>
                    </a:p>
                  </a:txBody>
                  <a:tcPr anchor="ctr" marL="54864" marR="54864" marT="18288" marB="18288">
                    <a:solidFill>
                      <a:srgbClr val="EEF3F9"/>
                    </a:solidFill>
                  </a:tcPr>
                </a:tc>
                <a:tc>
                  <a:txBody>
                    <a:bodyPr/>
                    <a:lstStyle/>
                    <a:p>
                      <a:pPr algn="l">
                        <a:lnSpc>
                          <a:spcPct val="92000"/>
                        </a:lnSpc>
                      </a:pPr>
                      <a:r>
                        <a:rPr sz="1050" b="0">
                          <a:solidFill>
                            <a:srgbClr val="1F3B63"/>
                          </a:solidFill>
                        </a:rPr>
                        <a:t>ORBm first, then BMAp</a:t>
                      </a:r>
                    </a:p>
                  </a:txBody>
                  <a:tcPr anchor="ctr" marL="54864" marR="54864" marT="18288" marB="18288">
                    <a:solidFill>
                      <a:srgbClr val="EEF3F9"/>
                    </a:solidFill>
                  </a:tcPr>
                </a:tc>
                <a:tc>
                  <a:txBody>
                    <a:bodyPr/>
                    <a:lstStyle/>
                    <a:p>
                      <a:pPr algn="l">
                        <a:lnSpc>
                          <a:spcPct val="92000"/>
                        </a:lnSpc>
                      </a:pPr>
                      <a:r>
                        <a:rPr sz="1050" b="0">
                          <a:solidFill>
                            <a:srgbClr val="1F3B63"/>
                          </a:solidFill>
                        </a:rPr>
                        <a:t>ORBm has the larger Active−Passive difference and is the easier bilateral target. BMAp second, informed by the Xenium result.</a:t>
                      </a:r>
                    </a:p>
                  </a:txBody>
                  <a:tcPr anchor="ctr" marL="54864" marR="54864" marT="18288" marB="18288">
                    <a:solidFill>
                      <a:srgbClr val="EEF3F9"/>
                    </a:solidFill>
                  </a:tcPr>
                </a:tc>
              </a:tr>
            </a:tbl>
          </a:graphicData>
        </a:graphic>
      </p:graphicFrame>
      <p:graphicFrame>
        <p:nvGraphicFramePr>
          <p:cNvPr id="7" name="Table 6"/>
          <p:cNvGraphicFramePr>
            <a:graphicFrameLocks noGrp="1"/>
          </p:cNvGraphicFramePr>
          <p:nvPr/>
        </p:nvGraphicFramePr>
        <p:xfrm>
          <a:off x="7635240" y="1298448"/>
          <a:ext cx="4050789" cy="1371600"/>
        </p:xfrm>
        <a:graphic>
          <a:graphicData uri="http://schemas.openxmlformats.org/drawingml/2006/table">
            <a:tbl>
              <a:tblPr firstRow="1" bandRow="1">
                <a:tableStyleId>{5C22544A-7EE6-4342-B048-85BDC9FD1C3A}</a:tableStyleId>
              </a:tblPr>
              <a:tblGrid>
                <a:gridCol w="1191409"/>
                <a:gridCol w="714845"/>
                <a:gridCol w="714845"/>
                <a:gridCol w="714845"/>
                <a:gridCol w="714845"/>
              </a:tblGrid>
              <a:tr h="274320">
                <a:tc>
                  <a:txBody>
                    <a:bodyPr/>
                    <a:lstStyle/>
                    <a:p>
                      <a:pPr algn="l">
                        <a:lnSpc>
                          <a:spcPct val="92000"/>
                        </a:lnSpc>
                      </a:pPr>
                      <a:r>
                        <a:rPr sz="1100" b="1">
                          <a:solidFill>
                            <a:srgbClr val="FFFFFF"/>
                          </a:solidFill>
                        </a:rPr>
                        <a:t>n per cell</a:t>
                      </a:r>
                    </a:p>
                  </a:txBody>
                  <a:tcPr anchor="ctr" marL="54864" marR="54864" marT="18288" marB="18288">
                    <a:solidFill>
                      <a:srgbClr val="1F3B63"/>
                    </a:solidFill>
                  </a:tcPr>
                </a:tc>
                <a:tc>
                  <a:txBody>
                    <a:bodyPr/>
                    <a:lstStyle/>
                    <a:p>
                      <a:pPr algn="ctr">
                        <a:lnSpc>
                          <a:spcPct val="92000"/>
                        </a:lnSpc>
                      </a:pPr>
                      <a:r>
                        <a:rPr sz="1100" b="1">
                          <a:solidFill>
                            <a:srgbClr val="FFFFFF"/>
                          </a:solidFill>
                        </a:rPr>
                        <a:t>dz=0.8</a:t>
                      </a:r>
                    </a:p>
                  </a:txBody>
                  <a:tcPr anchor="ctr" marL="54864" marR="54864" marT="18288" marB="18288">
                    <a:solidFill>
                      <a:srgbClr val="1F3B63"/>
                    </a:solidFill>
                  </a:tcPr>
                </a:tc>
                <a:tc>
                  <a:txBody>
                    <a:bodyPr/>
                    <a:lstStyle/>
                    <a:p>
                      <a:pPr algn="ctr">
                        <a:lnSpc>
                          <a:spcPct val="92000"/>
                        </a:lnSpc>
                      </a:pPr>
                      <a:r>
                        <a:rPr sz="1100" b="1">
                          <a:solidFill>
                            <a:srgbClr val="FFFFFF"/>
                          </a:solidFill>
                        </a:rPr>
                        <a:t>dz=1.0</a:t>
                      </a:r>
                    </a:p>
                  </a:txBody>
                  <a:tcPr anchor="ctr" marL="54864" marR="54864" marT="18288" marB="18288">
                    <a:solidFill>
                      <a:srgbClr val="1F3B63"/>
                    </a:solidFill>
                  </a:tcPr>
                </a:tc>
                <a:tc>
                  <a:txBody>
                    <a:bodyPr/>
                    <a:lstStyle/>
                    <a:p>
                      <a:pPr algn="ctr">
                        <a:lnSpc>
                          <a:spcPct val="92000"/>
                        </a:lnSpc>
                      </a:pPr>
                      <a:r>
                        <a:rPr sz="1100" b="1">
                          <a:solidFill>
                            <a:srgbClr val="FFFFFF"/>
                          </a:solidFill>
                        </a:rPr>
                        <a:t>dz=1.2</a:t>
                      </a:r>
                    </a:p>
                  </a:txBody>
                  <a:tcPr anchor="ctr" marL="54864" marR="54864" marT="18288" marB="18288">
                    <a:solidFill>
                      <a:srgbClr val="1F3B63"/>
                    </a:solidFill>
                  </a:tcPr>
                </a:tc>
                <a:tc>
                  <a:txBody>
                    <a:bodyPr/>
                    <a:lstStyle/>
                    <a:p>
                      <a:pPr algn="ctr">
                        <a:lnSpc>
                          <a:spcPct val="92000"/>
                        </a:lnSpc>
                      </a:pPr>
                      <a:r>
                        <a:rPr sz="1100" b="1">
                          <a:solidFill>
                            <a:srgbClr val="FFFFFF"/>
                          </a:solidFill>
                        </a:rPr>
                        <a:t>dz=1.5</a:t>
                      </a:r>
                    </a:p>
                  </a:txBody>
                  <a:tcPr anchor="ctr" marL="54864" marR="54864" marT="18288" marB="18288">
                    <a:solidFill>
                      <a:srgbClr val="1F3B63"/>
                    </a:solidFill>
                  </a:tcPr>
                </a:tc>
              </a:tr>
              <a:tr h="274320">
                <a:tc>
                  <a:txBody>
                    <a:bodyPr/>
                    <a:lstStyle/>
                    <a:p>
                      <a:pPr algn="l">
                        <a:lnSpc>
                          <a:spcPct val="92000"/>
                        </a:lnSpc>
                      </a:pPr>
                      <a:r>
                        <a:rPr sz="1050" b="0">
                          <a:solidFill>
                            <a:srgbClr val="1F3B63"/>
                          </a:solidFill>
                        </a:rPr>
                        <a:t>4  (my sketch)</a:t>
                      </a:r>
                    </a:p>
                  </a:txBody>
                  <a:tcPr anchor="ctr" marL="54864" marR="54864" marT="18288" marB="18288">
                    <a:solidFill>
                      <a:srgbClr val="FDD8D8"/>
                    </a:solidFill>
                  </a:tcPr>
                </a:tc>
                <a:tc>
                  <a:txBody>
                    <a:bodyPr/>
                    <a:lstStyle/>
                    <a:p>
                      <a:pPr algn="ctr">
                        <a:lnSpc>
                          <a:spcPct val="92000"/>
                        </a:lnSpc>
                      </a:pPr>
                      <a:r>
                        <a:rPr sz="1050" b="0">
                          <a:solidFill>
                            <a:srgbClr val="1F3B63"/>
                          </a:solidFill>
                        </a:rPr>
                        <a:t>21%</a:t>
                      </a:r>
                    </a:p>
                  </a:txBody>
                  <a:tcPr anchor="ctr" marL="54864" marR="54864" marT="18288" marB="18288">
                    <a:solidFill>
                      <a:srgbClr val="FDD8D8"/>
                    </a:solidFill>
                  </a:tcPr>
                </a:tc>
                <a:tc>
                  <a:txBody>
                    <a:bodyPr/>
                    <a:lstStyle/>
                    <a:p>
                      <a:pPr algn="ctr">
                        <a:lnSpc>
                          <a:spcPct val="92000"/>
                        </a:lnSpc>
                      </a:pPr>
                      <a:r>
                        <a:rPr sz="1050" b="0">
                          <a:solidFill>
                            <a:srgbClr val="1F3B63"/>
                          </a:solidFill>
                        </a:rPr>
                        <a:t>29%</a:t>
                      </a:r>
                    </a:p>
                  </a:txBody>
                  <a:tcPr anchor="ctr" marL="54864" marR="54864" marT="18288" marB="18288">
                    <a:solidFill>
                      <a:srgbClr val="FDD8D8"/>
                    </a:solidFill>
                  </a:tcPr>
                </a:tc>
                <a:tc>
                  <a:txBody>
                    <a:bodyPr/>
                    <a:lstStyle/>
                    <a:p>
                      <a:pPr algn="ctr">
                        <a:lnSpc>
                          <a:spcPct val="92000"/>
                        </a:lnSpc>
                      </a:pPr>
                      <a:r>
                        <a:rPr sz="1050" b="0">
                          <a:solidFill>
                            <a:srgbClr val="1F3B63"/>
                          </a:solidFill>
                        </a:rPr>
                        <a:t>38%</a:t>
                      </a:r>
                    </a:p>
                  </a:txBody>
                  <a:tcPr anchor="ctr" marL="54864" marR="54864" marT="18288" marB="18288">
                    <a:solidFill>
                      <a:srgbClr val="FDD8D8"/>
                    </a:solidFill>
                  </a:tcPr>
                </a:tc>
                <a:tc>
                  <a:txBody>
                    <a:bodyPr/>
                    <a:lstStyle/>
                    <a:p>
                      <a:pPr algn="ctr">
                        <a:lnSpc>
                          <a:spcPct val="92000"/>
                        </a:lnSpc>
                      </a:pPr>
                      <a:r>
                        <a:rPr sz="1050" b="0">
                          <a:solidFill>
                            <a:srgbClr val="1F3B63"/>
                          </a:solidFill>
                        </a:rPr>
                        <a:t>53%</a:t>
                      </a:r>
                    </a:p>
                  </a:txBody>
                  <a:tcPr anchor="ctr" marL="54864" marR="54864" marT="18288" marB="18288">
                    <a:solidFill>
                      <a:srgbClr val="FDD8D8"/>
                    </a:solidFill>
                  </a:tcPr>
                </a:tc>
              </a:tr>
              <a:tr h="274320">
                <a:tc>
                  <a:txBody>
                    <a:bodyPr/>
                    <a:lstStyle/>
                    <a:p>
                      <a:pPr algn="l">
                        <a:lnSpc>
                          <a:spcPct val="92000"/>
                        </a:lnSpc>
                      </a:pPr>
                      <a:r>
                        <a:rPr sz="1050" b="0">
                          <a:solidFill>
                            <a:srgbClr val="1F3B63"/>
                          </a:solidFill>
                        </a:rPr>
                        <a:t>8</a:t>
                      </a:r>
                    </a:p>
                  </a:txBody>
                  <a:tcPr anchor="ctr" marL="54864" marR="54864" marT="18288" marB="18288">
                    <a:solidFill>
                      <a:srgbClr val="EEF3F9"/>
                    </a:solidFill>
                  </a:tcPr>
                </a:tc>
                <a:tc>
                  <a:txBody>
                    <a:bodyPr/>
                    <a:lstStyle/>
                    <a:p>
                      <a:pPr algn="ctr">
                        <a:lnSpc>
                          <a:spcPct val="92000"/>
                        </a:lnSpc>
                      </a:pPr>
                      <a:r>
                        <a:rPr sz="1050" b="0">
                          <a:solidFill>
                            <a:srgbClr val="1F3B63"/>
                          </a:solidFill>
                        </a:rPr>
                        <a:t>50%</a:t>
                      </a:r>
                    </a:p>
                  </a:txBody>
                  <a:tcPr anchor="ctr" marL="54864" marR="54864" marT="18288" marB="18288">
                    <a:solidFill>
                      <a:srgbClr val="EEF3F9"/>
                    </a:solidFill>
                  </a:tcPr>
                </a:tc>
                <a:tc>
                  <a:txBody>
                    <a:bodyPr/>
                    <a:lstStyle/>
                    <a:p>
                      <a:pPr algn="ctr">
                        <a:lnSpc>
                          <a:spcPct val="92000"/>
                        </a:lnSpc>
                      </a:pPr>
                      <a:r>
                        <a:rPr sz="1050" b="0">
                          <a:solidFill>
                            <a:srgbClr val="1F3B63"/>
                          </a:solidFill>
                        </a:rPr>
                        <a:t>68%</a:t>
                      </a:r>
                    </a:p>
                  </a:txBody>
                  <a:tcPr anchor="ctr" marL="54864" marR="54864" marT="18288" marB="18288">
                    <a:solidFill>
                      <a:srgbClr val="EEF3F9"/>
                    </a:solidFill>
                  </a:tcPr>
                </a:tc>
                <a:tc>
                  <a:txBody>
                    <a:bodyPr/>
                    <a:lstStyle/>
                    <a:p>
                      <a:pPr algn="ctr">
                        <a:lnSpc>
                          <a:spcPct val="92000"/>
                        </a:lnSpc>
                      </a:pPr>
                      <a:r>
                        <a:rPr sz="1050" b="0">
                          <a:solidFill>
                            <a:srgbClr val="1F3B63"/>
                          </a:solidFill>
                        </a:rPr>
                        <a:t>83%</a:t>
                      </a:r>
                    </a:p>
                  </a:txBody>
                  <a:tcPr anchor="ctr" marL="54864" marR="54864" marT="18288" marB="18288">
                    <a:solidFill>
                      <a:srgbClr val="EEF3F9"/>
                    </a:solidFill>
                  </a:tcPr>
                </a:tc>
                <a:tc>
                  <a:txBody>
                    <a:bodyPr/>
                    <a:lstStyle/>
                    <a:p>
                      <a:pPr algn="ctr">
                        <a:lnSpc>
                          <a:spcPct val="92000"/>
                        </a:lnSpc>
                      </a:pPr>
                      <a:r>
                        <a:rPr sz="1050" b="0">
                          <a:solidFill>
                            <a:srgbClr val="1F3B63"/>
                          </a:solidFill>
                        </a:rPr>
                        <a:t>95%</a:t>
                      </a:r>
                    </a:p>
                  </a:txBody>
                  <a:tcPr anchor="ctr" marL="54864" marR="54864" marT="18288" marB="18288">
                    <a:solidFill>
                      <a:srgbClr val="EEF3F9"/>
                    </a:solidFill>
                  </a:tcPr>
                </a:tc>
              </a:tr>
              <a:tr h="274320">
                <a:tc>
                  <a:txBody>
                    <a:bodyPr/>
                    <a:lstStyle/>
                    <a:p>
                      <a:pPr algn="l">
                        <a:lnSpc>
                          <a:spcPct val="92000"/>
                        </a:lnSpc>
                      </a:pPr>
                      <a:r>
                        <a:rPr sz="1050" b="0">
                          <a:solidFill>
                            <a:srgbClr val="1F3B63"/>
                          </a:solidFill>
                        </a:rPr>
                        <a:t>10</a:t>
                      </a:r>
                    </a:p>
                  </a:txBody>
                  <a:tcPr anchor="ctr" marL="54864" marR="54864" marT="18288" marB="18288">
                    <a:solidFill>
                      <a:srgbClr val="D8ECD8"/>
                    </a:solidFill>
                  </a:tcPr>
                </a:tc>
                <a:tc>
                  <a:txBody>
                    <a:bodyPr/>
                    <a:lstStyle/>
                    <a:p>
                      <a:pPr algn="ctr">
                        <a:lnSpc>
                          <a:spcPct val="92000"/>
                        </a:lnSpc>
                      </a:pPr>
                      <a:r>
                        <a:rPr sz="1050" b="0">
                          <a:solidFill>
                            <a:srgbClr val="1F3B63"/>
                          </a:solidFill>
                        </a:rPr>
                        <a:t>62%</a:t>
                      </a:r>
                    </a:p>
                  </a:txBody>
                  <a:tcPr anchor="ctr" marL="54864" marR="54864" marT="18288" marB="18288">
                    <a:solidFill>
                      <a:srgbClr val="D8ECD8"/>
                    </a:solidFill>
                  </a:tcPr>
                </a:tc>
                <a:tc>
                  <a:txBody>
                    <a:bodyPr/>
                    <a:lstStyle/>
                    <a:p>
                      <a:pPr algn="ctr">
                        <a:lnSpc>
                          <a:spcPct val="92000"/>
                        </a:lnSpc>
                      </a:pPr>
                      <a:r>
                        <a:rPr sz="1050" b="0">
                          <a:solidFill>
                            <a:srgbClr val="1F3B63"/>
                          </a:solidFill>
                        </a:rPr>
                        <a:t>80%</a:t>
                      </a:r>
                    </a:p>
                  </a:txBody>
                  <a:tcPr anchor="ctr" marL="54864" marR="54864" marT="18288" marB="18288">
                    <a:solidFill>
                      <a:srgbClr val="D8ECD8"/>
                    </a:solidFill>
                  </a:tcPr>
                </a:tc>
                <a:tc>
                  <a:txBody>
                    <a:bodyPr/>
                    <a:lstStyle/>
                    <a:p>
                      <a:pPr algn="ctr">
                        <a:lnSpc>
                          <a:spcPct val="92000"/>
                        </a:lnSpc>
                      </a:pPr>
                      <a:r>
                        <a:rPr sz="1050" b="0">
                          <a:solidFill>
                            <a:srgbClr val="1F3B63"/>
                          </a:solidFill>
                        </a:rPr>
                        <a:t>92%</a:t>
                      </a:r>
                    </a:p>
                  </a:txBody>
                  <a:tcPr anchor="ctr" marL="54864" marR="54864" marT="18288" marB="18288">
                    <a:solidFill>
                      <a:srgbClr val="D8ECD8"/>
                    </a:solidFill>
                  </a:tcPr>
                </a:tc>
                <a:tc>
                  <a:txBody>
                    <a:bodyPr/>
                    <a:lstStyle/>
                    <a:p>
                      <a:pPr algn="ctr">
                        <a:lnSpc>
                          <a:spcPct val="92000"/>
                        </a:lnSpc>
                      </a:pPr>
                      <a:r>
                        <a:rPr sz="1050" b="0">
                          <a:solidFill>
                            <a:srgbClr val="1F3B63"/>
                          </a:solidFill>
                        </a:rPr>
                        <a:t>99%</a:t>
                      </a:r>
                    </a:p>
                  </a:txBody>
                  <a:tcPr anchor="ctr" marL="54864" marR="54864" marT="18288" marB="18288">
                    <a:solidFill>
                      <a:srgbClr val="D8ECD8"/>
                    </a:solidFill>
                  </a:tcPr>
                </a:tc>
              </a:tr>
              <a:tr h="274320">
                <a:tc>
                  <a:txBody>
                    <a:bodyPr/>
                    <a:lstStyle/>
                    <a:p>
                      <a:pPr algn="l">
                        <a:lnSpc>
                          <a:spcPct val="92000"/>
                        </a:lnSpc>
                      </a:pPr>
                      <a:r>
                        <a:rPr sz="1050" b="0">
                          <a:solidFill>
                            <a:srgbClr val="1F3B63"/>
                          </a:solidFill>
                        </a:rPr>
                        <a:t>12</a:t>
                      </a:r>
                    </a:p>
                  </a:txBody>
                  <a:tcPr anchor="ctr" marL="54864" marR="54864" marT="18288" marB="18288">
                    <a:solidFill>
                      <a:srgbClr val="EEF3F9"/>
                    </a:solidFill>
                  </a:tcPr>
                </a:tc>
                <a:tc>
                  <a:txBody>
                    <a:bodyPr/>
                    <a:lstStyle/>
                    <a:p>
                      <a:pPr algn="ctr">
                        <a:lnSpc>
                          <a:spcPct val="92000"/>
                        </a:lnSpc>
                      </a:pPr>
                      <a:r>
                        <a:rPr sz="1050" b="0">
                          <a:solidFill>
                            <a:srgbClr val="1F3B63"/>
                          </a:solidFill>
                        </a:rPr>
                        <a:t>71%</a:t>
                      </a:r>
                    </a:p>
                  </a:txBody>
                  <a:tcPr anchor="ctr" marL="54864" marR="54864" marT="18288" marB="18288">
                    <a:solidFill>
                      <a:srgbClr val="EEF3F9"/>
                    </a:solidFill>
                  </a:tcPr>
                </a:tc>
                <a:tc>
                  <a:txBody>
                    <a:bodyPr/>
                    <a:lstStyle/>
                    <a:p>
                      <a:pPr algn="ctr">
                        <a:lnSpc>
                          <a:spcPct val="92000"/>
                        </a:lnSpc>
                      </a:pPr>
                      <a:r>
                        <a:rPr sz="1050" b="0">
                          <a:solidFill>
                            <a:srgbClr val="1F3B63"/>
                          </a:solidFill>
                        </a:rPr>
                        <a:t>88%</a:t>
                      </a:r>
                    </a:p>
                  </a:txBody>
                  <a:tcPr anchor="ctr" marL="54864" marR="54864" marT="18288" marB="18288">
                    <a:solidFill>
                      <a:srgbClr val="EEF3F9"/>
                    </a:solidFill>
                  </a:tcPr>
                </a:tc>
                <a:tc>
                  <a:txBody>
                    <a:bodyPr/>
                    <a:lstStyle/>
                    <a:p>
                      <a:pPr algn="ctr">
                        <a:lnSpc>
                          <a:spcPct val="92000"/>
                        </a:lnSpc>
                      </a:pPr>
                      <a:r>
                        <a:rPr sz="1050" b="0">
                          <a:solidFill>
                            <a:srgbClr val="1F3B63"/>
                          </a:solidFill>
                        </a:rPr>
                        <a:t>97%</a:t>
                      </a:r>
                    </a:p>
                  </a:txBody>
                  <a:tcPr anchor="ctr" marL="54864" marR="54864" marT="18288" marB="18288">
                    <a:solidFill>
                      <a:srgbClr val="EEF3F9"/>
                    </a:solidFill>
                  </a:tcPr>
                </a:tc>
                <a:tc>
                  <a:txBody>
                    <a:bodyPr/>
                    <a:lstStyle/>
                    <a:p>
                      <a:pPr algn="ctr">
                        <a:lnSpc>
                          <a:spcPct val="92000"/>
                        </a:lnSpc>
                      </a:pPr>
                      <a:r>
                        <a:rPr sz="1050" b="0">
                          <a:solidFill>
                            <a:srgbClr val="1F3B63"/>
                          </a:solidFill>
                        </a:rPr>
                        <a:t>100%</a:t>
                      </a:r>
                    </a:p>
                  </a:txBody>
                  <a:tcPr anchor="ctr" marL="54864" marR="54864" marT="18288" marB="18288">
                    <a:solidFill>
                      <a:srgbClr val="EEF3F9"/>
                    </a:solidFill>
                  </a:tcPr>
                </a:tc>
              </a:tr>
            </a:tbl>
          </a:graphicData>
        </a:graphic>
      </p:graphicFrame>
      <p:sp>
        <p:nvSpPr>
          <p:cNvPr id="8" name="TextBox 7"/>
          <p:cNvSpPr txBox="1"/>
          <p:nvPr/>
        </p:nvSpPr>
        <p:spPr>
          <a:xfrm>
            <a:off x="7635240" y="2788920"/>
            <a:ext cx="4050791" cy="3108960"/>
          </a:xfrm>
          <a:prstGeom prst="rect">
            <a:avLst/>
          </a:prstGeom>
          <a:noFill/>
        </p:spPr>
        <p:txBody>
          <a:bodyPr wrap="square">
            <a:spAutoFit/>
          </a:bodyPr>
          <a:lstStyle/>
          <a:p>
            <a:pPr>
              <a:lnSpc>
                <a:spcPct val="98000"/>
              </a:lnSpc>
              <a:spcAft>
                <a:spcPts val="500"/>
              </a:spcAft>
            </a:pPr>
            <a:r>
              <a:rPr sz="1150" b="1">
                <a:solidFill>
                  <a:srgbClr val="1F3B63"/>
                </a:solidFill>
              </a:rPr>
              <a:t>Power, paired t-test, two-tailed α=0.05</a:t>
            </a:r>
          </a:p>
          <a:p>
            <a:pPr lvl="1">
              <a:lnSpc>
                <a:spcPct val="98000"/>
              </a:lnSpc>
              <a:spcAft>
                <a:spcPts val="200"/>
              </a:spcAft>
            </a:pPr>
            <a:r>
              <a:rPr sz="1000">
                <a:solidFill>
                  <a:srgbClr val="595959"/>
                </a:solidFill>
              </a:rPr>
              <a:t>– Reported chemogenetic effects on drug seeking are large, roughly a 40-50% reduction, so dz ~ 1.0-1.2 is a fair planning assumption.</a:t>
            </a:r>
          </a:p>
          <a:p>
            <a:pPr lvl="1">
              <a:lnSpc>
                <a:spcPct val="98000"/>
              </a:lnSpc>
              <a:spcAft>
                <a:spcPts val="200"/>
              </a:spcAft>
            </a:pPr>
            <a:r>
              <a:rPr sz="1000">
                <a:solidFill>
                  <a:srgbClr val="595959"/>
                </a:solidFill>
              </a:rPr>
              <a:t>– n=4 detects nothing smaller than dz~1.6. n=10 is the first row where a large effect is reliably detectable.</a:t>
            </a:r>
          </a:p>
          <a:p>
            <a:pPr>
              <a:lnSpc>
                <a:spcPct val="98000"/>
              </a:lnSpc>
              <a:spcAft>
                <a:spcPts val="500"/>
              </a:spcAft>
            </a:pPr>
            <a:r>
              <a:rPr sz="1150" b="1">
                <a:solidFill>
                  <a:srgbClr val="1F3B63"/>
                </a:solidFill>
              </a:rPr>
              <a:t>What I propose instead of choosing one n</a:t>
            </a:r>
          </a:p>
          <a:p>
            <a:pPr lvl="1">
              <a:lnSpc>
                <a:spcPct val="98000"/>
              </a:lnSpc>
              <a:spcAft>
                <a:spcPts val="200"/>
              </a:spcAft>
            </a:pPr>
            <a:r>
              <a:rPr sz="1000">
                <a:solidFill>
                  <a:srgbClr val="595959"/>
                </a:solidFill>
              </a:rPr>
              <a:t>– Cohort 1 = expression pilot, n=4 per cell (16 mice, ORBm). No behavioural inference claimed. It buys the AAV coordinates, the percentage of tdTomato+ cells that become hM4Di+, confirmation that DCZ suppresses Fos in those cells, and a variance estimate.</a:t>
            </a:r>
          </a:p>
          <a:p>
            <a:pPr lvl="1">
              <a:lnSpc>
                <a:spcPct val="98000"/>
              </a:lnSpc>
              <a:spcAft>
                <a:spcPts val="200"/>
              </a:spcAft>
            </a:pPr>
            <a:r>
              <a:rPr sz="1000">
                <a:solidFill>
                  <a:srgbClr val="595959"/>
                </a:solidFill>
              </a:rPr>
              <a:t>– Cohort 2 = powered, n=10 per cell (40 mice, ORBm), with n set by cohort 1's variance rather than by my guess.</a:t>
            </a:r>
          </a:p>
          <a:p>
            <a:pPr lvl="1">
              <a:lnSpc>
                <a:spcPct val="98000"/>
              </a:lnSpc>
              <a:spcAft>
                <a:spcPts val="200"/>
              </a:spcAft>
            </a:pPr>
            <a:r>
              <a:rPr sz="1000">
                <a:solidFill>
                  <a:srgbClr val="595959"/>
                </a:solidFill>
              </a:rPr>
              <a:t>– Allow ~25% attrition for missed targeting and health, so order accordingly.</a:t>
            </a:r>
          </a:p>
        </p:txBody>
      </p:sp>
      <p:sp>
        <p:nvSpPr>
          <p:cNvPr id="9" name="Rectangle 8"/>
          <p:cNvSpPr/>
          <p:nvPr/>
        </p:nvSpPr>
        <p:spPr>
          <a:xfrm>
            <a:off x="502920" y="4142232"/>
            <a:ext cx="6858000" cy="960120"/>
          </a:xfrm>
          <a:prstGeom prst="rect">
            <a:avLst/>
          </a:prstGeom>
          <a:solidFill>
            <a:srgbClr val="FFF4D6"/>
          </a:solidFill>
          <a:ln w="15875">
            <a:solidFill>
              <a:srgbClr val="9C6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l">
              <a:lnSpc>
                <a:spcPct val="100000"/>
              </a:lnSpc>
              <a:spcAft>
                <a:spcPts val="400"/>
              </a:spcAft>
            </a:pPr>
            <a:r>
              <a:rPr sz="1100" b="0">
                <a:solidFill>
                  <a:srgbClr val="1F3B63"/>
                </a:solidFill>
              </a:rPr>
              <a:t>Starting coordinates to verify in cohort 1, then fix: ORBm ~ AP +2.6, ML ±0.35, DV −2.7; BMAp ~ AP −1.8, ML ±2.4, DV −5.1. Use 150-250 nl at low rate — BMAp sits next to MEA, BLA and the sAMY-like GABA populations our marker work flagged, so spread must be verified histologically.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EXPERIMENT 2</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Experiment 2 — day-by-day schedule</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Behaviour days 1-18 are unchanged; everything new is appended after day 18</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98448"/>
          <a:ext cx="6903720" cy="4059936"/>
        </p:xfrm>
        <a:graphic>
          <a:graphicData uri="http://schemas.openxmlformats.org/drawingml/2006/table">
            <a:tbl>
              <a:tblPr firstRow="1" bandRow="1">
                <a:tableStyleId>{5C22544A-7EE6-4342-B048-85BDC9FD1C3A}</a:tableStyleId>
              </a:tblPr>
              <a:tblGrid>
                <a:gridCol w="640080"/>
                <a:gridCol w="2377440"/>
                <a:gridCol w="685800"/>
                <a:gridCol w="3200400"/>
              </a:tblGrid>
              <a:tr h="219456">
                <a:tc>
                  <a:txBody>
                    <a:bodyPr/>
                    <a:lstStyle/>
                    <a:p>
                      <a:pPr algn="ctr">
                        <a:lnSpc>
                          <a:spcPct val="92000"/>
                        </a:lnSpc>
                      </a:pPr>
                      <a:r>
                        <a:rPr sz="950" b="1">
                          <a:solidFill>
                            <a:srgbClr val="FFFFFF"/>
                          </a:solidFill>
                        </a:rPr>
                        <a:t>Day</a:t>
                      </a:r>
                    </a:p>
                  </a:txBody>
                  <a:tcPr anchor="ctr" marL="54864" marR="54864" marT="18288" marB="18288">
                    <a:solidFill>
                      <a:srgbClr val="1F3B63"/>
                    </a:solidFill>
                  </a:tcPr>
                </a:tc>
                <a:tc>
                  <a:txBody>
                    <a:bodyPr/>
                    <a:lstStyle/>
                    <a:p>
                      <a:pPr algn="l">
                        <a:lnSpc>
                          <a:spcPct val="92000"/>
                        </a:lnSpc>
                      </a:pPr>
                      <a:r>
                        <a:rPr sz="950" b="1">
                          <a:solidFill>
                            <a:srgbClr val="FFFFFF"/>
                          </a:solidFill>
                        </a:rPr>
                        <a:t>Phase / step</a:t>
                      </a:r>
                    </a:p>
                  </a:txBody>
                  <a:tcPr anchor="ctr" marL="54864" marR="54864" marT="18288" marB="18288">
                    <a:solidFill>
                      <a:srgbClr val="1F3B63"/>
                    </a:solidFill>
                  </a:tcPr>
                </a:tc>
                <a:tc>
                  <a:txBody>
                    <a:bodyPr/>
                    <a:lstStyle/>
                    <a:p>
                      <a:pPr algn="ctr">
                        <a:lnSpc>
                          <a:spcPct val="92000"/>
                        </a:lnSpc>
                      </a:pPr>
                      <a:r>
                        <a:rPr sz="950" b="1">
                          <a:solidFill>
                            <a:srgbClr val="FFFFFF"/>
                          </a:solidFill>
                        </a:rPr>
                        <a:t>Reward</a:t>
                      </a:r>
                    </a:p>
                  </a:txBody>
                  <a:tcPr anchor="ctr" marL="54864" marR="54864" marT="18288" marB="18288">
                    <a:solidFill>
                      <a:srgbClr val="1F3B63"/>
                    </a:solidFill>
                  </a:tcPr>
                </a:tc>
                <a:tc>
                  <a:txBody>
                    <a:bodyPr/>
                    <a:lstStyle/>
                    <a:p>
                      <a:pPr algn="l">
                        <a:lnSpc>
                          <a:spcPct val="92000"/>
                        </a:lnSpc>
                      </a:pPr>
                      <a:r>
                        <a:rPr sz="950" b="1">
                          <a:solidFill>
                            <a:srgbClr val="FFFFFF"/>
                          </a:solidFill>
                        </a:rPr>
                        <a:t>Note</a:t>
                      </a:r>
                    </a:p>
                  </a:txBody>
                  <a:tcPr anchor="ctr" marL="54864" marR="54864" marT="18288" marB="18288">
                    <a:solidFill>
                      <a:srgbClr val="1F3B63"/>
                    </a:solidFill>
                  </a:tcPr>
                </a:tc>
              </a:tr>
              <a:tr h="274320">
                <a:tc>
                  <a:txBody>
                    <a:bodyPr/>
                    <a:lstStyle/>
                    <a:p>
                      <a:pPr algn="ctr">
                        <a:lnSpc>
                          <a:spcPct val="92000"/>
                        </a:lnSpc>
                      </a:pPr>
                      <a:r>
                        <a:rPr sz="900" b="0">
                          <a:solidFill>
                            <a:srgbClr val="1F3B63"/>
                          </a:solidFill>
                        </a:rPr>
                        <a:t>−14</a:t>
                      </a:r>
                    </a:p>
                  </a:txBody>
                  <a:tcPr anchor="ctr" marL="54864" marR="54864" marT="18288" marB="18288">
                    <a:solidFill>
                      <a:srgbClr val="FFFFFF"/>
                    </a:solidFill>
                  </a:tcPr>
                </a:tc>
                <a:tc>
                  <a:txBody>
                    <a:bodyPr/>
                    <a:lstStyle/>
                    <a:p>
                      <a:pPr algn="l">
                        <a:lnSpc>
                          <a:spcPct val="92000"/>
                        </a:lnSpc>
                      </a:pPr>
                      <a:r>
                        <a:rPr sz="900" b="0">
                          <a:solidFill>
                            <a:srgbClr val="1F3B63"/>
                          </a:solidFill>
                        </a:rPr>
                        <a:t>Bilateral AAV surgery (hM4Di or mCherry), ORBm</a:t>
                      </a:r>
                    </a:p>
                  </a:txBody>
                  <a:tcPr anchor="ctr" marL="54864" marR="54864" marT="18288" marB="18288">
                    <a:solidFill>
                      <a:srgbClr val="FFFFFF"/>
                    </a:solidFill>
                  </a:tcPr>
                </a:tc>
                <a:tc>
                  <a:txBody>
                    <a:bodyPr/>
                    <a:lstStyle/>
                    <a:p>
                      <a:pPr algn="ctr">
                        <a:lnSpc>
                          <a:spcPct val="92000"/>
                        </a:lnSpc>
                      </a:pPr>
                      <a:r>
                        <a:rPr sz="900" b="0">
                          <a:solidFill>
                            <a:srgbClr val="1F3B63"/>
                          </a:solidFill>
                        </a:rPr>
                        <a:t>—</a:t>
                      </a:r>
                    </a:p>
                  </a:txBody>
                  <a:tcPr anchor="ctr" marL="54864" marR="54864" marT="18288" marB="18288">
                    <a:solidFill>
                      <a:srgbClr val="FFFFFF"/>
                    </a:solidFill>
                  </a:tcPr>
                </a:tc>
                <a:tc>
                  <a:txBody>
                    <a:bodyPr/>
                    <a:lstStyle/>
                    <a:p>
                      <a:pPr algn="l">
                        <a:lnSpc>
                          <a:spcPct val="92000"/>
                        </a:lnSpc>
                      </a:pPr>
                      <a:r>
                        <a:rPr sz="900" b="0">
                          <a:solidFill>
                            <a:srgbClr val="1F3B63"/>
                          </a:solidFill>
                        </a:rPr>
                        <a:t>26 days before tagging, comfortably past the ~21-day AAV requirement</a:t>
                      </a:r>
                    </a:p>
                  </a:txBody>
                  <a:tcPr anchor="ctr" marL="54864" marR="54864" marT="18288" marB="18288">
                    <a:solidFill>
                      <a:srgbClr val="FFFFFF"/>
                    </a:solidFill>
                  </a:tcPr>
                </a:tc>
              </a:tr>
              <a:tr h="274320">
                <a:tc>
                  <a:txBody>
                    <a:bodyPr/>
                    <a:lstStyle/>
                    <a:p>
                      <a:pPr algn="ctr">
                        <a:lnSpc>
                          <a:spcPct val="92000"/>
                        </a:lnSpc>
                      </a:pPr>
                      <a:r>
                        <a:rPr sz="900" b="0">
                          <a:solidFill>
                            <a:srgbClr val="1F3B63"/>
                          </a:solidFill>
                        </a:rPr>
                        <a:t>−13 to 0</a:t>
                      </a:r>
                    </a:p>
                  </a:txBody>
                  <a:tcPr anchor="ctr" marL="54864" marR="54864" marT="18288" marB="18288">
                    <a:solidFill>
                      <a:srgbClr val="EEF3F9"/>
                    </a:solidFill>
                  </a:tcPr>
                </a:tc>
                <a:tc>
                  <a:txBody>
                    <a:bodyPr/>
                    <a:lstStyle/>
                    <a:p>
                      <a:pPr algn="l">
                        <a:lnSpc>
                          <a:spcPct val="92000"/>
                        </a:lnSpc>
                      </a:pPr>
                      <a:r>
                        <a:rPr sz="900" b="0">
                          <a:solidFill>
                            <a:srgbClr val="1F3B63"/>
                          </a:solidFill>
                        </a:rPr>
                        <a:t>Recovery, handling, injection habituation</a:t>
                      </a:r>
                    </a:p>
                  </a:txBody>
                  <a:tcPr anchor="ctr" marL="54864" marR="54864" marT="18288" marB="18288">
                    <a:solidFill>
                      <a:srgbClr val="EEF3F9"/>
                    </a:solidFill>
                  </a:tcPr>
                </a:tc>
                <a:tc>
                  <a:txBody>
                    <a:bodyPr/>
                    <a:lstStyle/>
                    <a:p>
                      <a:pPr algn="ctr">
                        <a:lnSpc>
                          <a:spcPct val="92000"/>
                        </a:lnSpc>
                      </a:pPr>
                      <a:r>
                        <a:rPr sz="900" b="0">
                          <a:solidFill>
                            <a:srgbClr val="1F3B63"/>
                          </a:solidFill>
                        </a:rPr>
                        <a:t>—</a:t>
                      </a:r>
                    </a:p>
                  </a:txBody>
                  <a:tcPr anchor="ctr" marL="54864" marR="54864" marT="18288" marB="18288">
                    <a:solidFill>
                      <a:srgbClr val="EEF3F9"/>
                    </a:solidFill>
                  </a:tcPr>
                </a:tc>
                <a:tc>
                  <a:txBody>
                    <a:bodyPr/>
                    <a:lstStyle/>
                    <a:p>
                      <a:pPr algn="l">
                        <a:lnSpc>
                          <a:spcPct val="92000"/>
                        </a:lnSpc>
                      </a:pPr>
                      <a:r>
                        <a:rPr sz="900" b="0">
                          <a:solidFill>
                            <a:srgbClr val="1F3B63"/>
                          </a:solidFill>
                        </a:rPr>
                        <a:t>Handling matters: it lowers TRAP background labelling</a:t>
                      </a:r>
                    </a:p>
                  </a:txBody>
                  <a:tcPr anchor="ctr" marL="54864" marR="54864" marT="18288" marB="18288">
                    <a:solidFill>
                      <a:srgbClr val="EEF3F9"/>
                    </a:solidFill>
                  </a:tcPr>
                </a:tc>
              </a:tr>
              <a:tr h="274320">
                <a:tc>
                  <a:txBody>
                    <a:bodyPr/>
                    <a:lstStyle/>
                    <a:p>
                      <a:pPr algn="ctr">
                        <a:lnSpc>
                          <a:spcPct val="92000"/>
                        </a:lnSpc>
                      </a:pPr>
                      <a:r>
                        <a:rPr sz="900" b="0">
                          <a:solidFill>
                            <a:srgbClr val="1F3B63"/>
                          </a:solidFill>
                        </a:rPr>
                        <a:t>1-2</a:t>
                      </a:r>
                    </a:p>
                  </a:txBody>
                  <a:tcPr anchor="ctr" marL="54864" marR="54864" marT="18288" marB="18288">
                    <a:solidFill>
                      <a:srgbClr val="FFFFFF"/>
                    </a:solidFill>
                  </a:tcPr>
                </a:tc>
                <a:tc>
                  <a:txBody>
                    <a:bodyPr/>
                    <a:lstStyle/>
                    <a:p>
                      <a:pPr algn="l">
                        <a:lnSpc>
                          <a:spcPct val="92000"/>
                        </a:lnSpc>
                      </a:pPr>
                      <a:r>
                        <a:rPr sz="900" b="0">
                          <a:solidFill>
                            <a:srgbClr val="1F3B63"/>
                          </a:solidFill>
                        </a:rPr>
                        <a:t>Fixed ratio</a:t>
                      </a:r>
                    </a:p>
                  </a:txBody>
                  <a:tcPr anchor="ctr" marL="54864" marR="54864" marT="18288" marB="18288">
                    <a:solidFill>
                      <a:srgbClr val="FFFFFF"/>
                    </a:solidFill>
                  </a:tcPr>
                </a:tc>
                <a:tc>
                  <a:txBody>
                    <a:bodyPr/>
                    <a:lstStyle/>
                    <a:p>
                      <a:pPr algn="ctr">
                        <a:lnSpc>
                          <a:spcPct val="92000"/>
                        </a:lnSpc>
                      </a:pPr>
                      <a:r>
                        <a:rPr sz="900" b="0">
                          <a:solidFill>
                            <a:srgbClr val="1F3B63"/>
                          </a:solidFill>
                        </a:rPr>
                        <a:t>—</a:t>
                      </a:r>
                    </a:p>
                  </a:txBody>
                  <a:tcPr anchor="ctr" marL="54864" marR="54864" marT="18288" marB="18288">
                    <a:solidFill>
                      <a:srgbClr val="FFFFFF"/>
                    </a:solidFill>
                  </a:tcPr>
                </a:tc>
                <a:tc>
                  <a:txBody>
                    <a:bodyPr/>
                    <a:lstStyle/>
                    <a:p>
                      <a:pPr algn="l">
                        <a:lnSpc>
                          <a:spcPct val="92000"/>
                        </a:lnSpc>
                      </a:pPr>
                      <a:r>
                        <a:rPr sz="900" b="0">
                          <a:solidFill>
                            <a:srgbClr val="1F3B63"/>
                          </a:solidFill>
                        </a:rPr>
                        <a:t>As currently run</a:t>
                      </a:r>
                    </a:p>
                  </a:txBody>
                  <a:tcPr anchor="ctr" marL="54864" marR="54864" marT="18288" marB="18288">
                    <a:solidFill>
                      <a:srgbClr val="FFFFFF"/>
                    </a:solidFill>
                  </a:tcPr>
                </a:tc>
              </a:tr>
              <a:tr h="274320">
                <a:tc>
                  <a:txBody>
                    <a:bodyPr/>
                    <a:lstStyle/>
                    <a:p>
                      <a:pPr algn="ctr">
                        <a:lnSpc>
                          <a:spcPct val="92000"/>
                        </a:lnSpc>
                      </a:pPr>
                      <a:r>
                        <a:rPr sz="900" b="0">
                          <a:solidFill>
                            <a:srgbClr val="1F3B63"/>
                          </a:solidFill>
                        </a:rPr>
                        <a:t>3-5</a:t>
                      </a:r>
                    </a:p>
                  </a:txBody>
                  <a:tcPr anchor="ctr" marL="54864" marR="54864" marT="18288" marB="18288">
                    <a:solidFill>
                      <a:srgbClr val="EEF3F9"/>
                    </a:solidFill>
                  </a:tcPr>
                </a:tc>
                <a:tc>
                  <a:txBody>
                    <a:bodyPr/>
                    <a:lstStyle/>
                    <a:p>
                      <a:pPr algn="l">
                        <a:lnSpc>
                          <a:spcPct val="92000"/>
                        </a:lnSpc>
                      </a:pPr>
                      <a:r>
                        <a:rPr sz="900" b="0">
                          <a:solidFill>
                            <a:srgbClr val="1F3B63"/>
                          </a:solidFill>
                        </a:rPr>
                        <a:t>Pre</a:t>
                      </a:r>
                    </a:p>
                  </a:txBody>
                  <a:tcPr anchor="ctr" marL="54864" marR="54864" marT="18288" marB="18288">
                    <a:solidFill>
                      <a:srgbClr val="EEF3F9"/>
                    </a:solidFill>
                  </a:tcPr>
                </a:tc>
                <a:tc>
                  <a:txBody>
                    <a:bodyPr/>
                    <a:lstStyle/>
                    <a:p>
                      <a:pPr algn="ctr">
                        <a:lnSpc>
                          <a:spcPct val="92000"/>
                        </a:lnSpc>
                      </a:pPr>
                      <a:r>
                        <a:rPr sz="900" b="0">
                          <a:solidFill>
                            <a:srgbClr val="1F3B63"/>
                          </a:solidFill>
                        </a:rPr>
                        <a:t>Water</a:t>
                      </a:r>
                    </a:p>
                  </a:txBody>
                  <a:tcPr anchor="ctr" marL="54864" marR="54864" marT="18288" marB="18288">
                    <a:solidFill>
                      <a:srgbClr val="EEF3F9"/>
                    </a:solidFill>
                  </a:tcPr>
                </a:tc>
                <a:tc>
                  <a:txBody>
                    <a:bodyPr/>
                    <a:lstStyle/>
                    <a:p>
                      <a:pPr algn="l">
                        <a:lnSpc>
                          <a:spcPct val="92000"/>
                        </a:lnSpc>
                      </a:pPr>
                      <a:r>
                        <a:rPr sz="900" b="0">
                          <a:solidFill>
                            <a:srgbClr val="1F3B63"/>
                          </a:solidFill>
                        </a:rPr>
                        <a:t>As currently run</a:t>
                      </a:r>
                    </a:p>
                  </a:txBody>
                  <a:tcPr anchor="ctr" marL="54864" marR="54864" marT="18288" marB="18288">
                    <a:solidFill>
                      <a:srgbClr val="EEF3F9"/>
                    </a:solidFill>
                  </a:tcPr>
                </a:tc>
              </a:tr>
              <a:tr h="274320">
                <a:tc>
                  <a:txBody>
                    <a:bodyPr/>
                    <a:lstStyle/>
                    <a:p>
                      <a:pPr algn="ctr">
                        <a:lnSpc>
                          <a:spcPct val="92000"/>
                        </a:lnSpc>
                      </a:pPr>
                      <a:r>
                        <a:rPr sz="900" b="0">
                          <a:solidFill>
                            <a:srgbClr val="1F3B63"/>
                          </a:solidFill>
                        </a:rPr>
                        <a:t>6-10</a:t>
                      </a:r>
                    </a:p>
                  </a:txBody>
                  <a:tcPr anchor="ctr" marL="54864" marR="54864" marT="18288" marB="18288">
                    <a:solidFill>
                      <a:srgbClr val="FFFFFF"/>
                    </a:solidFill>
                  </a:tcPr>
                </a:tc>
                <a:tc>
                  <a:txBody>
                    <a:bodyPr/>
                    <a:lstStyle/>
                    <a:p>
                      <a:pPr algn="l">
                        <a:lnSpc>
                          <a:spcPct val="92000"/>
                        </a:lnSpc>
                      </a:pPr>
                      <a:r>
                        <a:rPr sz="900" b="0">
                          <a:solidFill>
                            <a:srgbClr val="1F3B63"/>
                          </a:solidFill>
                        </a:rPr>
                        <a:t>During</a:t>
                      </a:r>
                    </a:p>
                  </a:txBody>
                  <a:tcPr anchor="ctr" marL="54864" marR="54864" marT="18288" marB="18288">
                    <a:solidFill>
                      <a:srgbClr val="FFFFFF"/>
                    </a:solidFill>
                  </a:tcPr>
                </a:tc>
                <a:tc>
                  <a:txBody>
                    <a:bodyPr/>
                    <a:lstStyle/>
                    <a:p>
                      <a:pPr algn="ctr">
                        <a:lnSpc>
                          <a:spcPct val="92000"/>
                        </a:lnSpc>
                      </a:pPr>
                      <a:r>
                        <a:rPr sz="900" b="0">
                          <a:solidFill>
                            <a:srgbClr val="1F3B63"/>
                          </a:solidFill>
                        </a:rPr>
                        <a:t>Morphine</a:t>
                      </a:r>
                    </a:p>
                  </a:txBody>
                  <a:tcPr anchor="ctr" marL="54864" marR="54864" marT="18288" marB="18288">
                    <a:solidFill>
                      <a:srgbClr val="FFFFFF"/>
                    </a:solidFill>
                  </a:tcPr>
                </a:tc>
                <a:tc>
                  <a:txBody>
                    <a:bodyPr/>
                    <a:lstStyle/>
                    <a:p>
                      <a:pPr algn="l">
                        <a:lnSpc>
                          <a:spcPct val="92000"/>
                        </a:lnSpc>
                      </a:pPr>
                      <a:r>
                        <a:rPr sz="900" b="0">
                          <a:solidFill>
                            <a:srgbClr val="1F3B63"/>
                          </a:solidFill>
                        </a:rPr>
                        <a:t>Passive lick lockout applies, as currently run</a:t>
                      </a:r>
                    </a:p>
                  </a:txBody>
                  <a:tcPr anchor="ctr" marL="54864" marR="54864" marT="18288" marB="18288">
                    <a:solidFill>
                      <a:srgbClr val="FFFFFF"/>
                    </a:solidFill>
                  </a:tcPr>
                </a:tc>
              </a:tr>
              <a:tr h="274320">
                <a:tc>
                  <a:txBody>
                    <a:bodyPr/>
                    <a:lstStyle/>
                    <a:p>
                      <a:pPr algn="ctr">
                        <a:lnSpc>
                          <a:spcPct val="92000"/>
                        </a:lnSpc>
                      </a:pPr>
                      <a:r>
                        <a:rPr sz="900" b="0">
                          <a:solidFill>
                            <a:srgbClr val="1F3B63"/>
                          </a:solidFill>
                        </a:rPr>
                        <a:t>11-13</a:t>
                      </a:r>
                    </a:p>
                  </a:txBody>
                  <a:tcPr anchor="ctr" marL="54864" marR="54864" marT="18288" marB="18288">
                    <a:solidFill>
                      <a:srgbClr val="FFF2CC"/>
                    </a:solidFill>
                  </a:tcPr>
                </a:tc>
                <a:tc>
                  <a:txBody>
                    <a:bodyPr/>
                    <a:lstStyle/>
                    <a:p>
                      <a:pPr algn="l">
                        <a:lnSpc>
                          <a:spcPct val="92000"/>
                        </a:lnSpc>
                      </a:pPr>
                      <a:r>
                        <a:rPr sz="900" b="0">
                          <a:solidFill>
                            <a:srgbClr val="1F3B63"/>
                          </a:solidFill>
                        </a:rPr>
                        <a:t>Post</a:t>
                      </a:r>
                    </a:p>
                  </a:txBody>
                  <a:tcPr anchor="ctr" marL="54864" marR="54864" marT="18288" marB="18288">
                    <a:solidFill>
                      <a:srgbClr val="FFF2CC"/>
                    </a:solidFill>
                  </a:tcPr>
                </a:tc>
                <a:tc>
                  <a:txBody>
                    <a:bodyPr/>
                    <a:lstStyle/>
                    <a:p>
                      <a:pPr algn="ctr">
                        <a:lnSpc>
                          <a:spcPct val="92000"/>
                        </a:lnSpc>
                      </a:pPr>
                      <a:r>
                        <a:rPr sz="900" b="0">
                          <a:solidFill>
                            <a:srgbClr val="1F3B63"/>
                          </a:solidFill>
                        </a:rPr>
                        <a:t>Morphine</a:t>
                      </a:r>
                    </a:p>
                  </a:txBody>
                  <a:tcPr anchor="ctr" marL="54864" marR="54864" marT="18288" marB="18288">
                    <a:solidFill>
                      <a:srgbClr val="FFF2CC"/>
                    </a:solidFill>
                  </a:tcPr>
                </a:tc>
                <a:tc>
                  <a:txBody>
                    <a:bodyPr/>
                    <a:lstStyle/>
                    <a:p>
                      <a:pPr algn="l">
                        <a:lnSpc>
                          <a:spcPct val="92000"/>
                        </a:lnSpc>
                      </a:pPr>
                      <a:r>
                        <a:rPr sz="900" b="0">
                          <a:solidFill>
                            <a:srgbClr val="1F3B63"/>
                          </a:solidFill>
                        </a:rPr>
                        <a:t>4-OHT 50 mg/kg i.p. right after the DAY 12 session</a:t>
                      </a:r>
                    </a:p>
                  </a:txBody>
                  <a:tcPr anchor="ctr" marL="54864" marR="54864" marT="18288" marB="18288">
                    <a:solidFill>
                      <a:srgbClr val="FFF2CC"/>
                    </a:solidFill>
                  </a:tcPr>
                </a:tc>
              </a:tr>
              <a:tr h="274320">
                <a:tc>
                  <a:txBody>
                    <a:bodyPr/>
                    <a:lstStyle/>
                    <a:p>
                      <a:pPr algn="ctr">
                        <a:lnSpc>
                          <a:spcPct val="92000"/>
                        </a:lnSpc>
                      </a:pPr>
                      <a:r>
                        <a:rPr sz="900" b="0">
                          <a:solidFill>
                            <a:srgbClr val="1F3B63"/>
                          </a:solidFill>
                        </a:rPr>
                        <a:t>14-16</a:t>
                      </a:r>
                    </a:p>
                  </a:txBody>
                  <a:tcPr anchor="ctr" marL="54864" marR="54864" marT="18288" marB="18288">
                    <a:solidFill>
                      <a:srgbClr val="FFFFFF"/>
                    </a:solidFill>
                  </a:tcPr>
                </a:tc>
                <a:tc>
                  <a:txBody>
                    <a:bodyPr/>
                    <a:lstStyle/>
                    <a:p>
                      <a:pPr algn="l">
                        <a:lnSpc>
                          <a:spcPct val="92000"/>
                        </a:lnSpc>
                      </a:pPr>
                      <a:r>
                        <a:rPr sz="900" b="0">
                          <a:solidFill>
                            <a:srgbClr val="1F3B63"/>
                          </a:solidFill>
                        </a:rPr>
                        <a:t>Withdrawal</a:t>
                      </a:r>
                    </a:p>
                  </a:txBody>
                  <a:tcPr anchor="ctr" marL="54864" marR="54864" marT="18288" marB="18288">
                    <a:solidFill>
                      <a:srgbClr val="FFFFFF"/>
                    </a:solidFill>
                  </a:tcPr>
                </a:tc>
                <a:tc>
                  <a:txBody>
                    <a:bodyPr/>
                    <a:lstStyle/>
                    <a:p>
                      <a:pPr algn="ctr">
                        <a:lnSpc>
                          <a:spcPct val="92000"/>
                        </a:lnSpc>
                      </a:pPr>
                      <a:r>
                        <a:rPr sz="900" b="0">
                          <a:solidFill>
                            <a:srgbClr val="1F3B63"/>
                          </a:solidFill>
                        </a:rPr>
                        <a:t>Water</a:t>
                      </a:r>
                    </a:p>
                  </a:txBody>
                  <a:tcPr anchor="ctr" marL="54864" marR="54864" marT="18288" marB="18288">
                    <a:solidFill>
                      <a:srgbClr val="FFFFFF"/>
                    </a:solidFill>
                  </a:tcPr>
                </a:tc>
                <a:tc>
                  <a:txBody>
                    <a:bodyPr/>
                    <a:lstStyle/>
                    <a:p>
                      <a:pPr algn="l">
                        <a:lnSpc>
                          <a:spcPct val="92000"/>
                        </a:lnSpc>
                      </a:pPr>
                      <a:r>
                        <a:rPr sz="900" b="0">
                          <a:solidFill>
                            <a:srgbClr val="1F3B63"/>
                          </a:solidFill>
                        </a:rPr>
                        <a:t>As currently run</a:t>
                      </a:r>
                    </a:p>
                  </a:txBody>
                  <a:tcPr anchor="ctr" marL="54864" marR="54864" marT="18288" marB="18288">
                    <a:solidFill>
                      <a:srgbClr val="FFFFFF"/>
                    </a:solidFill>
                  </a:tcPr>
                </a:tc>
              </a:tr>
              <a:tr h="274320">
                <a:tc>
                  <a:txBody>
                    <a:bodyPr/>
                    <a:lstStyle/>
                    <a:p>
                      <a:pPr algn="ctr">
                        <a:lnSpc>
                          <a:spcPct val="92000"/>
                        </a:lnSpc>
                      </a:pPr>
                      <a:r>
                        <a:rPr sz="900" b="0">
                          <a:solidFill>
                            <a:srgbClr val="1F3B63"/>
                          </a:solidFill>
                        </a:rPr>
                        <a:t>17-18</a:t>
                      </a:r>
                    </a:p>
                  </a:txBody>
                  <a:tcPr anchor="ctr" marL="54864" marR="54864" marT="18288" marB="18288">
                    <a:solidFill>
                      <a:srgbClr val="EEF3F9"/>
                    </a:solidFill>
                  </a:tcPr>
                </a:tc>
                <a:tc>
                  <a:txBody>
                    <a:bodyPr/>
                    <a:lstStyle/>
                    <a:p>
                      <a:pPr algn="l">
                        <a:lnSpc>
                          <a:spcPct val="92000"/>
                        </a:lnSpc>
                      </a:pPr>
                      <a:r>
                        <a:rPr sz="900" b="0">
                          <a:solidFill>
                            <a:srgbClr val="1F3B63"/>
                          </a:solidFill>
                        </a:rPr>
                        <a:t>Re-exposure</a:t>
                      </a:r>
                    </a:p>
                  </a:txBody>
                  <a:tcPr anchor="ctr" marL="54864" marR="54864" marT="18288" marB="18288">
                    <a:solidFill>
                      <a:srgbClr val="EEF3F9"/>
                    </a:solidFill>
                  </a:tcPr>
                </a:tc>
                <a:tc>
                  <a:txBody>
                    <a:bodyPr/>
                    <a:lstStyle/>
                    <a:p>
                      <a:pPr algn="ctr">
                        <a:lnSpc>
                          <a:spcPct val="92000"/>
                        </a:lnSpc>
                      </a:pPr>
                      <a:r>
                        <a:rPr sz="900" b="0">
                          <a:solidFill>
                            <a:srgbClr val="1F3B63"/>
                          </a:solidFill>
                        </a:rPr>
                        <a:t>Morphine</a:t>
                      </a:r>
                    </a:p>
                  </a:txBody>
                  <a:tcPr anchor="ctr" marL="54864" marR="54864" marT="18288" marB="18288">
                    <a:solidFill>
                      <a:srgbClr val="EEF3F9"/>
                    </a:solidFill>
                  </a:tcPr>
                </a:tc>
                <a:tc>
                  <a:txBody>
                    <a:bodyPr/>
                    <a:lstStyle/>
                    <a:p>
                      <a:pPr algn="l">
                        <a:lnSpc>
                          <a:spcPct val="92000"/>
                        </a:lnSpc>
                      </a:pPr>
                      <a:r>
                        <a:rPr sz="900" b="0">
                          <a:solidFill>
                            <a:srgbClr val="1F3B63"/>
                          </a:solidFill>
                        </a:rPr>
                        <a:t>As currently run. Day 18 = last morphine</a:t>
                      </a:r>
                    </a:p>
                  </a:txBody>
                  <a:tcPr anchor="ctr" marL="54864" marR="54864" marT="18288" marB="18288">
                    <a:solidFill>
                      <a:srgbClr val="EEF3F9"/>
                    </a:solidFill>
                  </a:tcPr>
                </a:tc>
              </a:tr>
              <a:tr h="274320">
                <a:tc>
                  <a:txBody>
                    <a:bodyPr/>
                    <a:lstStyle/>
                    <a:p>
                      <a:pPr algn="ctr">
                        <a:lnSpc>
                          <a:spcPct val="92000"/>
                        </a:lnSpc>
                      </a:pPr>
                      <a:r>
                        <a:rPr sz="900" b="0">
                          <a:solidFill>
                            <a:srgbClr val="1F3B63"/>
                          </a:solidFill>
                        </a:rPr>
                        <a:t>19-31</a:t>
                      </a:r>
                    </a:p>
                  </a:txBody>
                  <a:tcPr anchor="ctr" marL="54864" marR="54864" marT="18288" marB="18288">
                    <a:solidFill>
                      <a:srgbClr val="FFFFFF"/>
                    </a:solidFill>
                  </a:tcPr>
                </a:tc>
                <a:tc>
                  <a:txBody>
                    <a:bodyPr/>
                    <a:lstStyle/>
                    <a:p>
                      <a:pPr algn="l">
                        <a:lnSpc>
                          <a:spcPct val="92000"/>
                        </a:lnSpc>
                      </a:pPr>
                      <a:r>
                        <a:rPr sz="900" b="0">
                          <a:solidFill>
                            <a:srgbClr val="1F3B63"/>
                          </a:solidFill>
                        </a:rPr>
                        <a:t>Forced abstinence, home cage</a:t>
                      </a:r>
                    </a:p>
                  </a:txBody>
                  <a:tcPr anchor="ctr" marL="54864" marR="54864" marT="18288" marB="18288">
                    <a:solidFill>
                      <a:srgbClr val="FFFFFF"/>
                    </a:solidFill>
                  </a:tcPr>
                </a:tc>
                <a:tc>
                  <a:txBody>
                    <a:bodyPr/>
                    <a:lstStyle/>
                    <a:p>
                      <a:pPr algn="ctr">
                        <a:lnSpc>
                          <a:spcPct val="92000"/>
                        </a:lnSpc>
                      </a:pPr>
                      <a:r>
                        <a:rPr sz="900" b="0">
                          <a:solidFill>
                            <a:srgbClr val="1F3B63"/>
                          </a:solidFill>
                        </a:rPr>
                        <a:t>—</a:t>
                      </a:r>
                    </a:p>
                  </a:txBody>
                  <a:tcPr anchor="ctr" marL="54864" marR="54864" marT="18288" marB="18288">
                    <a:solidFill>
                      <a:srgbClr val="FFFFFF"/>
                    </a:solidFill>
                  </a:tcPr>
                </a:tc>
                <a:tc>
                  <a:txBody>
                    <a:bodyPr/>
                    <a:lstStyle/>
                    <a:p>
                      <a:pPr algn="l">
                        <a:lnSpc>
                          <a:spcPct val="92000"/>
                        </a:lnSpc>
                      </a:pPr>
                      <a:r>
                        <a:rPr sz="900" b="0">
                          <a:solidFill>
                            <a:srgbClr val="1F3B63"/>
                          </a:solidFill>
                        </a:rPr>
                        <a:t>hM4Di matures (19 days post-4-OHT by day 31) and craving incubates</a:t>
                      </a:r>
                    </a:p>
                  </a:txBody>
                  <a:tcPr anchor="ctr" marL="54864" marR="54864" marT="18288" marB="18288">
                    <a:solidFill>
                      <a:srgbClr val="FFFFFF"/>
                    </a:solidFill>
                  </a:tcPr>
                </a:tc>
              </a:tr>
              <a:tr h="274320">
                <a:tc>
                  <a:txBody>
                    <a:bodyPr/>
                    <a:lstStyle/>
                    <a:p>
                      <a:pPr algn="ctr">
                        <a:lnSpc>
                          <a:spcPct val="92000"/>
                        </a:lnSpc>
                      </a:pPr>
                      <a:r>
                        <a:rPr sz="900" b="0">
                          <a:solidFill>
                            <a:srgbClr val="1F3B63"/>
                          </a:solidFill>
                        </a:rPr>
                        <a:t>32</a:t>
                      </a:r>
                    </a:p>
                  </a:txBody>
                  <a:tcPr anchor="ctr" marL="54864" marR="54864" marT="18288" marB="18288">
                    <a:solidFill>
                      <a:srgbClr val="D8ECD8"/>
                    </a:solidFill>
                  </a:tcPr>
                </a:tc>
                <a:tc>
                  <a:txBody>
                    <a:bodyPr/>
                    <a:lstStyle/>
                    <a:p>
                      <a:pPr algn="l">
                        <a:lnSpc>
                          <a:spcPct val="92000"/>
                        </a:lnSpc>
                      </a:pPr>
                      <a:r>
                        <a:rPr sz="900" b="0">
                          <a:solidFill>
                            <a:srgbClr val="1F3B63"/>
                          </a:solidFill>
                        </a:rPr>
                        <a:t>TEST 1 — cue-induced seeking, no morphine</a:t>
                      </a:r>
                    </a:p>
                  </a:txBody>
                  <a:tcPr anchor="ctr" marL="54864" marR="54864" marT="18288" marB="18288">
                    <a:solidFill>
                      <a:srgbClr val="D8ECD8"/>
                    </a:solidFill>
                  </a:tcPr>
                </a:tc>
                <a:tc>
                  <a:txBody>
                    <a:bodyPr/>
                    <a:lstStyle/>
                    <a:p>
                      <a:pPr algn="ctr">
                        <a:lnSpc>
                          <a:spcPct val="92000"/>
                        </a:lnSpc>
                      </a:pPr>
                      <a:r>
                        <a:rPr sz="900" b="0">
                          <a:solidFill>
                            <a:srgbClr val="1F3B63"/>
                          </a:solidFill>
                        </a:rPr>
                        <a:t>—</a:t>
                      </a:r>
                    </a:p>
                  </a:txBody>
                  <a:tcPr anchor="ctr" marL="54864" marR="54864" marT="18288" marB="18288">
                    <a:solidFill>
                      <a:srgbClr val="D8ECD8"/>
                    </a:solidFill>
                  </a:tcPr>
                </a:tc>
                <a:tc>
                  <a:txBody>
                    <a:bodyPr/>
                    <a:lstStyle/>
                    <a:p>
                      <a:pPr algn="l">
                        <a:lnSpc>
                          <a:spcPct val="92000"/>
                        </a:lnSpc>
                      </a:pPr>
                      <a:r>
                        <a:rPr sz="900" b="0">
                          <a:solidFill>
                            <a:srgbClr val="1F3B63"/>
                          </a:solidFill>
                        </a:rPr>
                        <a:t>DCZ or vehicle 15 min before. Withdrawal day 14. Primary endpoint</a:t>
                      </a:r>
                    </a:p>
                  </a:txBody>
                  <a:tcPr anchor="ctr" marL="54864" marR="54864" marT="18288" marB="18288">
                    <a:solidFill>
                      <a:srgbClr val="D8ECD8"/>
                    </a:solidFill>
                  </a:tcPr>
                </a:tc>
              </a:tr>
              <a:tr h="274320">
                <a:tc>
                  <a:txBody>
                    <a:bodyPr/>
                    <a:lstStyle/>
                    <a:p>
                      <a:pPr algn="ctr">
                        <a:lnSpc>
                          <a:spcPct val="92000"/>
                        </a:lnSpc>
                      </a:pPr>
                      <a:r>
                        <a:rPr sz="900" b="0">
                          <a:solidFill>
                            <a:srgbClr val="1F3B63"/>
                          </a:solidFill>
                        </a:rPr>
                        <a:t>34</a:t>
                      </a:r>
                    </a:p>
                  </a:txBody>
                  <a:tcPr anchor="ctr" marL="54864" marR="54864" marT="18288" marB="18288">
                    <a:solidFill>
                      <a:srgbClr val="D8ECD8"/>
                    </a:solidFill>
                  </a:tcPr>
                </a:tc>
                <a:tc>
                  <a:txBody>
                    <a:bodyPr/>
                    <a:lstStyle/>
                    <a:p>
                      <a:pPr algn="l">
                        <a:lnSpc>
                          <a:spcPct val="92000"/>
                        </a:lnSpc>
                      </a:pPr>
                      <a:r>
                        <a:rPr sz="900" b="0">
                          <a:solidFill>
                            <a:srgbClr val="1F3B63"/>
                          </a:solidFill>
                        </a:rPr>
                        <a:t>TEST 2 — same test, treatment crossed over</a:t>
                      </a:r>
                    </a:p>
                  </a:txBody>
                  <a:tcPr anchor="ctr" marL="54864" marR="54864" marT="18288" marB="18288">
                    <a:solidFill>
                      <a:srgbClr val="D8ECD8"/>
                    </a:solidFill>
                  </a:tcPr>
                </a:tc>
                <a:tc>
                  <a:txBody>
                    <a:bodyPr/>
                    <a:lstStyle/>
                    <a:p>
                      <a:pPr algn="ctr">
                        <a:lnSpc>
                          <a:spcPct val="92000"/>
                        </a:lnSpc>
                      </a:pPr>
                      <a:r>
                        <a:rPr sz="900" b="0">
                          <a:solidFill>
                            <a:srgbClr val="1F3B63"/>
                          </a:solidFill>
                        </a:rPr>
                        <a:t>—</a:t>
                      </a:r>
                    </a:p>
                  </a:txBody>
                  <a:tcPr anchor="ctr" marL="54864" marR="54864" marT="18288" marB="18288">
                    <a:solidFill>
                      <a:srgbClr val="D8ECD8"/>
                    </a:solidFill>
                  </a:tcPr>
                </a:tc>
                <a:tc>
                  <a:txBody>
                    <a:bodyPr/>
                    <a:lstStyle/>
                    <a:p>
                      <a:pPr algn="l">
                        <a:lnSpc>
                          <a:spcPct val="92000"/>
                        </a:lnSpc>
                      </a:pPr>
                      <a:r>
                        <a:rPr sz="900" b="0">
                          <a:solidFill>
                            <a:srgbClr val="1F3B63"/>
                          </a:solidFill>
                        </a:rPr>
                        <a:t>48 h washout is ample for DCZ</a:t>
                      </a:r>
                    </a:p>
                  </a:txBody>
                  <a:tcPr anchor="ctr" marL="54864" marR="54864" marT="18288" marB="18288">
                    <a:solidFill>
                      <a:srgbClr val="D8ECD8"/>
                    </a:solidFill>
                  </a:tcPr>
                </a:tc>
              </a:tr>
              <a:tr h="274320">
                <a:tc>
                  <a:txBody>
                    <a:bodyPr/>
                    <a:lstStyle/>
                    <a:p>
                      <a:pPr algn="ctr">
                        <a:lnSpc>
                          <a:spcPct val="92000"/>
                        </a:lnSpc>
                      </a:pPr>
                      <a:r>
                        <a:rPr sz="900" b="0">
                          <a:solidFill>
                            <a:srgbClr val="1F3B63"/>
                          </a:solidFill>
                        </a:rPr>
                        <a:t>36</a:t>
                      </a:r>
                    </a:p>
                  </a:txBody>
                  <a:tcPr anchor="ctr" marL="54864" marR="54864" marT="18288" marB="18288">
                    <a:solidFill>
                      <a:srgbClr val="D8ECD8"/>
                    </a:solidFill>
                  </a:tcPr>
                </a:tc>
                <a:tc>
                  <a:txBody>
                    <a:bodyPr/>
                    <a:lstStyle/>
                    <a:p>
                      <a:pPr algn="l">
                        <a:lnSpc>
                          <a:spcPct val="92000"/>
                        </a:lnSpc>
                      </a:pPr>
                      <a:r>
                        <a:rPr sz="900" b="0">
                          <a:solidFill>
                            <a:srgbClr val="1F3B63"/>
                          </a:solidFill>
                        </a:rPr>
                        <a:t>SPECIFICITY — water or sucrose PR under DCZ</a:t>
                      </a:r>
                    </a:p>
                  </a:txBody>
                  <a:tcPr anchor="ctr" marL="54864" marR="54864" marT="18288" marB="18288">
                    <a:solidFill>
                      <a:srgbClr val="D8ECD8"/>
                    </a:solidFill>
                  </a:tcPr>
                </a:tc>
                <a:tc>
                  <a:txBody>
                    <a:bodyPr/>
                    <a:lstStyle/>
                    <a:p>
                      <a:pPr algn="ctr">
                        <a:lnSpc>
                          <a:spcPct val="92000"/>
                        </a:lnSpc>
                      </a:pPr>
                      <a:r>
                        <a:rPr sz="900" b="0">
                          <a:solidFill>
                            <a:srgbClr val="1F3B63"/>
                          </a:solidFill>
                        </a:rPr>
                        <a:t>Water</a:t>
                      </a:r>
                    </a:p>
                  </a:txBody>
                  <a:tcPr anchor="ctr" marL="54864" marR="54864" marT="18288" marB="18288">
                    <a:solidFill>
                      <a:srgbClr val="D8ECD8"/>
                    </a:solidFill>
                  </a:tcPr>
                </a:tc>
                <a:tc>
                  <a:txBody>
                    <a:bodyPr/>
                    <a:lstStyle/>
                    <a:p>
                      <a:pPr algn="l">
                        <a:lnSpc>
                          <a:spcPct val="92000"/>
                        </a:lnSpc>
                      </a:pPr>
                      <a:r>
                        <a:rPr sz="900" b="0">
                          <a:solidFill>
                            <a:srgbClr val="1F3B63"/>
                          </a:solidFill>
                        </a:rPr>
                        <a:t>Shows the effect is not general motivation</a:t>
                      </a:r>
                    </a:p>
                  </a:txBody>
                  <a:tcPr anchor="ctr" marL="54864" marR="54864" marT="18288" marB="18288">
                    <a:solidFill>
                      <a:srgbClr val="D8ECD8"/>
                    </a:solidFill>
                  </a:tcPr>
                </a:tc>
              </a:tr>
              <a:tr h="274320">
                <a:tc>
                  <a:txBody>
                    <a:bodyPr/>
                    <a:lstStyle/>
                    <a:p>
                      <a:pPr algn="ctr">
                        <a:lnSpc>
                          <a:spcPct val="92000"/>
                        </a:lnSpc>
                      </a:pPr>
                      <a:r>
                        <a:rPr sz="900" b="0">
                          <a:solidFill>
                            <a:srgbClr val="1F3B63"/>
                          </a:solidFill>
                        </a:rPr>
                        <a:t>38</a:t>
                      </a:r>
                    </a:p>
                  </a:txBody>
                  <a:tcPr anchor="ctr" marL="54864" marR="54864" marT="18288" marB="18288">
                    <a:solidFill>
                      <a:srgbClr val="D8ECD8"/>
                    </a:solidFill>
                  </a:tcPr>
                </a:tc>
                <a:tc>
                  <a:txBody>
                    <a:bodyPr/>
                    <a:lstStyle/>
                    <a:p>
                      <a:pPr algn="l">
                        <a:lnSpc>
                          <a:spcPct val="92000"/>
                        </a:lnSpc>
                      </a:pPr>
                      <a:r>
                        <a:rPr sz="900" b="0">
                          <a:solidFill>
                            <a:srgbClr val="1F3B63"/>
                          </a:solidFill>
                        </a:rPr>
                        <a:t>MOTOR — locomotion / open field under DCZ</a:t>
                      </a:r>
                    </a:p>
                  </a:txBody>
                  <a:tcPr anchor="ctr" marL="54864" marR="54864" marT="18288" marB="18288">
                    <a:solidFill>
                      <a:srgbClr val="D8ECD8"/>
                    </a:solidFill>
                  </a:tcPr>
                </a:tc>
                <a:tc>
                  <a:txBody>
                    <a:bodyPr/>
                    <a:lstStyle/>
                    <a:p>
                      <a:pPr algn="ctr">
                        <a:lnSpc>
                          <a:spcPct val="92000"/>
                        </a:lnSpc>
                      </a:pPr>
                      <a:r>
                        <a:rPr sz="900" b="0">
                          <a:solidFill>
                            <a:srgbClr val="1F3B63"/>
                          </a:solidFill>
                        </a:rPr>
                        <a:t>—</a:t>
                      </a:r>
                    </a:p>
                  </a:txBody>
                  <a:tcPr anchor="ctr" marL="54864" marR="54864" marT="18288" marB="18288">
                    <a:solidFill>
                      <a:srgbClr val="D8ECD8"/>
                    </a:solidFill>
                  </a:tcPr>
                </a:tc>
                <a:tc>
                  <a:txBody>
                    <a:bodyPr/>
                    <a:lstStyle/>
                    <a:p>
                      <a:pPr algn="l">
                        <a:lnSpc>
                          <a:spcPct val="92000"/>
                        </a:lnSpc>
                      </a:pPr>
                      <a:r>
                        <a:rPr sz="900" b="0">
                          <a:solidFill>
                            <a:srgbClr val="1F3B63"/>
                          </a:solidFill>
                        </a:rPr>
                        <a:t>Rules out a movement confound</a:t>
                      </a:r>
                    </a:p>
                  </a:txBody>
                  <a:tcPr anchor="ctr" marL="54864" marR="54864" marT="18288" marB="18288">
                    <a:solidFill>
                      <a:srgbClr val="D8ECD8"/>
                    </a:solidFill>
                  </a:tcPr>
                </a:tc>
              </a:tr>
              <a:tr h="274320">
                <a:tc>
                  <a:txBody>
                    <a:bodyPr/>
                    <a:lstStyle/>
                    <a:p>
                      <a:pPr algn="ctr">
                        <a:lnSpc>
                          <a:spcPct val="92000"/>
                        </a:lnSpc>
                      </a:pPr>
                      <a:r>
                        <a:rPr sz="900" b="0">
                          <a:solidFill>
                            <a:srgbClr val="1F3B63"/>
                          </a:solidFill>
                        </a:rPr>
                        <a:t>40</a:t>
                      </a:r>
                    </a:p>
                  </a:txBody>
                  <a:tcPr anchor="ctr" marL="54864" marR="54864" marT="18288" marB="18288">
                    <a:solidFill>
                      <a:srgbClr val="EEF3F9"/>
                    </a:solidFill>
                  </a:tcPr>
                </a:tc>
                <a:tc>
                  <a:txBody>
                    <a:bodyPr/>
                    <a:lstStyle/>
                    <a:p>
                      <a:pPr algn="l">
                        <a:lnSpc>
                          <a:spcPct val="92000"/>
                        </a:lnSpc>
                      </a:pPr>
                      <a:r>
                        <a:rPr sz="900" b="0">
                          <a:solidFill>
                            <a:srgbClr val="1F3B63"/>
                          </a:solidFill>
                        </a:rPr>
                        <a:t>Final session, sacrifice 90 min later</a:t>
                      </a:r>
                    </a:p>
                  </a:txBody>
                  <a:tcPr anchor="ctr" marL="54864" marR="54864" marT="18288" marB="18288">
                    <a:solidFill>
                      <a:srgbClr val="EEF3F9"/>
                    </a:solidFill>
                  </a:tcPr>
                </a:tc>
                <a:tc>
                  <a:txBody>
                    <a:bodyPr/>
                    <a:lstStyle/>
                    <a:p>
                      <a:pPr algn="ctr">
                        <a:lnSpc>
                          <a:spcPct val="92000"/>
                        </a:lnSpc>
                      </a:pPr>
                      <a:r>
                        <a:rPr sz="900" b="0">
                          <a:solidFill>
                            <a:srgbClr val="1F3B63"/>
                          </a:solidFill>
                        </a:rPr>
                        <a:t>—</a:t>
                      </a:r>
                    </a:p>
                  </a:txBody>
                  <a:tcPr anchor="ctr" marL="54864" marR="54864" marT="18288" marB="18288">
                    <a:solidFill>
                      <a:srgbClr val="EEF3F9"/>
                    </a:solidFill>
                  </a:tcPr>
                </a:tc>
                <a:tc>
                  <a:txBody>
                    <a:bodyPr/>
                    <a:lstStyle/>
                    <a:p>
                      <a:pPr algn="l">
                        <a:lnSpc>
                          <a:spcPct val="92000"/>
                        </a:lnSpc>
                      </a:pPr>
                      <a:r>
                        <a:rPr sz="900" b="0">
                          <a:solidFill>
                            <a:srgbClr val="1F3B63"/>
                          </a:solidFill>
                        </a:rPr>
                        <a:t>Histology: placement, tdTomato ∩ hM4Di overlap, Fos suppression</a:t>
                      </a:r>
                    </a:p>
                  </a:txBody>
                  <a:tcPr anchor="ctr" marL="54864" marR="54864" marT="18288" marB="18288">
                    <a:solidFill>
                      <a:srgbClr val="EEF3F9"/>
                    </a:solidFill>
                  </a:tcPr>
                </a:tc>
              </a:tr>
            </a:tbl>
          </a:graphicData>
        </a:graphic>
      </p:graphicFrame>
      <p:sp>
        <p:nvSpPr>
          <p:cNvPr id="7" name="TextBox 6"/>
          <p:cNvSpPr txBox="1"/>
          <p:nvPr/>
        </p:nvSpPr>
        <p:spPr>
          <a:xfrm>
            <a:off x="7680960" y="1280160"/>
            <a:ext cx="4005072" cy="256032"/>
          </a:xfrm>
          <a:prstGeom prst="rect">
            <a:avLst/>
          </a:prstGeom>
          <a:noFill/>
        </p:spPr>
        <p:txBody>
          <a:bodyPr wrap="square">
            <a:spAutoFit/>
          </a:bodyPr>
          <a:lstStyle/>
          <a:p>
            <a:pPr>
              <a:lnSpc>
                <a:spcPct val="95000"/>
              </a:lnSpc>
              <a:spcAft>
                <a:spcPts val="400"/>
              </a:spcAft>
            </a:pPr>
            <a:r>
              <a:rPr sz="1200" b="1">
                <a:solidFill>
                  <a:srgbClr val="1F3B63"/>
                </a:solidFill>
              </a:rPr>
              <a:t>Same picture as one timeline</a:t>
            </a:r>
          </a:p>
        </p:txBody>
      </p:sp>
      <p:sp>
        <p:nvSpPr>
          <p:cNvPr id="8" name="Rectangle 7"/>
          <p:cNvSpPr/>
          <p:nvPr/>
        </p:nvSpPr>
        <p:spPr>
          <a:xfrm>
            <a:off x="7680960" y="2148840"/>
            <a:ext cx="364097" cy="566928"/>
          </a:xfrm>
          <a:prstGeom prst="rect">
            <a:avLst/>
          </a:prstGeom>
          <a:solidFill>
            <a:srgbClr val="1F3B6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800" b="1">
                <a:solidFill>
                  <a:srgbClr val="FFFFFF"/>
                </a:solidFill>
              </a:rPr>
              <a:t>AAV</a:t>
            </a:r>
          </a:p>
          <a:p>
            <a:pPr algn="ctr">
              <a:lnSpc>
                <a:spcPct val="85000"/>
              </a:lnSpc>
            </a:pPr>
            <a:r>
              <a:rPr sz="800" b="1">
                <a:solidFill>
                  <a:srgbClr val="FFFFFF"/>
                </a:solidFill>
              </a:rPr>
              <a:t>−14</a:t>
            </a:r>
          </a:p>
        </p:txBody>
      </p:sp>
      <p:sp>
        <p:nvSpPr>
          <p:cNvPr id="9" name="Rectangle 8"/>
          <p:cNvSpPr/>
          <p:nvPr/>
        </p:nvSpPr>
        <p:spPr>
          <a:xfrm>
            <a:off x="8045057" y="2148840"/>
            <a:ext cx="182048" cy="566928"/>
          </a:xfrm>
          <a:prstGeom prst="rect">
            <a:avLst/>
          </a:prstGeom>
          <a:solidFill>
            <a:srgbClr val="B7B7B7"/>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800" b="1">
                <a:solidFill>
                  <a:srgbClr val="1F3B63"/>
                </a:solidFill>
              </a:rPr>
              <a:t>FR</a:t>
            </a:r>
          </a:p>
          <a:p>
            <a:pPr algn="ctr">
              <a:lnSpc>
                <a:spcPct val="85000"/>
              </a:lnSpc>
            </a:pPr>
            <a:r>
              <a:rPr sz="800" b="1">
                <a:solidFill>
                  <a:srgbClr val="1F3B63"/>
                </a:solidFill>
              </a:rPr>
              <a:t>1-2</a:t>
            </a:r>
          </a:p>
        </p:txBody>
      </p:sp>
      <p:sp>
        <p:nvSpPr>
          <p:cNvPr id="10" name="Rectangle 9"/>
          <p:cNvSpPr/>
          <p:nvPr/>
        </p:nvSpPr>
        <p:spPr>
          <a:xfrm>
            <a:off x="8227105" y="2148840"/>
            <a:ext cx="273073" cy="566928"/>
          </a:xfrm>
          <a:prstGeom prst="rect">
            <a:avLst/>
          </a:prstGeom>
          <a:solidFill>
            <a:srgbClr val="7AA6C2"/>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800" b="1">
                <a:solidFill>
                  <a:srgbClr val="1F3B63"/>
                </a:solidFill>
              </a:rPr>
              <a:t>Pre</a:t>
            </a:r>
          </a:p>
        </p:txBody>
      </p:sp>
      <p:sp>
        <p:nvSpPr>
          <p:cNvPr id="11" name="Rectangle 10"/>
          <p:cNvSpPr/>
          <p:nvPr/>
        </p:nvSpPr>
        <p:spPr>
          <a:xfrm>
            <a:off x="8500178" y="2148840"/>
            <a:ext cx="455121" cy="566928"/>
          </a:xfrm>
          <a:prstGeom prst="rect">
            <a:avLst/>
          </a:prstGeom>
          <a:solidFill>
            <a:srgbClr val="C0504D"/>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800" b="1">
                <a:solidFill>
                  <a:srgbClr val="FFFFFF"/>
                </a:solidFill>
              </a:rPr>
              <a:t>During</a:t>
            </a:r>
          </a:p>
        </p:txBody>
      </p:sp>
      <p:sp>
        <p:nvSpPr>
          <p:cNvPr id="12" name="Rectangle 11"/>
          <p:cNvSpPr/>
          <p:nvPr/>
        </p:nvSpPr>
        <p:spPr>
          <a:xfrm>
            <a:off x="8955299" y="2148840"/>
            <a:ext cx="273073" cy="566928"/>
          </a:xfrm>
          <a:prstGeom prst="rect">
            <a:avLst/>
          </a:prstGeom>
          <a:solidFill>
            <a:srgbClr val="C0504D"/>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800" b="1">
                <a:solidFill>
                  <a:srgbClr val="FFFFFF"/>
                </a:solidFill>
              </a:rPr>
              <a:t>Post</a:t>
            </a:r>
          </a:p>
        </p:txBody>
      </p:sp>
      <p:sp>
        <p:nvSpPr>
          <p:cNvPr id="13" name="Rectangle 12"/>
          <p:cNvSpPr/>
          <p:nvPr/>
        </p:nvSpPr>
        <p:spPr>
          <a:xfrm>
            <a:off x="9228372" y="2148840"/>
            <a:ext cx="273073" cy="566928"/>
          </a:xfrm>
          <a:prstGeom prst="rect">
            <a:avLst/>
          </a:prstGeom>
          <a:solidFill>
            <a:srgbClr val="7AA6C2"/>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800" b="1">
                <a:solidFill>
                  <a:srgbClr val="1F3B63"/>
                </a:solidFill>
              </a:rPr>
              <a:t>W/D</a:t>
            </a:r>
          </a:p>
        </p:txBody>
      </p:sp>
      <p:sp>
        <p:nvSpPr>
          <p:cNvPr id="14" name="Rectangle 13"/>
          <p:cNvSpPr/>
          <p:nvPr/>
        </p:nvSpPr>
        <p:spPr>
          <a:xfrm>
            <a:off x="9501445" y="2148840"/>
            <a:ext cx="182048" cy="566928"/>
          </a:xfrm>
          <a:prstGeom prst="rect">
            <a:avLst/>
          </a:prstGeom>
          <a:solidFill>
            <a:srgbClr val="C0504D"/>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800" b="1">
                <a:solidFill>
                  <a:srgbClr val="FFFFFF"/>
                </a:solidFill>
              </a:rPr>
              <a:t>Re</a:t>
            </a:r>
          </a:p>
        </p:txBody>
      </p:sp>
      <p:sp>
        <p:nvSpPr>
          <p:cNvPr id="15" name="Rectangle 14"/>
          <p:cNvSpPr/>
          <p:nvPr/>
        </p:nvSpPr>
        <p:spPr>
          <a:xfrm>
            <a:off x="9683493" y="2148840"/>
            <a:ext cx="1183316" cy="566928"/>
          </a:xfrm>
          <a:prstGeom prst="rect">
            <a:avLst/>
          </a:prstGeom>
          <a:solidFill>
            <a:srgbClr val="D9D2E9"/>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800" b="1">
                <a:solidFill>
                  <a:srgbClr val="1F3B63"/>
                </a:solidFill>
              </a:rPr>
              <a:t>abstinence 19-31</a:t>
            </a:r>
          </a:p>
        </p:txBody>
      </p:sp>
      <p:sp>
        <p:nvSpPr>
          <p:cNvPr id="16" name="Rectangle 15"/>
          <p:cNvSpPr/>
          <p:nvPr/>
        </p:nvSpPr>
        <p:spPr>
          <a:xfrm>
            <a:off x="10866809" y="2148840"/>
            <a:ext cx="819219" cy="566928"/>
          </a:xfrm>
          <a:prstGeom prst="rect">
            <a:avLst/>
          </a:prstGeom>
          <a:solidFill>
            <a:srgbClr val="1E6F3C"/>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85000"/>
              </a:lnSpc>
            </a:pPr>
            <a:r>
              <a:rPr sz="800" b="1">
                <a:solidFill>
                  <a:srgbClr val="FFFFFF"/>
                </a:solidFill>
              </a:rPr>
              <a:t>tests</a:t>
            </a:r>
          </a:p>
          <a:p>
            <a:pPr algn="ctr">
              <a:lnSpc>
                <a:spcPct val="85000"/>
              </a:lnSpc>
            </a:pPr>
            <a:r>
              <a:rPr sz="800" b="1">
                <a:solidFill>
                  <a:srgbClr val="FFFFFF"/>
                </a:solidFill>
              </a:rPr>
              <a:t>32-40</a:t>
            </a:r>
          </a:p>
        </p:txBody>
      </p:sp>
      <p:sp>
        <p:nvSpPr>
          <p:cNvPr id="17" name="Rectangle 16"/>
          <p:cNvSpPr/>
          <p:nvPr/>
        </p:nvSpPr>
        <p:spPr>
          <a:xfrm>
            <a:off x="9080837" y="2715768"/>
            <a:ext cx="22000" cy="118872"/>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1757" y="2834640"/>
            <a:ext cx="1280160" cy="384048"/>
          </a:xfrm>
          <a:prstGeom prst="rect">
            <a:avLst/>
          </a:prstGeom>
          <a:noFill/>
        </p:spPr>
        <p:txBody>
          <a:bodyPr wrap="square">
            <a:spAutoFit/>
          </a:bodyPr>
          <a:lstStyle/>
          <a:p>
            <a:pPr algn="ctr">
              <a:lnSpc>
                <a:spcPct val="85000"/>
              </a:lnSpc>
            </a:pPr>
            <a:r>
              <a:rPr sz="900" b="1">
                <a:solidFill>
                  <a:srgbClr val="B31B1B"/>
                </a:solidFill>
              </a:rPr>
              <a:t>4-OHT</a:t>
            </a:r>
          </a:p>
          <a:p>
            <a:pPr algn="ctr">
              <a:lnSpc>
                <a:spcPct val="85000"/>
              </a:lnSpc>
            </a:pPr>
            <a:r>
              <a:rPr sz="900" b="1">
                <a:solidFill>
                  <a:srgbClr val="B31B1B"/>
                </a:solidFill>
              </a:rPr>
              <a:t>day 12</a:t>
            </a:r>
          </a:p>
        </p:txBody>
      </p:sp>
      <p:sp>
        <p:nvSpPr>
          <p:cNvPr id="19" name="Rectangle 18"/>
          <p:cNvSpPr/>
          <p:nvPr/>
        </p:nvSpPr>
        <p:spPr>
          <a:xfrm>
            <a:off x="10855812" y="2715768"/>
            <a:ext cx="22000" cy="118872"/>
          </a:xfrm>
          <a:prstGeom prst="rect">
            <a:avLst/>
          </a:prstGeom>
          <a:solidFill>
            <a:srgbClr val="1E6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26732" y="2834640"/>
            <a:ext cx="1280160" cy="384048"/>
          </a:xfrm>
          <a:prstGeom prst="rect">
            <a:avLst/>
          </a:prstGeom>
          <a:noFill/>
        </p:spPr>
        <p:txBody>
          <a:bodyPr wrap="square">
            <a:spAutoFit/>
          </a:bodyPr>
          <a:lstStyle/>
          <a:p>
            <a:pPr algn="ctr">
              <a:lnSpc>
                <a:spcPct val="85000"/>
              </a:lnSpc>
            </a:pPr>
            <a:r>
              <a:rPr sz="900" b="1">
                <a:solidFill>
                  <a:srgbClr val="1E6F3C"/>
                </a:solidFill>
              </a:rPr>
              <a:t>DCZ test 1</a:t>
            </a:r>
          </a:p>
          <a:p>
            <a:pPr algn="ctr">
              <a:lnSpc>
                <a:spcPct val="85000"/>
              </a:lnSpc>
            </a:pPr>
            <a:r>
              <a:rPr sz="900" b="1">
                <a:solidFill>
                  <a:srgbClr val="1E6F3C"/>
                </a:solidFill>
              </a:rPr>
              <a:t>day 32</a:t>
            </a:r>
          </a:p>
        </p:txBody>
      </p:sp>
      <p:sp>
        <p:nvSpPr>
          <p:cNvPr id="21" name="Rectangle 20"/>
          <p:cNvSpPr/>
          <p:nvPr/>
        </p:nvSpPr>
        <p:spPr>
          <a:xfrm>
            <a:off x="7680960" y="3337560"/>
            <a:ext cx="4005072" cy="292608"/>
          </a:xfrm>
          <a:prstGeom prst="rect">
            <a:avLst/>
          </a:prstGeom>
          <a:solidFill>
            <a:srgbClr val="1E6F3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THE 20-DAY GAP IS THE POINT</a:t>
            </a:r>
          </a:p>
        </p:txBody>
      </p:sp>
      <p:sp>
        <p:nvSpPr>
          <p:cNvPr id="22" name="Rectangle 21"/>
          <p:cNvSpPr/>
          <p:nvPr/>
        </p:nvSpPr>
        <p:spPr>
          <a:xfrm>
            <a:off x="7680960" y="3630168"/>
            <a:ext cx="4005072" cy="190195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100" b="1">
                <a:solidFill>
                  <a:srgbClr val="1F3B63"/>
                </a:solidFill>
              </a:rPr>
              <a:t>Day 12 (4-OHT) to day 32 (first test) = 20 days.</a:t>
            </a:r>
          </a:p>
          <a:p>
            <a:pPr algn="l">
              <a:lnSpc>
                <a:spcPct val="97000"/>
              </a:lnSpc>
              <a:spcAft>
                <a:spcPts val="500"/>
              </a:spcAft>
            </a:pPr>
            <a:r>
              <a:rPr sz="1100" b="0">
                <a:solidFill>
                  <a:srgbClr val="595959"/>
                </a:solidFill>
              </a:rPr>
              <a:t>hM4Di needs ~14 days after tagging  →  satisfied with 6 days of margin.</a:t>
            </a:r>
          </a:p>
          <a:p>
            <a:pPr algn="l">
              <a:lnSpc>
                <a:spcPct val="97000"/>
              </a:lnSpc>
              <a:spcAft>
                <a:spcPts val="500"/>
              </a:spcAft>
            </a:pPr>
            <a:r>
              <a:rPr sz="1100" b="0">
                <a:solidFill>
                  <a:srgbClr val="595959"/>
                </a:solidFill>
              </a:rPr>
              <a:t>Your own requirement of at least 10 days after TRAP  →  satisfied.</a:t>
            </a:r>
          </a:p>
          <a:p>
            <a:pPr algn="l">
              <a:lnSpc>
                <a:spcPct val="97000"/>
              </a:lnSpc>
              <a:spcAft>
                <a:spcPts val="500"/>
              </a:spcAft>
            </a:pPr>
            <a:r>
              <a:rPr sz="1100" b="0">
                <a:solidFill>
                  <a:srgbClr val="595959"/>
                </a:solidFill>
              </a:rPr>
              <a:t>Day 32 is withdrawal day 14 from the last morphine, which is where incubated opioid seeking peaks and where OFC inactivation is known to work.</a:t>
            </a:r>
          </a:p>
          <a:p>
            <a:pPr algn="l">
              <a:lnSpc>
                <a:spcPct val="97000"/>
              </a:lnSpc>
              <a:spcAft>
                <a:spcPts val="500"/>
              </a:spcAft>
            </a:pPr>
            <a:r>
              <a:rPr sz="1100" b="1">
                <a:solidFill>
                  <a:srgbClr val="1F3B63"/>
                </a:solidFill>
              </a:rPr>
              <a:t>Days 1-18 are untouched, so the whole-brain TRAP and Xenium results still describe this cohort.</a:t>
            </a:r>
          </a:p>
        </p:txBody>
      </p:sp>
      <p:sp>
        <p:nvSpPr>
          <p:cNvPr id="23" name="Rectangle 22"/>
          <p:cNvSpPr/>
          <p:nvPr/>
        </p:nvSpPr>
        <p:spPr>
          <a:xfrm>
            <a:off x="7680960" y="5650992"/>
            <a:ext cx="146304" cy="1188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5605272"/>
            <a:ext cx="1243584" cy="219456"/>
          </a:xfrm>
          <a:prstGeom prst="rect">
            <a:avLst/>
          </a:prstGeom>
          <a:noFill/>
        </p:spPr>
        <p:txBody>
          <a:bodyPr wrap="square">
            <a:spAutoFit/>
          </a:bodyPr>
          <a:lstStyle/>
          <a:p>
            <a:pPr>
              <a:lnSpc>
                <a:spcPct val="95000"/>
              </a:lnSpc>
              <a:spcAft>
                <a:spcPts val="400"/>
              </a:spcAft>
            </a:pPr>
            <a:r>
              <a:rPr sz="900" b="0">
                <a:solidFill>
                  <a:srgbClr val="595959"/>
                </a:solidFill>
              </a:rPr>
              <a:t>morphine</a:t>
            </a:r>
          </a:p>
        </p:txBody>
      </p:sp>
      <p:sp>
        <p:nvSpPr>
          <p:cNvPr id="25" name="Rectangle 24"/>
          <p:cNvSpPr/>
          <p:nvPr/>
        </p:nvSpPr>
        <p:spPr>
          <a:xfrm>
            <a:off x="8577072" y="5650992"/>
            <a:ext cx="146304" cy="118872"/>
          </a:xfrm>
          <a:prstGeom prst="rect">
            <a:avLst/>
          </a:prstGeom>
          <a:solidFill>
            <a:srgbClr val="7AA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59952" y="5605272"/>
            <a:ext cx="914400" cy="219456"/>
          </a:xfrm>
          <a:prstGeom prst="rect">
            <a:avLst/>
          </a:prstGeom>
          <a:noFill/>
        </p:spPr>
        <p:txBody>
          <a:bodyPr wrap="square">
            <a:spAutoFit/>
          </a:bodyPr>
          <a:lstStyle/>
          <a:p>
            <a:pPr>
              <a:lnSpc>
                <a:spcPct val="95000"/>
              </a:lnSpc>
              <a:spcAft>
                <a:spcPts val="400"/>
              </a:spcAft>
            </a:pPr>
            <a:r>
              <a:rPr sz="900" b="0">
                <a:solidFill>
                  <a:srgbClr val="595959"/>
                </a:solidFill>
              </a:rPr>
              <a:t>water</a:t>
            </a:r>
          </a:p>
        </p:txBody>
      </p:sp>
      <p:sp>
        <p:nvSpPr>
          <p:cNvPr id="27" name="Rectangle 26"/>
          <p:cNvSpPr/>
          <p:nvPr/>
        </p:nvSpPr>
        <p:spPr>
          <a:xfrm>
            <a:off x="9267443" y="5650992"/>
            <a:ext cx="146304" cy="118872"/>
          </a:xfrm>
          <a:prstGeom prst="rect">
            <a:avLst/>
          </a:prstGeom>
          <a:solidFill>
            <a:srgbClr val="D9D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50323" y="5605272"/>
            <a:ext cx="1463040" cy="219456"/>
          </a:xfrm>
          <a:prstGeom prst="rect">
            <a:avLst/>
          </a:prstGeom>
          <a:noFill/>
        </p:spPr>
        <p:txBody>
          <a:bodyPr wrap="square">
            <a:spAutoFit/>
          </a:bodyPr>
          <a:lstStyle/>
          <a:p>
            <a:pPr>
              <a:lnSpc>
                <a:spcPct val="95000"/>
              </a:lnSpc>
              <a:spcAft>
                <a:spcPts val="400"/>
              </a:spcAft>
            </a:pPr>
            <a:r>
              <a:rPr sz="900" b="0">
                <a:solidFill>
                  <a:srgbClr val="595959"/>
                </a:solidFill>
              </a:rPr>
              <a:t>abstinence</a:t>
            </a:r>
          </a:p>
        </p:txBody>
      </p:sp>
      <p:sp>
        <p:nvSpPr>
          <p:cNvPr id="29" name="Rectangle 28"/>
          <p:cNvSpPr/>
          <p:nvPr/>
        </p:nvSpPr>
        <p:spPr>
          <a:xfrm>
            <a:off x="10300715" y="5650992"/>
            <a:ext cx="146304" cy="118872"/>
          </a:xfrm>
          <a:prstGeom prst="rect">
            <a:avLst/>
          </a:prstGeom>
          <a:solidFill>
            <a:srgbClr val="1E6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83595" y="5605272"/>
            <a:ext cx="804672" cy="219456"/>
          </a:xfrm>
          <a:prstGeom prst="rect">
            <a:avLst/>
          </a:prstGeom>
          <a:noFill/>
        </p:spPr>
        <p:txBody>
          <a:bodyPr wrap="square">
            <a:spAutoFit/>
          </a:bodyPr>
          <a:lstStyle/>
          <a:p>
            <a:pPr>
              <a:lnSpc>
                <a:spcPct val="95000"/>
              </a:lnSpc>
              <a:spcAft>
                <a:spcPts val="400"/>
              </a:spcAft>
            </a:pPr>
            <a:r>
              <a:rPr sz="900" b="0">
                <a:solidFill>
                  <a:srgbClr val="595959"/>
                </a:solidFill>
              </a:rPr>
              <a:t>test</a:t>
            </a:r>
          </a:p>
        </p:txBody>
      </p:sp>
      <p:sp>
        <p:nvSpPr>
          <p:cNvPr id="31" name="TextBox 30"/>
          <p:cNvSpPr txBox="1"/>
          <p:nvPr/>
        </p:nvSpPr>
        <p:spPr>
          <a:xfrm>
            <a:off x="502920" y="6473952"/>
            <a:ext cx="11185855" cy="256032"/>
          </a:xfrm>
          <a:prstGeom prst="rect">
            <a:avLst/>
          </a:prstGeom>
          <a:noFill/>
        </p:spPr>
        <p:txBody>
          <a:bodyPr wrap="square">
            <a:spAutoFit/>
          </a:bodyPr>
          <a:lstStyle/>
          <a:p>
            <a:pPr algn="l">
              <a:lnSpc>
                <a:spcPct val="95000"/>
              </a:lnSpc>
              <a:spcAft>
                <a:spcPts val="400"/>
              </a:spcAft>
            </a:pPr>
            <a:r>
              <a:rPr sz="950" b="0">
                <a:solidFill>
                  <a:srgbClr val="595959"/>
                </a:solidFill>
              </a:rPr>
              <a:t>Primary endpoints: active licks and PR breakpoint in the 1-h seeking test. Analysis: Group × Virus × Drug mixed-effects model with mouse as random intercept.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EXPERIMENT 2</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Experiment 2 — the controls a reviewer will ask for</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Each one closes a specific alternative explanation</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98448"/>
          <a:ext cx="7680959" cy="3520440"/>
        </p:xfrm>
        <a:graphic>
          <a:graphicData uri="http://schemas.openxmlformats.org/drawingml/2006/table">
            <a:tbl>
              <a:tblPr firstRow="1" bandRow="1">
                <a:tableStyleId>{5C22544A-7EE6-4342-B048-85BDC9FD1C3A}</a:tableStyleId>
              </a:tblPr>
              <a:tblGrid>
                <a:gridCol w="2207172"/>
                <a:gridCol w="4061197"/>
                <a:gridCol w="1412590"/>
              </a:tblGrid>
              <a:tr h="256032">
                <a:tc>
                  <a:txBody>
                    <a:bodyPr/>
                    <a:lstStyle/>
                    <a:p>
                      <a:pPr algn="l">
                        <a:lnSpc>
                          <a:spcPct val="92000"/>
                        </a:lnSpc>
                      </a:pPr>
                      <a:r>
                        <a:rPr sz="1100" b="1">
                          <a:solidFill>
                            <a:srgbClr val="FFFFFF"/>
                          </a:solidFill>
                        </a:rPr>
                        <a:t>Control</a:t>
                      </a:r>
                    </a:p>
                  </a:txBody>
                  <a:tcPr anchor="ctr" marL="54864" marR="54864" marT="18288" marB="18288">
                    <a:solidFill>
                      <a:srgbClr val="1F3B63"/>
                    </a:solidFill>
                  </a:tcPr>
                </a:tc>
                <a:tc>
                  <a:txBody>
                    <a:bodyPr/>
                    <a:lstStyle/>
                    <a:p>
                      <a:pPr algn="l">
                        <a:lnSpc>
                          <a:spcPct val="92000"/>
                        </a:lnSpc>
                      </a:pPr>
                      <a:r>
                        <a:rPr sz="1100" b="1">
                          <a:solidFill>
                            <a:srgbClr val="FFFFFF"/>
                          </a:solidFill>
                        </a:rPr>
                        <a:t>What it rules out</a:t>
                      </a:r>
                    </a:p>
                  </a:txBody>
                  <a:tcPr anchor="ctr" marL="54864" marR="54864" marT="18288" marB="18288">
                    <a:solidFill>
                      <a:srgbClr val="1F3B63"/>
                    </a:solidFill>
                  </a:tcPr>
                </a:tc>
                <a:tc>
                  <a:txBody>
                    <a:bodyPr/>
                    <a:lstStyle/>
                    <a:p>
                      <a:pPr algn="l">
                        <a:lnSpc>
                          <a:spcPct val="92000"/>
                        </a:lnSpc>
                      </a:pPr>
                      <a:r>
                        <a:rPr sz="1100" b="1">
                          <a:solidFill>
                            <a:srgbClr val="FFFFFF"/>
                          </a:solidFill>
                        </a:rPr>
                        <a:t>Cost</a:t>
                      </a:r>
                    </a:p>
                  </a:txBody>
                  <a:tcPr anchor="ctr" marL="54864" marR="54864" marT="18288" marB="18288">
                    <a:solidFill>
                      <a:srgbClr val="1F3B63"/>
                    </a:solidFill>
                  </a:tcPr>
                </a:tc>
              </a:tr>
              <a:tr h="466344">
                <a:tc>
                  <a:txBody>
                    <a:bodyPr/>
                    <a:lstStyle/>
                    <a:p>
                      <a:pPr algn="l">
                        <a:lnSpc>
                          <a:spcPct val="92000"/>
                        </a:lnSpc>
                      </a:pPr>
                      <a:r>
                        <a:rPr sz="1050" b="0">
                          <a:solidFill>
                            <a:srgbClr val="1F3B63"/>
                          </a:solidFill>
                        </a:rPr>
                        <a:t>AAV-DIO-mCherry + DCZ</a:t>
                      </a:r>
                    </a:p>
                  </a:txBody>
                  <a:tcPr anchor="ctr" marL="54864" marR="54864" marT="18288" marB="18288">
                    <a:solidFill>
                      <a:srgbClr val="FFFFFF"/>
                    </a:solidFill>
                  </a:tcPr>
                </a:tc>
                <a:tc>
                  <a:txBody>
                    <a:bodyPr/>
                    <a:lstStyle/>
                    <a:p>
                      <a:pPr algn="l">
                        <a:lnSpc>
                          <a:spcPct val="92000"/>
                        </a:lnSpc>
                      </a:pPr>
                      <a:r>
                        <a:rPr sz="1050" b="0">
                          <a:solidFill>
                            <a:srgbClr val="1F3B63"/>
                          </a:solidFill>
                        </a:rPr>
                        <a:t>That the ligand itself changed behaviour. This is the control that matters most and it is why I am not relying on a saline arm.</a:t>
                      </a:r>
                    </a:p>
                  </a:txBody>
                  <a:tcPr anchor="ctr" marL="54864" marR="54864" marT="18288" marB="18288">
                    <a:solidFill>
                      <a:srgbClr val="FFFFFF"/>
                    </a:solidFill>
                  </a:tcPr>
                </a:tc>
                <a:tc>
                  <a:txBody>
                    <a:bodyPr/>
                    <a:lstStyle/>
                    <a:p>
                      <a:pPr algn="l">
                        <a:lnSpc>
                          <a:spcPct val="92000"/>
                        </a:lnSpc>
                      </a:pPr>
                      <a:r>
                        <a:rPr sz="1050" b="0">
                          <a:solidFill>
                            <a:srgbClr val="1F3B63"/>
                          </a:solidFill>
                        </a:rPr>
                        <a:t>Built into the 2×2</a:t>
                      </a:r>
                    </a:p>
                  </a:txBody>
                  <a:tcPr anchor="ctr" marL="54864" marR="54864" marT="18288" marB="18288">
                    <a:solidFill>
                      <a:srgbClr val="FFFFFF"/>
                    </a:solidFill>
                  </a:tcPr>
                </a:tc>
              </a:tr>
              <a:tr h="466344">
                <a:tc>
                  <a:txBody>
                    <a:bodyPr/>
                    <a:lstStyle/>
                    <a:p>
                      <a:pPr algn="l">
                        <a:lnSpc>
                          <a:spcPct val="92000"/>
                        </a:lnSpc>
                      </a:pPr>
                      <a:r>
                        <a:rPr sz="1050" b="0">
                          <a:solidFill>
                            <a:srgbClr val="1F3B63"/>
                          </a:solidFill>
                        </a:rPr>
                        <a:t>Vehicle in hM4Di mice (crossover)</a:t>
                      </a:r>
                    </a:p>
                  </a:txBody>
                  <a:tcPr anchor="ctr" marL="54864" marR="54864" marT="18288" marB="18288">
                    <a:solidFill>
                      <a:srgbClr val="EEF3F9"/>
                    </a:solidFill>
                  </a:tcPr>
                </a:tc>
                <a:tc>
                  <a:txBody>
                    <a:bodyPr/>
                    <a:lstStyle/>
                    <a:p>
                      <a:pPr algn="l">
                        <a:lnSpc>
                          <a:spcPct val="92000"/>
                        </a:lnSpc>
                      </a:pPr>
                      <a:r>
                        <a:rPr sz="1050" b="0">
                          <a:solidFill>
                            <a:srgbClr val="1F3B63"/>
                          </a:solidFill>
                        </a:rPr>
                        <a:t>Baseline drift and order effects.</a:t>
                      </a:r>
                    </a:p>
                  </a:txBody>
                  <a:tcPr anchor="ctr" marL="54864" marR="54864" marT="18288" marB="18288">
                    <a:solidFill>
                      <a:srgbClr val="EEF3F9"/>
                    </a:solidFill>
                  </a:tcPr>
                </a:tc>
                <a:tc>
                  <a:txBody>
                    <a:bodyPr/>
                    <a:lstStyle/>
                    <a:p>
                      <a:pPr algn="l">
                        <a:lnSpc>
                          <a:spcPct val="92000"/>
                        </a:lnSpc>
                      </a:pPr>
                      <a:r>
                        <a:rPr sz="1050" b="0">
                          <a:solidFill>
                            <a:srgbClr val="1F3B63"/>
                          </a:solidFill>
                        </a:rPr>
                        <a:t>Free — within subject</a:t>
                      </a:r>
                    </a:p>
                  </a:txBody>
                  <a:tcPr anchor="ctr" marL="54864" marR="54864" marT="18288" marB="18288">
                    <a:solidFill>
                      <a:srgbClr val="EEF3F9"/>
                    </a:solidFill>
                  </a:tcPr>
                </a:tc>
              </a:tr>
              <a:tr h="466344">
                <a:tc>
                  <a:txBody>
                    <a:bodyPr/>
                    <a:lstStyle/>
                    <a:p>
                      <a:pPr algn="l">
                        <a:lnSpc>
                          <a:spcPct val="92000"/>
                        </a:lnSpc>
                      </a:pPr>
                      <a:r>
                        <a:rPr sz="1050" b="0">
                          <a:solidFill>
                            <a:srgbClr val="1F3B63"/>
                          </a:solidFill>
                        </a:rPr>
                        <a:t>No-4-OHT (oil vehicle) + AAV</a:t>
                      </a:r>
                    </a:p>
                  </a:txBody>
                  <a:tcPr anchor="ctr" marL="54864" marR="54864" marT="18288" marB="18288">
                    <a:solidFill>
                      <a:srgbClr val="FFFFFF"/>
                    </a:solidFill>
                  </a:tcPr>
                </a:tc>
                <a:tc>
                  <a:txBody>
                    <a:bodyPr/>
                    <a:lstStyle/>
                    <a:p>
                      <a:pPr algn="l">
                        <a:lnSpc>
                          <a:spcPct val="92000"/>
                        </a:lnSpc>
                      </a:pPr>
                      <a:r>
                        <a:rPr sz="1050" b="0">
                          <a:solidFill>
                            <a:srgbClr val="1F3B63"/>
                          </a:solidFill>
                        </a:rPr>
                        <a:t>Cre-independent recombination leak, i.e. hM4Di in cells that were never active.</a:t>
                      </a:r>
                    </a:p>
                  </a:txBody>
                  <a:tcPr anchor="ctr" marL="54864" marR="54864" marT="18288" marB="18288">
                    <a:solidFill>
                      <a:srgbClr val="FFFFFF"/>
                    </a:solidFill>
                  </a:tcPr>
                </a:tc>
                <a:tc>
                  <a:txBody>
                    <a:bodyPr/>
                    <a:lstStyle/>
                    <a:p>
                      <a:pPr algn="l">
                        <a:lnSpc>
                          <a:spcPct val="92000"/>
                        </a:lnSpc>
                      </a:pPr>
                      <a:r>
                        <a:rPr sz="1050" b="0">
                          <a:solidFill>
                            <a:srgbClr val="1F3B63"/>
                          </a:solidFill>
                        </a:rPr>
                        <a:t>3-4 mice, histology only</a:t>
                      </a:r>
                    </a:p>
                  </a:txBody>
                  <a:tcPr anchor="ctr" marL="54864" marR="54864" marT="18288" marB="18288">
                    <a:solidFill>
                      <a:srgbClr val="FFFFFF"/>
                    </a:solidFill>
                  </a:tcPr>
                </a:tc>
              </a:tr>
              <a:tr h="466344">
                <a:tc>
                  <a:txBody>
                    <a:bodyPr/>
                    <a:lstStyle/>
                    <a:p>
                      <a:pPr algn="l">
                        <a:lnSpc>
                          <a:spcPct val="92000"/>
                        </a:lnSpc>
                      </a:pPr>
                      <a:r>
                        <a:rPr sz="1050" b="0">
                          <a:solidFill>
                            <a:srgbClr val="1F3B63"/>
                          </a:solidFill>
                        </a:rPr>
                        <a:t>Home-cage 4-OHT, no session</a:t>
                      </a:r>
                    </a:p>
                  </a:txBody>
                  <a:tcPr anchor="ctr" marL="54864" marR="54864" marT="18288" marB="18288">
                    <a:solidFill>
                      <a:srgbClr val="EEF3F9"/>
                    </a:solidFill>
                  </a:tcPr>
                </a:tc>
                <a:tc>
                  <a:txBody>
                    <a:bodyPr/>
                    <a:lstStyle/>
                    <a:p>
                      <a:pPr algn="l">
                        <a:lnSpc>
                          <a:spcPct val="92000"/>
                        </a:lnSpc>
                      </a:pPr>
                      <a:r>
                        <a:rPr sz="1050" b="0">
                          <a:solidFill>
                            <a:srgbClr val="1F3B63"/>
                          </a:solidFill>
                        </a:rPr>
                        <a:t>That we tagged the paradigm rather than the Post state. Gives the background labelling rate to subtract.</a:t>
                      </a:r>
                    </a:p>
                  </a:txBody>
                  <a:tcPr anchor="ctr" marL="54864" marR="54864" marT="18288" marB="18288">
                    <a:solidFill>
                      <a:srgbClr val="EEF3F9"/>
                    </a:solidFill>
                  </a:tcPr>
                </a:tc>
                <a:tc>
                  <a:txBody>
                    <a:bodyPr/>
                    <a:lstStyle/>
                    <a:p>
                      <a:pPr algn="l">
                        <a:lnSpc>
                          <a:spcPct val="92000"/>
                        </a:lnSpc>
                      </a:pPr>
                      <a:r>
                        <a:rPr sz="1050" b="0">
                          <a:solidFill>
                            <a:srgbClr val="1F3B63"/>
                          </a:solidFill>
                        </a:rPr>
                        <a:t>3-4 mice, histology only</a:t>
                      </a:r>
                    </a:p>
                  </a:txBody>
                  <a:tcPr anchor="ctr" marL="54864" marR="54864" marT="18288" marB="18288">
                    <a:solidFill>
                      <a:srgbClr val="EEF3F9"/>
                    </a:solidFill>
                  </a:tcPr>
                </a:tc>
              </a:tr>
              <a:tr h="466344">
                <a:tc>
                  <a:txBody>
                    <a:bodyPr/>
                    <a:lstStyle/>
                    <a:p>
                      <a:pPr algn="l">
                        <a:lnSpc>
                          <a:spcPct val="92000"/>
                        </a:lnSpc>
                      </a:pPr>
                      <a:r>
                        <a:rPr sz="1050" b="0">
                          <a:solidFill>
                            <a:srgbClr val="1F3B63"/>
                          </a:solidFill>
                        </a:rPr>
                        <a:t>Water or sucrose PR under DCZ</a:t>
                      </a:r>
                    </a:p>
                  </a:txBody>
                  <a:tcPr anchor="ctr" marL="54864" marR="54864" marT="18288" marB="18288">
                    <a:solidFill>
                      <a:srgbClr val="FFFFFF"/>
                    </a:solidFill>
                  </a:tcPr>
                </a:tc>
                <a:tc>
                  <a:txBody>
                    <a:bodyPr/>
                    <a:lstStyle/>
                    <a:p>
                      <a:pPr algn="l">
                        <a:lnSpc>
                          <a:spcPct val="92000"/>
                        </a:lnSpc>
                      </a:pPr>
                      <a:r>
                        <a:rPr sz="1050" b="0">
                          <a:solidFill>
                            <a:srgbClr val="1F3B63"/>
                          </a:solidFill>
                        </a:rPr>
                        <a:t>A general drop in motivation or in licking ability.</a:t>
                      </a:r>
                    </a:p>
                  </a:txBody>
                  <a:tcPr anchor="ctr" marL="54864" marR="54864" marT="18288" marB="18288">
                    <a:solidFill>
                      <a:srgbClr val="FFFFFF"/>
                    </a:solidFill>
                  </a:tcPr>
                </a:tc>
                <a:tc>
                  <a:txBody>
                    <a:bodyPr/>
                    <a:lstStyle/>
                    <a:p>
                      <a:pPr algn="l">
                        <a:lnSpc>
                          <a:spcPct val="92000"/>
                        </a:lnSpc>
                      </a:pPr>
                      <a:r>
                        <a:rPr sz="1050" b="0">
                          <a:solidFill>
                            <a:srgbClr val="1F3B63"/>
                          </a:solidFill>
                        </a:rPr>
                        <a:t>One session, same mice</a:t>
                      </a:r>
                    </a:p>
                  </a:txBody>
                  <a:tcPr anchor="ctr" marL="54864" marR="54864" marT="18288" marB="18288">
                    <a:solidFill>
                      <a:srgbClr val="FFFFFF"/>
                    </a:solidFill>
                  </a:tcPr>
                </a:tc>
              </a:tr>
              <a:tr h="466344">
                <a:tc>
                  <a:txBody>
                    <a:bodyPr/>
                    <a:lstStyle/>
                    <a:p>
                      <a:pPr algn="l">
                        <a:lnSpc>
                          <a:spcPct val="92000"/>
                        </a:lnSpc>
                      </a:pPr>
                      <a:r>
                        <a:rPr sz="1050" b="0">
                          <a:solidFill>
                            <a:srgbClr val="1F3B63"/>
                          </a:solidFill>
                        </a:rPr>
                        <a:t>Locomotion under DCZ</a:t>
                      </a:r>
                    </a:p>
                  </a:txBody>
                  <a:tcPr anchor="ctr" marL="54864" marR="54864" marT="18288" marB="18288">
                    <a:solidFill>
                      <a:srgbClr val="EEF3F9"/>
                    </a:solidFill>
                  </a:tcPr>
                </a:tc>
                <a:tc>
                  <a:txBody>
                    <a:bodyPr/>
                    <a:lstStyle/>
                    <a:p>
                      <a:pPr algn="l">
                        <a:lnSpc>
                          <a:spcPct val="92000"/>
                        </a:lnSpc>
                      </a:pPr>
                      <a:r>
                        <a:rPr sz="1050" b="0">
                          <a:solidFill>
                            <a:srgbClr val="1F3B63"/>
                          </a:solidFill>
                        </a:rPr>
                        <a:t>A motor confound.</a:t>
                      </a:r>
                    </a:p>
                  </a:txBody>
                  <a:tcPr anchor="ctr" marL="54864" marR="54864" marT="18288" marB="18288">
                    <a:solidFill>
                      <a:srgbClr val="EEF3F9"/>
                    </a:solidFill>
                  </a:tcPr>
                </a:tc>
                <a:tc>
                  <a:txBody>
                    <a:bodyPr/>
                    <a:lstStyle/>
                    <a:p>
                      <a:pPr algn="l">
                        <a:lnSpc>
                          <a:spcPct val="92000"/>
                        </a:lnSpc>
                      </a:pPr>
                      <a:r>
                        <a:rPr sz="1050" b="0">
                          <a:solidFill>
                            <a:srgbClr val="1F3B63"/>
                          </a:solidFill>
                        </a:rPr>
                        <a:t>One session, same mice</a:t>
                      </a:r>
                    </a:p>
                  </a:txBody>
                  <a:tcPr anchor="ctr" marL="54864" marR="54864" marT="18288" marB="18288">
                    <a:solidFill>
                      <a:srgbClr val="EEF3F9"/>
                    </a:solidFill>
                  </a:tcPr>
                </a:tc>
              </a:tr>
              <a:tr h="466344">
                <a:tc>
                  <a:txBody>
                    <a:bodyPr/>
                    <a:lstStyle/>
                    <a:p>
                      <a:pPr algn="l">
                        <a:lnSpc>
                          <a:spcPct val="92000"/>
                        </a:lnSpc>
                      </a:pPr>
                      <a:r>
                        <a:rPr sz="1050" b="0">
                          <a:solidFill>
                            <a:srgbClr val="1F3B63"/>
                          </a:solidFill>
                        </a:rPr>
                        <a:t>Fos in hM4Di+ cells after DCZ</a:t>
                      </a:r>
                    </a:p>
                  </a:txBody>
                  <a:tcPr anchor="ctr" marL="54864" marR="54864" marT="18288" marB="18288">
                    <a:solidFill>
                      <a:srgbClr val="FFFFFF"/>
                    </a:solidFill>
                  </a:tcPr>
                </a:tc>
                <a:tc>
                  <a:txBody>
                    <a:bodyPr/>
                    <a:lstStyle/>
                    <a:p>
                      <a:pPr algn="l">
                        <a:lnSpc>
                          <a:spcPct val="92000"/>
                        </a:lnSpc>
                      </a:pPr>
                      <a:r>
                        <a:rPr sz="1050" b="0">
                          <a:solidFill>
                            <a:srgbClr val="1F3B63"/>
                          </a:solidFill>
                        </a:rPr>
                        <a:t>That we inhibited nothing. This is target engagement and without it a null result is uninterpretable.</a:t>
                      </a:r>
                    </a:p>
                  </a:txBody>
                  <a:tcPr anchor="ctr" marL="54864" marR="54864" marT="18288" marB="18288">
                    <a:solidFill>
                      <a:srgbClr val="FFFFFF"/>
                    </a:solidFill>
                  </a:tcPr>
                </a:tc>
                <a:tc>
                  <a:txBody>
                    <a:bodyPr/>
                    <a:lstStyle/>
                    <a:p>
                      <a:pPr algn="l">
                        <a:lnSpc>
                          <a:spcPct val="92000"/>
                        </a:lnSpc>
                      </a:pPr>
                      <a:r>
                        <a:rPr sz="1050" b="0">
                          <a:solidFill>
                            <a:srgbClr val="1F3B63"/>
                          </a:solidFill>
                        </a:rPr>
                        <a:t>Terminal histology</a:t>
                      </a:r>
                    </a:p>
                  </a:txBody>
                  <a:tcPr anchor="ctr" marL="54864" marR="54864" marT="18288" marB="18288">
                    <a:solidFill>
                      <a:srgbClr val="FFFFFF"/>
                    </a:solidFill>
                  </a:tcPr>
                </a:tc>
              </a:tr>
            </a:tbl>
          </a:graphicData>
        </a:graphic>
      </p:graphicFrame>
      <p:sp>
        <p:nvSpPr>
          <p:cNvPr id="7" name="Rectangle 6"/>
          <p:cNvSpPr/>
          <p:nvPr/>
        </p:nvSpPr>
        <p:spPr>
          <a:xfrm>
            <a:off x="8458200" y="1298448"/>
            <a:ext cx="3227832" cy="292608"/>
          </a:xfrm>
          <a:prstGeom prst="rect">
            <a:avLst/>
          </a:prstGeom>
          <a:solidFill>
            <a:srgbClr val="7A3E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USE DCZ, NOT CNO</a:t>
            </a:r>
          </a:p>
        </p:txBody>
      </p:sp>
      <p:sp>
        <p:nvSpPr>
          <p:cNvPr id="8" name="Rectangle 7"/>
          <p:cNvSpPr/>
          <p:nvPr/>
        </p:nvSpPr>
        <p:spPr>
          <a:xfrm>
            <a:off x="8458200" y="1591056"/>
            <a:ext cx="3227832" cy="208483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150" b="1">
                <a:solidFill>
                  <a:srgbClr val="1F3B63"/>
                </a:solidFill>
              </a:rPr>
              <a:t>CNO back-converts to clozapine in vivo, and clozapine crosses the blood-brain barrier and alters motivation on its own.</a:t>
            </a:r>
          </a:p>
          <a:p>
            <a:pPr algn="l">
              <a:lnSpc>
                <a:spcPct val="97000"/>
              </a:lnSpc>
              <a:spcAft>
                <a:spcPts val="500"/>
              </a:spcAft>
            </a:pPr>
            <a:r>
              <a:rPr sz="1150" b="0">
                <a:solidFill>
                  <a:srgbClr val="595959"/>
                </a:solidFill>
              </a:rPr>
              <a:t>In a drug-seeking assay that confound sits directly on top of the dependent variable, so it is not a risk we should take.</a:t>
            </a:r>
          </a:p>
          <a:p>
            <a:pPr algn="l">
              <a:lnSpc>
                <a:spcPct val="97000"/>
              </a:lnSpc>
              <a:spcAft>
                <a:spcPts val="500"/>
              </a:spcAft>
            </a:pPr>
            <a:r>
              <a:rPr sz="1150" b="0">
                <a:solidFill>
                  <a:srgbClr val="595959"/>
                </a:solidFill>
              </a:rPr>
              <a:t>DCZ: higher affinity, faster brain entry, no detectable activity across 318 off-target GPCRs. Effective at 0.1 mg/kg i.p. or lower.</a:t>
            </a:r>
          </a:p>
        </p:txBody>
      </p:sp>
      <p:sp>
        <p:nvSpPr>
          <p:cNvPr id="9" name="Rectangle 8"/>
          <p:cNvSpPr/>
          <p:nvPr/>
        </p:nvSpPr>
        <p:spPr>
          <a:xfrm>
            <a:off x="8458200" y="3858768"/>
            <a:ext cx="3227832" cy="292608"/>
          </a:xfrm>
          <a:prstGeom prst="rect">
            <a:avLst/>
          </a:prstGeom>
          <a:solidFill>
            <a:srgbClr val="9C6300"/>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OPEN QUESTION I NEED HELP WITH</a:t>
            </a:r>
          </a:p>
        </p:txBody>
      </p:sp>
      <p:sp>
        <p:nvSpPr>
          <p:cNvPr id="10" name="Rectangle 9"/>
          <p:cNvSpPr/>
          <p:nvPr/>
        </p:nvSpPr>
        <p:spPr>
          <a:xfrm>
            <a:off x="8458200" y="4151376"/>
            <a:ext cx="3227832" cy="199339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050" b="0">
                <a:solidFill>
                  <a:srgbClr val="595959"/>
                </a:solidFill>
              </a:rPr>
              <a:t>The TRAP2 protocol single-houses mice for 48 h before tagging, to keep background labelling low.</a:t>
            </a:r>
          </a:p>
          <a:p>
            <a:pPr algn="l">
              <a:lnSpc>
                <a:spcPct val="97000"/>
              </a:lnSpc>
              <a:spcAft>
                <a:spcPts val="500"/>
              </a:spcAft>
            </a:pPr>
            <a:r>
              <a:rPr sz="1050" b="0">
                <a:solidFill>
                  <a:srgbClr val="595959"/>
                </a:solidFill>
              </a:rPr>
              <a:t>Our yoked design pairs each Active with a Passive partner. If yoking requires them to be co-housed on day 12, we cannot single-house them.</a:t>
            </a:r>
          </a:p>
          <a:p>
            <a:pPr algn="l">
              <a:lnSpc>
                <a:spcPct val="97000"/>
              </a:lnSpc>
              <a:spcAft>
                <a:spcPts val="500"/>
              </a:spcAft>
            </a:pPr>
            <a:r>
              <a:rPr sz="1050" b="1">
                <a:solidFill>
                  <a:srgbClr val="1F3B63"/>
                </a:solidFill>
              </a:rPr>
              <a:t>Fallback: keep normal housing, treat both groups identically, and measure the background with the home-cage 4-OHT control rather than trying to eliminate it.</a:t>
            </a:r>
          </a:p>
        </p:txBody>
      </p:sp>
      <p:sp>
        <p:nvSpPr>
          <p:cNvPr id="11" name="TextBox 10"/>
          <p:cNvSpPr txBox="1"/>
          <p:nvPr/>
        </p:nvSpPr>
        <p:spPr>
          <a:xfrm>
            <a:off x="502920" y="6473952"/>
            <a:ext cx="11185855" cy="256032"/>
          </a:xfrm>
          <a:prstGeom prst="rect">
            <a:avLst/>
          </a:prstGeom>
          <a:noFill/>
        </p:spPr>
        <p:txBody>
          <a:bodyPr wrap="square">
            <a:spAutoFit/>
          </a:bodyPr>
          <a:lstStyle/>
          <a:p>
            <a:pPr algn="l">
              <a:lnSpc>
                <a:spcPct val="95000"/>
              </a:lnSpc>
              <a:spcAft>
                <a:spcPts val="400"/>
              </a:spcAft>
            </a:pPr>
            <a:r>
              <a:rPr sz="950" b="0">
                <a:solidFill>
                  <a:srgbClr val="595959"/>
                </a:solidFill>
              </a:rPr>
              <a:t>CNO reverse metabolism: Gomez et al. 2017 Science; Manvich et al. 2018 Sci Rep. DCZ: Nagai et al. 2020 Nat Neurosci.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EXPERIMENT 2  ·  ALTERNATIVES</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If you want inhibition inside the Post window</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There is a clean way to do it, but it needs new breeding — so I propose it as phase 2</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98448"/>
          <a:ext cx="11185852" cy="4187952"/>
        </p:xfrm>
        <a:graphic>
          <a:graphicData uri="http://schemas.openxmlformats.org/drawingml/2006/table">
            <a:tbl>
              <a:tblPr firstRow="1" bandRow="1">
                <a:tableStyleId>{5C22544A-7EE6-4342-B048-85BDC9FD1C3A}</a:tableStyleId>
              </a:tblPr>
              <a:tblGrid>
                <a:gridCol w="1404284"/>
                <a:gridCol w="2905416"/>
                <a:gridCol w="3970736"/>
                <a:gridCol w="2905416"/>
              </a:tblGrid>
              <a:tr h="457200">
                <a:tc>
                  <a:txBody>
                    <a:bodyPr/>
                    <a:lstStyle/>
                    <a:p>
                      <a:pPr algn="l">
                        <a:lnSpc>
                          <a:spcPct val="92000"/>
                        </a:lnSpc>
                      </a:pPr>
                    </a:p>
                  </a:txBody>
                  <a:tcPr anchor="ctr" marL="54864" marR="54864" marT="18288" marB="18288">
                    <a:solidFill>
                      <a:srgbClr val="1F3B63"/>
                    </a:solidFill>
                  </a:tcPr>
                </a:tc>
                <a:tc>
                  <a:txBody>
                    <a:bodyPr/>
                    <a:lstStyle/>
                    <a:p>
                      <a:pPr algn="l">
                        <a:lnSpc>
                          <a:spcPct val="92000"/>
                        </a:lnSpc>
                      </a:pPr>
                      <a:r>
                        <a:rPr sz="1050" b="1">
                          <a:solidFill>
                            <a:srgbClr val="FFFFFF"/>
                          </a:solidFill>
                        </a:rPr>
                        <a:t>A — Protracted abstinence</a:t>
                      </a:r>
                    </a:p>
                    <a:p>
                      <a:pPr algn="l">
                        <a:lnSpc>
                          <a:spcPct val="92000"/>
                        </a:lnSpc>
                      </a:pPr>
                      <a:r>
                        <a:rPr sz="1050" b="1">
                          <a:solidFill>
                            <a:srgbClr val="FFFFFF"/>
                          </a:solidFill>
                        </a:rPr>
                        <a:t>(RECOMMENDED, start Nov)</a:t>
                      </a:r>
                    </a:p>
                  </a:txBody>
                  <a:tcPr anchor="ctr" marL="54864" marR="54864" marT="18288" marB="18288">
                    <a:solidFill>
                      <a:srgbClr val="1E6F3C"/>
                    </a:solidFill>
                  </a:tcPr>
                </a:tc>
                <a:tc>
                  <a:txBody>
                    <a:bodyPr/>
                    <a:lstStyle/>
                    <a:p>
                      <a:pPr algn="l">
                        <a:lnSpc>
                          <a:spcPct val="92000"/>
                        </a:lnSpc>
                      </a:pPr>
                      <a:r>
                        <a:rPr sz="1050" b="1">
                          <a:solidFill>
                            <a:srgbClr val="FFFFFF"/>
                          </a:solidFill>
                        </a:rPr>
                        <a:t>B — Transgenic hM4Di + cannula</a:t>
                      </a:r>
                    </a:p>
                    <a:p>
                      <a:pPr algn="l">
                        <a:lnSpc>
                          <a:spcPct val="92000"/>
                        </a:lnSpc>
                      </a:pPr>
                      <a:r>
                        <a:rPr sz="1050" b="1">
                          <a:solidFill>
                            <a:srgbClr val="FFFFFF"/>
                          </a:solidFill>
                        </a:rPr>
                        <a:t>(phase 2)</a:t>
                      </a:r>
                    </a:p>
                  </a:txBody>
                  <a:tcPr anchor="ctr" marL="54864" marR="54864" marT="18288" marB="18288">
                    <a:solidFill>
                      <a:srgbClr val="1F3B63"/>
                    </a:solidFill>
                  </a:tcPr>
                </a:tc>
                <a:tc>
                  <a:txBody>
                    <a:bodyPr/>
                    <a:lstStyle/>
                    <a:p>
                      <a:pPr algn="l">
                        <a:lnSpc>
                          <a:spcPct val="92000"/>
                        </a:lnSpc>
                      </a:pPr>
                      <a:r>
                        <a:rPr sz="1050" b="1">
                          <a:solidFill>
                            <a:srgbClr val="FFFFFF"/>
                          </a:solidFill>
                        </a:rPr>
                        <a:t>C — Extended Post</a:t>
                      </a:r>
                    </a:p>
                    <a:p>
                      <a:pPr algn="l">
                        <a:lnSpc>
                          <a:spcPct val="92000"/>
                        </a:lnSpc>
                      </a:pPr>
                      <a:r>
                        <a:rPr sz="1050" b="1">
                          <a:solidFill>
                            <a:srgbClr val="FFFFFF"/>
                          </a:solidFill>
                        </a:rPr>
                        <a:t>(not recommended)</a:t>
                      </a:r>
                    </a:p>
                  </a:txBody>
                  <a:tcPr anchor="ctr" marL="54864" marR="54864" marT="18288" marB="18288">
                    <a:solidFill>
                      <a:srgbClr val="1F3B63"/>
                    </a:solidFill>
                  </a:tcPr>
                </a:tc>
              </a:tr>
              <a:tr h="621792">
                <a:tc>
                  <a:txBody>
                    <a:bodyPr/>
                    <a:lstStyle/>
                    <a:p>
                      <a:pPr algn="l">
                        <a:lnSpc>
                          <a:spcPct val="92000"/>
                        </a:lnSpc>
                      </a:pPr>
                      <a:r>
                        <a:rPr sz="950" b="0">
                          <a:solidFill>
                            <a:srgbClr val="1F3B63"/>
                          </a:solidFill>
                        </a:rPr>
                        <a:t>Effector</a:t>
                      </a:r>
                    </a:p>
                  </a:txBody>
                  <a:tcPr anchor="ctr" marL="54864" marR="54864" marT="18288" marB="18288">
                    <a:solidFill>
                      <a:srgbClr val="FFFFFF"/>
                    </a:solidFill>
                  </a:tcPr>
                </a:tc>
                <a:tc>
                  <a:txBody>
                    <a:bodyPr/>
                    <a:lstStyle/>
                    <a:p>
                      <a:pPr algn="l">
                        <a:lnSpc>
                          <a:spcPct val="92000"/>
                        </a:lnSpc>
                      </a:pPr>
                      <a:r>
                        <a:rPr sz="950" b="0">
                          <a:solidFill>
                            <a:srgbClr val="1F3B63"/>
                          </a:solidFill>
                        </a:rPr>
                        <a:t>AAV-DIO-hM4Di into ORBm / BMAp</a:t>
                      </a:r>
                    </a:p>
                  </a:txBody>
                  <a:tcPr anchor="ctr" marL="54864" marR="54864" marT="18288" marB="18288">
                    <a:solidFill>
                      <a:srgbClr val="D8ECD8"/>
                    </a:solidFill>
                  </a:tcPr>
                </a:tc>
                <a:tc>
                  <a:txBody>
                    <a:bodyPr/>
                    <a:lstStyle/>
                    <a:p>
                      <a:pPr algn="l">
                        <a:lnSpc>
                          <a:spcPct val="92000"/>
                        </a:lnSpc>
                      </a:pPr>
                      <a:r>
                        <a:rPr sz="950" b="0">
                          <a:solidFill>
                            <a:srgbClr val="1F3B63"/>
                          </a:solidFill>
                        </a:rPr>
                        <a:t>TRAP2 × R26-LSL-hM4Di (JAX 026219).</a:t>
                      </a:r>
                    </a:p>
                    <a:p>
                      <a:pPr algn="l">
                        <a:lnSpc>
                          <a:spcPct val="92000"/>
                        </a:lnSpc>
                      </a:pPr>
                      <a:r>
                        <a:rPr sz="950" b="0">
                          <a:solidFill>
                            <a:srgbClr val="1F3B63"/>
                          </a:solidFill>
                        </a:rPr>
                        <a:t>Effector already in the genome, so no AAV lag</a:t>
                      </a:r>
                    </a:p>
                  </a:txBody>
                  <a:tcPr anchor="ctr" marL="54864" marR="54864" marT="18288" marB="18288">
                    <a:solidFill>
                      <a:srgbClr val="FFFFFF"/>
                    </a:solidFill>
                  </a:tcPr>
                </a:tc>
                <a:tc>
                  <a:txBody>
                    <a:bodyPr/>
                    <a:lstStyle/>
                    <a:p>
                      <a:pPr algn="l">
                        <a:lnSpc>
                          <a:spcPct val="92000"/>
                        </a:lnSpc>
                      </a:pPr>
                      <a:r>
                        <a:rPr sz="950" b="0">
                          <a:solidFill>
                            <a:srgbClr val="1F3B63"/>
                          </a:solidFill>
                        </a:rPr>
                        <a:t>AAV-DIO-hM4Di</a:t>
                      </a:r>
                    </a:p>
                  </a:txBody>
                  <a:tcPr anchor="ctr" marL="54864" marR="54864" marT="18288" marB="18288">
                    <a:solidFill>
                      <a:srgbClr val="F2F2F2"/>
                    </a:solidFill>
                  </a:tcPr>
                </a:tc>
              </a:tr>
              <a:tr h="621792">
                <a:tc>
                  <a:txBody>
                    <a:bodyPr/>
                    <a:lstStyle/>
                    <a:p>
                      <a:pPr algn="l">
                        <a:lnSpc>
                          <a:spcPct val="92000"/>
                        </a:lnSpc>
                      </a:pPr>
                      <a:r>
                        <a:rPr sz="950" b="0">
                          <a:solidFill>
                            <a:srgbClr val="1F3B63"/>
                          </a:solidFill>
                        </a:rPr>
                        <a:t>Delay from 4-OHT to test</a:t>
                      </a:r>
                    </a:p>
                  </a:txBody>
                  <a:tcPr anchor="ctr" marL="54864" marR="54864" marT="18288" marB="18288">
                    <a:solidFill>
                      <a:srgbClr val="EEF3F9"/>
                    </a:solidFill>
                  </a:tcPr>
                </a:tc>
                <a:tc>
                  <a:txBody>
                    <a:bodyPr/>
                    <a:lstStyle/>
                    <a:p>
                      <a:pPr algn="l">
                        <a:lnSpc>
                          <a:spcPct val="92000"/>
                        </a:lnSpc>
                      </a:pPr>
                      <a:r>
                        <a:rPr sz="950" b="0">
                          <a:solidFill>
                            <a:srgbClr val="1F3B63"/>
                          </a:solidFill>
                        </a:rPr>
                        <a:t>~20 days</a:t>
                      </a:r>
                    </a:p>
                  </a:txBody>
                  <a:tcPr anchor="ctr" marL="54864" marR="54864" marT="18288" marB="18288">
                    <a:solidFill>
                      <a:srgbClr val="D8ECD8"/>
                    </a:solidFill>
                  </a:tcPr>
                </a:tc>
                <a:tc>
                  <a:txBody>
                    <a:bodyPr/>
                    <a:lstStyle/>
                    <a:p>
                      <a:pPr algn="l">
                        <a:lnSpc>
                          <a:spcPct val="92000"/>
                        </a:lnSpc>
                      </a:pPr>
                      <a:r>
                        <a:rPr sz="950" b="0">
                          <a:solidFill>
                            <a:srgbClr val="1F3B63"/>
                          </a:solidFill>
                        </a:rPr>
                        <a:t>48 h</a:t>
                      </a:r>
                    </a:p>
                  </a:txBody>
                  <a:tcPr anchor="ctr" marL="54864" marR="54864" marT="18288" marB="18288">
                    <a:solidFill>
                      <a:srgbClr val="EEF3F9"/>
                    </a:solidFill>
                  </a:tcPr>
                </a:tc>
                <a:tc>
                  <a:txBody>
                    <a:bodyPr/>
                    <a:lstStyle/>
                    <a:p>
                      <a:pPr algn="l">
                        <a:lnSpc>
                          <a:spcPct val="92000"/>
                        </a:lnSpc>
                      </a:pPr>
                      <a:r>
                        <a:rPr sz="950" b="0">
                          <a:solidFill>
                            <a:srgbClr val="1F3B63"/>
                          </a:solidFill>
                        </a:rPr>
                        <a:t>~15 days, but inside an extended Post</a:t>
                      </a:r>
                    </a:p>
                  </a:txBody>
                  <a:tcPr anchor="ctr" marL="54864" marR="54864" marT="18288" marB="18288">
                    <a:solidFill>
                      <a:srgbClr val="F2F2F2"/>
                    </a:solidFill>
                  </a:tcPr>
                </a:tc>
              </a:tr>
              <a:tr h="621792">
                <a:tc>
                  <a:txBody>
                    <a:bodyPr/>
                    <a:lstStyle/>
                    <a:p>
                      <a:pPr algn="l">
                        <a:lnSpc>
                          <a:spcPct val="92000"/>
                        </a:lnSpc>
                      </a:pPr>
                      <a:r>
                        <a:rPr sz="950" b="0">
                          <a:solidFill>
                            <a:srgbClr val="1F3B63"/>
                          </a:solidFill>
                        </a:rPr>
                        <a:t>Region specificity</a:t>
                      </a:r>
                    </a:p>
                  </a:txBody>
                  <a:tcPr anchor="ctr" marL="54864" marR="54864" marT="18288" marB="18288">
                    <a:solidFill>
                      <a:srgbClr val="FFFFFF"/>
                    </a:solidFill>
                  </a:tcPr>
                </a:tc>
                <a:tc>
                  <a:txBody>
                    <a:bodyPr/>
                    <a:lstStyle/>
                    <a:p>
                      <a:pPr algn="l">
                        <a:lnSpc>
                          <a:spcPct val="92000"/>
                        </a:lnSpc>
                      </a:pPr>
                      <a:r>
                        <a:rPr sz="950" b="0">
                          <a:solidFill>
                            <a:srgbClr val="1F3B63"/>
                          </a:solidFill>
                        </a:rPr>
                        <a:t>From the injection site</a:t>
                      </a:r>
                    </a:p>
                  </a:txBody>
                  <a:tcPr anchor="ctr" marL="54864" marR="54864" marT="18288" marB="18288">
                    <a:solidFill>
                      <a:srgbClr val="D8ECD8"/>
                    </a:solidFill>
                  </a:tcPr>
                </a:tc>
                <a:tc>
                  <a:txBody>
                    <a:bodyPr/>
                    <a:lstStyle/>
                    <a:p>
                      <a:pPr algn="l">
                        <a:lnSpc>
                          <a:spcPct val="92000"/>
                        </a:lnSpc>
                      </a:pPr>
                      <a:r>
                        <a:rPr sz="950" b="0">
                          <a:solidFill>
                            <a:srgbClr val="1F3B63"/>
                          </a:solidFill>
                        </a:rPr>
                        <a:t>From local DCZ infusion through cannulae —</a:t>
                      </a:r>
                    </a:p>
                    <a:p>
                      <a:pPr algn="l">
                        <a:lnSpc>
                          <a:spcPct val="92000"/>
                        </a:lnSpc>
                      </a:pPr>
                      <a:r>
                        <a:rPr sz="950" b="0">
                          <a:solidFill>
                            <a:srgbClr val="1F3B63"/>
                          </a:solidFill>
                        </a:rPr>
                        <a:t>the transgene is brain-wide</a:t>
                      </a:r>
                    </a:p>
                  </a:txBody>
                  <a:tcPr anchor="ctr" marL="54864" marR="54864" marT="18288" marB="18288">
                    <a:solidFill>
                      <a:srgbClr val="FFFFFF"/>
                    </a:solidFill>
                  </a:tcPr>
                </a:tc>
                <a:tc>
                  <a:txBody>
                    <a:bodyPr/>
                    <a:lstStyle/>
                    <a:p>
                      <a:pPr algn="l">
                        <a:lnSpc>
                          <a:spcPct val="92000"/>
                        </a:lnSpc>
                      </a:pPr>
                      <a:r>
                        <a:rPr sz="950" b="0">
                          <a:solidFill>
                            <a:srgbClr val="1F3B63"/>
                          </a:solidFill>
                        </a:rPr>
                        <a:t>From the injection site</a:t>
                      </a:r>
                    </a:p>
                  </a:txBody>
                  <a:tcPr anchor="ctr" marL="54864" marR="54864" marT="18288" marB="18288">
                    <a:solidFill>
                      <a:srgbClr val="F2F2F2"/>
                    </a:solidFill>
                  </a:tcPr>
                </a:tc>
              </a:tr>
              <a:tr h="621792">
                <a:tc>
                  <a:txBody>
                    <a:bodyPr/>
                    <a:lstStyle/>
                    <a:p>
                      <a:pPr algn="l">
                        <a:lnSpc>
                          <a:spcPct val="92000"/>
                        </a:lnSpc>
                      </a:pPr>
                      <a:r>
                        <a:rPr sz="950" b="0">
                          <a:solidFill>
                            <a:srgbClr val="1F3B63"/>
                          </a:solidFill>
                        </a:rPr>
                        <a:t>What it tests</a:t>
                      </a:r>
                    </a:p>
                  </a:txBody>
                  <a:tcPr anchor="ctr" marL="54864" marR="54864" marT="18288" marB="18288">
                    <a:solidFill>
                      <a:srgbClr val="EEF3F9"/>
                    </a:solidFill>
                  </a:tcPr>
                </a:tc>
                <a:tc>
                  <a:txBody>
                    <a:bodyPr/>
                    <a:lstStyle/>
                    <a:p>
                      <a:pPr algn="l">
                        <a:lnSpc>
                          <a:spcPct val="92000"/>
                        </a:lnSpc>
                      </a:pPr>
                      <a:r>
                        <a:rPr sz="950" b="0">
                          <a:solidFill>
                            <a:srgbClr val="1F3B63"/>
                          </a:solidFill>
                        </a:rPr>
                        <a:t>Is the Post ensemble needed for relapse</a:t>
                      </a:r>
                    </a:p>
                    <a:p>
                      <a:pPr algn="l">
                        <a:lnSpc>
                          <a:spcPct val="92000"/>
                        </a:lnSpc>
                      </a:pPr>
                      <a:r>
                        <a:rPr sz="950" b="0">
                          <a:solidFill>
                            <a:srgbClr val="1F3B63"/>
                          </a:solidFill>
                        </a:rPr>
                        <a:t>after abstinence?</a:t>
                      </a:r>
                    </a:p>
                  </a:txBody>
                  <a:tcPr anchor="ctr" marL="54864" marR="54864" marT="18288" marB="18288">
                    <a:solidFill>
                      <a:srgbClr val="D8ECD8"/>
                    </a:solidFill>
                  </a:tcPr>
                </a:tc>
                <a:tc>
                  <a:txBody>
                    <a:bodyPr/>
                    <a:lstStyle/>
                    <a:p>
                      <a:pPr algn="l">
                        <a:lnSpc>
                          <a:spcPct val="92000"/>
                        </a:lnSpc>
                      </a:pPr>
                      <a:r>
                        <a:rPr sz="950" b="0">
                          <a:solidFill>
                            <a:srgbClr val="1F3B63"/>
                          </a:solidFill>
                        </a:rPr>
                        <a:t>Is the Post ensemble needed for seeking</a:t>
                      </a:r>
                    </a:p>
                    <a:p>
                      <a:pPr algn="l">
                        <a:lnSpc>
                          <a:spcPct val="92000"/>
                        </a:lnSpc>
                      </a:pPr>
                      <a:r>
                        <a:rPr sz="950" b="0">
                          <a:solidFill>
                            <a:srgbClr val="1F3B63"/>
                          </a:solidFill>
                        </a:rPr>
                        <a:t>within the Post phase?</a:t>
                      </a:r>
                    </a:p>
                  </a:txBody>
                  <a:tcPr anchor="ctr" marL="54864" marR="54864" marT="18288" marB="18288">
                    <a:solidFill>
                      <a:srgbClr val="EEF3F9"/>
                    </a:solidFill>
                  </a:tcPr>
                </a:tc>
                <a:tc>
                  <a:txBody>
                    <a:bodyPr/>
                    <a:lstStyle/>
                    <a:p>
                      <a:pPr algn="l">
                        <a:lnSpc>
                          <a:spcPct val="92000"/>
                        </a:lnSpc>
                      </a:pPr>
                      <a:r>
                        <a:rPr sz="950" b="0">
                          <a:solidFill>
                            <a:srgbClr val="1F3B63"/>
                          </a:solidFill>
                        </a:rPr>
                        <a:t>Same as B, but in a paradigm we</a:t>
                      </a:r>
                    </a:p>
                    <a:p>
                      <a:pPr algn="l">
                        <a:lnSpc>
                          <a:spcPct val="92000"/>
                        </a:lnSpc>
                      </a:pPr>
                      <a:r>
                        <a:rPr sz="950" b="0">
                          <a:solidFill>
                            <a:srgbClr val="1F3B63"/>
                          </a:solidFill>
                        </a:rPr>
                        <a:t>have not characterised</a:t>
                      </a:r>
                    </a:p>
                  </a:txBody>
                  <a:tcPr anchor="ctr" marL="54864" marR="54864" marT="18288" marB="18288">
                    <a:solidFill>
                      <a:srgbClr val="F2F2F2"/>
                    </a:solidFill>
                  </a:tcPr>
                </a:tc>
              </a:tr>
              <a:tr h="621792">
                <a:tc>
                  <a:txBody>
                    <a:bodyPr/>
                    <a:lstStyle/>
                    <a:p>
                      <a:pPr algn="l">
                        <a:lnSpc>
                          <a:spcPct val="92000"/>
                        </a:lnSpc>
                      </a:pPr>
                      <a:r>
                        <a:rPr sz="950" b="0">
                          <a:solidFill>
                            <a:srgbClr val="1F3B63"/>
                          </a:solidFill>
                        </a:rPr>
                        <a:t>Main cost</a:t>
                      </a:r>
                    </a:p>
                  </a:txBody>
                  <a:tcPr anchor="ctr" marL="54864" marR="54864" marT="18288" marB="18288">
                    <a:solidFill>
                      <a:srgbClr val="FFFFFF"/>
                    </a:solidFill>
                  </a:tcPr>
                </a:tc>
                <a:tc>
                  <a:txBody>
                    <a:bodyPr/>
                    <a:lstStyle/>
                    <a:p>
                      <a:pPr algn="l">
                        <a:lnSpc>
                          <a:spcPct val="92000"/>
                        </a:lnSpc>
                      </a:pPr>
                      <a:r>
                        <a:rPr sz="950" b="0">
                          <a:solidFill>
                            <a:srgbClr val="1F3B63"/>
                          </a:solidFill>
                        </a:rPr>
                        <a:t>None beyond the appended days</a:t>
                      </a:r>
                    </a:p>
                  </a:txBody>
                  <a:tcPr anchor="ctr" marL="54864" marR="54864" marT="18288" marB="18288">
                    <a:solidFill>
                      <a:srgbClr val="D8ECD8"/>
                    </a:solidFill>
                  </a:tcPr>
                </a:tc>
                <a:tc>
                  <a:txBody>
                    <a:bodyPr/>
                    <a:lstStyle/>
                    <a:p>
                      <a:pPr algn="l">
                        <a:lnSpc>
                          <a:spcPct val="92000"/>
                        </a:lnSpc>
                      </a:pPr>
                      <a:r>
                        <a:rPr sz="950" b="0">
                          <a:solidFill>
                            <a:srgbClr val="1F3B63"/>
                          </a:solidFill>
                        </a:rPr>
                        <a:t>New cross; Rosa26 conflict means this line</a:t>
                      </a:r>
                    </a:p>
                    <a:p>
                      <a:pPr algn="l">
                        <a:lnSpc>
                          <a:spcPct val="92000"/>
                        </a:lnSpc>
                      </a:pPr>
                      <a:r>
                        <a:rPr sz="950" b="0">
                          <a:solidFill>
                            <a:srgbClr val="1F3B63"/>
                          </a:solidFill>
                        </a:rPr>
                        <a:t>cannot also carry Ai14, so the tag becomes</a:t>
                      </a:r>
                    </a:p>
                    <a:p>
                      <a:pPr algn="l">
                        <a:lnSpc>
                          <a:spcPct val="92000"/>
                        </a:lnSpc>
                      </a:pPr>
                      <a:r>
                        <a:rPr sz="950" b="0">
                          <a:solidFill>
                            <a:srgbClr val="1F3B63"/>
                          </a:solidFill>
                        </a:rPr>
                        <a:t>mCitrine. Cannula surgery. 4-6 months of breeding</a:t>
                      </a:r>
                    </a:p>
                  </a:txBody>
                  <a:tcPr anchor="ctr" marL="54864" marR="54864" marT="18288" marB="18288">
                    <a:solidFill>
                      <a:srgbClr val="FFFFFF"/>
                    </a:solidFill>
                  </a:tcPr>
                </a:tc>
                <a:tc>
                  <a:txBody>
                    <a:bodyPr/>
                    <a:lstStyle/>
                    <a:p>
                      <a:pPr algn="l">
                        <a:lnSpc>
                          <a:spcPct val="92000"/>
                        </a:lnSpc>
                      </a:pPr>
                      <a:r>
                        <a:rPr sz="950" b="0">
                          <a:solidFill>
                            <a:srgbClr val="1F3B63"/>
                          </a:solidFill>
                        </a:rPr>
                        <a:t>3 extra weeks of morphine per mouse,</a:t>
                      </a:r>
                    </a:p>
                    <a:p>
                      <a:pPr algn="l">
                        <a:lnSpc>
                          <a:spcPct val="92000"/>
                        </a:lnSpc>
                      </a:pPr>
                      <a:r>
                        <a:rPr sz="950" b="0">
                          <a:solidFill>
                            <a:srgbClr val="1F3B63"/>
                          </a:solidFill>
                        </a:rPr>
                        <a:t>so drug history no longer matches the</a:t>
                      </a:r>
                    </a:p>
                    <a:p>
                      <a:pPr algn="l">
                        <a:lnSpc>
                          <a:spcPct val="92000"/>
                        </a:lnSpc>
                      </a:pPr>
                      <a:r>
                        <a:rPr sz="950" b="0">
                          <a:solidFill>
                            <a:srgbClr val="1F3B63"/>
                          </a:solidFill>
                        </a:rPr>
                        <a:t>18-day model behind our TRAP data</a:t>
                      </a:r>
                    </a:p>
                  </a:txBody>
                  <a:tcPr anchor="ctr" marL="54864" marR="54864" marT="18288" marB="18288">
                    <a:solidFill>
                      <a:srgbClr val="F2F2F2"/>
                    </a:solidFill>
                  </a:tcPr>
                </a:tc>
              </a:tr>
              <a:tr h="621792">
                <a:tc>
                  <a:txBody>
                    <a:bodyPr/>
                    <a:lstStyle/>
                    <a:p>
                      <a:pPr algn="l">
                        <a:lnSpc>
                          <a:spcPct val="92000"/>
                        </a:lnSpc>
                      </a:pPr>
                      <a:r>
                        <a:rPr sz="950" b="0">
                          <a:solidFill>
                            <a:srgbClr val="1F3B63"/>
                          </a:solidFill>
                        </a:rPr>
                        <a:t>Ready to start</a:t>
                      </a:r>
                    </a:p>
                  </a:txBody>
                  <a:tcPr anchor="ctr" marL="54864" marR="54864" marT="18288" marB="18288">
                    <a:solidFill>
                      <a:srgbClr val="EEF3F9"/>
                    </a:solidFill>
                  </a:tcPr>
                </a:tc>
                <a:tc>
                  <a:txBody>
                    <a:bodyPr/>
                    <a:lstStyle/>
                    <a:p>
                      <a:pPr algn="l">
                        <a:lnSpc>
                          <a:spcPct val="92000"/>
                        </a:lnSpc>
                      </a:pPr>
                      <a:r>
                        <a:rPr sz="950" b="0">
                          <a:solidFill>
                            <a:srgbClr val="1F3B63"/>
                          </a:solidFill>
                        </a:rPr>
                        <a:t>November 2026</a:t>
                      </a:r>
                    </a:p>
                  </a:txBody>
                  <a:tcPr anchor="ctr" marL="54864" marR="54864" marT="18288" marB="18288">
                    <a:solidFill>
                      <a:srgbClr val="D8ECD8"/>
                    </a:solidFill>
                  </a:tcPr>
                </a:tc>
                <a:tc>
                  <a:txBody>
                    <a:bodyPr/>
                    <a:lstStyle/>
                    <a:p>
                      <a:pPr algn="l">
                        <a:lnSpc>
                          <a:spcPct val="92000"/>
                        </a:lnSpc>
                      </a:pPr>
                      <a:r>
                        <a:rPr sz="950" b="0">
                          <a:solidFill>
                            <a:srgbClr val="1F3B63"/>
                          </a:solidFill>
                        </a:rPr>
                        <a:t>Mid 2027 if we start breeding now</a:t>
                      </a:r>
                    </a:p>
                  </a:txBody>
                  <a:tcPr anchor="ctr" marL="54864" marR="54864" marT="18288" marB="18288">
                    <a:solidFill>
                      <a:srgbClr val="EEF3F9"/>
                    </a:solidFill>
                  </a:tcPr>
                </a:tc>
                <a:tc>
                  <a:txBody>
                    <a:bodyPr/>
                    <a:lstStyle/>
                    <a:p>
                      <a:pPr algn="l">
                        <a:lnSpc>
                          <a:spcPct val="92000"/>
                        </a:lnSpc>
                      </a:pPr>
                      <a:r>
                        <a:rPr sz="950" b="0">
                          <a:solidFill>
                            <a:srgbClr val="1F3B63"/>
                          </a:solidFill>
                        </a:rPr>
                        <a:t>November 2026</a:t>
                      </a:r>
                    </a:p>
                  </a:txBody>
                  <a:tcPr anchor="ctr" marL="54864" marR="54864" marT="18288" marB="18288">
                    <a:solidFill>
                      <a:srgbClr val="F2F2F2"/>
                    </a:solidFill>
                  </a:tcPr>
                </a:tc>
              </a:tr>
            </a:tbl>
          </a:graphicData>
        </a:graphic>
      </p:graphicFrame>
      <p:sp>
        <p:nvSpPr>
          <p:cNvPr id="7" name="Rectangle 6"/>
          <p:cNvSpPr/>
          <p:nvPr/>
        </p:nvSpPr>
        <p:spPr>
          <a:xfrm>
            <a:off x="502920" y="5806440"/>
            <a:ext cx="11185855" cy="566928"/>
          </a:xfrm>
          <a:prstGeom prst="rect">
            <a:avLst/>
          </a:prstGeom>
          <a:solidFill>
            <a:srgbClr val="D8ECD8"/>
          </a:solidFill>
          <a:ln w="15875">
            <a:solidFill>
              <a:srgbClr val="1E6F3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l">
              <a:lnSpc>
                <a:spcPct val="100000"/>
              </a:lnSpc>
              <a:spcAft>
                <a:spcPts val="400"/>
              </a:spcAft>
            </a:pPr>
            <a:r>
              <a:rPr sz="1200" b="1">
                <a:solidFill>
                  <a:srgbClr val="1F3B63"/>
                </a:solidFill>
              </a:rPr>
              <a:t>My recommendation: run A now, and start the B cross in parallel so the within-Post question is answerable next year. A and B together are a much stronger story than either alone, because they separate 'needed while taking' from 'needed for relapse'.</a:t>
            </a:r>
          </a:p>
        </p:txBody>
      </p:sp>
      <p:sp>
        <p:nvSpPr>
          <p:cNvPr id="8" name="TextBox 7"/>
          <p:cNvSpPr txBox="1"/>
          <p:nvPr/>
        </p:nvSpPr>
        <p:spPr>
          <a:xfrm>
            <a:off x="502920" y="6473952"/>
            <a:ext cx="11185855" cy="256032"/>
          </a:xfrm>
          <a:prstGeom prst="rect">
            <a:avLst/>
          </a:prstGeom>
          <a:noFill/>
        </p:spPr>
        <p:txBody>
          <a:bodyPr wrap="square">
            <a:spAutoFit/>
          </a:bodyPr>
          <a:lstStyle/>
          <a:p>
            <a:pPr algn="l">
              <a:lnSpc>
                <a:spcPct val="95000"/>
              </a:lnSpc>
              <a:spcAft>
                <a:spcPts val="400"/>
              </a:spcAft>
            </a:pPr>
            <a:r>
              <a:rPr sz="950" b="0">
                <a:solidFill>
                  <a:srgbClr val="595959"/>
                </a:solidFill>
              </a:rPr>
              <a:t>48-h transgenic hM4Di precedent with intracerebral CNO: LEC engram study, bioRxiv 2025. R26-LSL-hM4Di: JAX 026219, Rosa26 locus — same locus as Ai14 (JAX 007914).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SCHEDULE</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Master timeline</a:t>
            </a:r>
          </a:p>
        </p:txBody>
      </p:sp>
      <p:sp>
        <p:nvSpPr>
          <p:cNvPr id="4" name="TextBox 3"/>
          <p:cNvSpPr txBox="1"/>
          <p:nvPr/>
        </p:nvSpPr>
        <p:spPr>
          <a:xfrm>
            <a:off x="502920" y="941832"/>
            <a:ext cx="11185855" cy="329184"/>
          </a:xfrm>
          <a:prstGeom prst="rect">
            <a:avLst/>
          </a:prstGeom>
          <a:noFill/>
        </p:spPr>
        <p:txBody>
          <a:bodyPr wrap="square">
            <a:spAutoFit/>
          </a:bodyPr>
          <a:lstStyle/>
          <a:p>
            <a:pPr>
              <a:lnSpc>
                <a:spcPct val="95000"/>
              </a:lnSpc>
              <a:spcAft>
                <a:spcPts val="400"/>
              </a:spcAft>
            </a:pPr>
            <a:r>
              <a:rPr sz="1300" b="0">
                <a:solidFill>
                  <a:srgbClr val="595959"/>
                </a:solidFill>
              </a:rPr>
              <a:t>September 2026 to August 2027</a:t>
            </a:r>
          </a:p>
        </p:txBody>
      </p:sp>
      <p:sp>
        <p:nvSpPr>
          <p:cNvPr id="5" name="Rectangle 4"/>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37560" y="1042416"/>
            <a:ext cx="695934" cy="274320"/>
          </a:xfrm>
          <a:prstGeom prst="rect">
            <a:avLst/>
          </a:prstGeom>
          <a:noFill/>
        </p:spPr>
        <p:txBody>
          <a:bodyPr wrap="square">
            <a:spAutoFit/>
          </a:bodyPr>
          <a:lstStyle/>
          <a:p>
            <a:pPr algn="ctr">
              <a:lnSpc>
                <a:spcPct val="90000"/>
              </a:lnSpc>
              <a:spcAft>
                <a:spcPts val="400"/>
              </a:spcAft>
            </a:pPr>
            <a:r>
              <a:rPr sz="950" b="1">
                <a:solidFill>
                  <a:srgbClr val="1F3B63"/>
                </a:solidFill>
              </a:rPr>
              <a:t>Sep 26</a:t>
            </a:r>
          </a:p>
        </p:txBody>
      </p:sp>
      <p:sp>
        <p:nvSpPr>
          <p:cNvPr id="7" name="TextBox 6"/>
          <p:cNvSpPr txBox="1"/>
          <p:nvPr/>
        </p:nvSpPr>
        <p:spPr>
          <a:xfrm>
            <a:off x="4033494" y="1042416"/>
            <a:ext cx="695934" cy="274320"/>
          </a:xfrm>
          <a:prstGeom prst="rect">
            <a:avLst/>
          </a:prstGeom>
          <a:noFill/>
        </p:spPr>
        <p:txBody>
          <a:bodyPr wrap="square">
            <a:spAutoFit/>
          </a:bodyPr>
          <a:lstStyle/>
          <a:p>
            <a:pPr algn="ctr">
              <a:lnSpc>
                <a:spcPct val="90000"/>
              </a:lnSpc>
              <a:spcAft>
                <a:spcPts val="400"/>
              </a:spcAft>
            </a:pPr>
            <a:r>
              <a:rPr sz="950" b="1">
                <a:solidFill>
                  <a:srgbClr val="1F3B63"/>
                </a:solidFill>
              </a:rPr>
              <a:t>Oct</a:t>
            </a:r>
          </a:p>
        </p:txBody>
      </p:sp>
      <p:sp>
        <p:nvSpPr>
          <p:cNvPr id="8" name="TextBox 7"/>
          <p:cNvSpPr txBox="1"/>
          <p:nvPr/>
        </p:nvSpPr>
        <p:spPr>
          <a:xfrm>
            <a:off x="4729429" y="1042416"/>
            <a:ext cx="695934" cy="274320"/>
          </a:xfrm>
          <a:prstGeom prst="rect">
            <a:avLst/>
          </a:prstGeom>
          <a:noFill/>
        </p:spPr>
        <p:txBody>
          <a:bodyPr wrap="square">
            <a:spAutoFit/>
          </a:bodyPr>
          <a:lstStyle/>
          <a:p>
            <a:pPr algn="ctr">
              <a:lnSpc>
                <a:spcPct val="90000"/>
              </a:lnSpc>
              <a:spcAft>
                <a:spcPts val="400"/>
              </a:spcAft>
            </a:pPr>
            <a:r>
              <a:rPr sz="950" b="1">
                <a:solidFill>
                  <a:srgbClr val="1F3B63"/>
                </a:solidFill>
              </a:rPr>
              <a:t>Nov</a:t>
            </a:r>
          </a:p>
        </p:txBody>
      </p:sp>
      <p:sp>
        <p:nvSpPr>
          <p:cNvPr id="9" name="TextBox 8"/>
          <p:cNvSpPr txBox="1"/>
          <p:nvPr/>
        </p:nvSpPr>
        <p:spPr>
          <a:xfrm>
            <a:off x="5425363" y="1042416"/>
            <a:ext cx="695934" cy="274320"/>
          </a:xfrm>
          <a:prstGeom prst="rect">
            <a:avLst/>
          </a:prstGeom>
          <a:noFill/>
        </p:spPr>
        <p:txBody>
          <a:bodyPr wrap="square">
            <a:spAutoFit/>
          </a:bodyPr>
          <a:lstStyle/>
          <a:p>
            <a:pPr algn="ctr">
              <a:lnSpc>
                <a:spcPct val="90000"/>
              </a:lnSpc>
              <a:spcAft>
                <a:spcPts val="400"/>
              </a:spcAft>
            </a:pPr>
            <a:r>
              <a:rPr sz="950" b="1">
                <a:solidFill>
                  <a:srgbClr val="1F3B63"/>
                </a:solidFill>
              </a:rPr>
              <a:t>Dec</a:t>
            </a:r>
          </a:p>
        </p:txBody>
      </p:sp>
      <p:sp>
        <p:nvSpPr>
          <p:cNvPr id="10" name="TextBox 9"/>
          <p:cNvSpPr txBox="1"/>
          <p:nvPr/>
        </p:nvSpPr>
        <p:spPr>
          <a:xfrm>
            <a:off x="6121298" y="1042416"/>
            <a:ext cx="695934" cy="274320"/>
          </a:xfrm>
          <a:prstGeom prst="rect">
            <a:avLst/>
          </a:prstGeom>
          <a:noFill/>
        </p:spPr>
        <p:txBody>
          <a:bodyPr wrap="square">
            <a:spAutoFit/>
          </a:bodyPr>
          <a:lstStyle/>
          <a:p>
            <a:pPr algn="ctr">
              <a:lnSpc>
                <a:spcPct val="90000"/>
              </a:lnSpc>
              <a:spcAft>
                <a:spcPts val="400"/>
              </a:spcAft>
            </a:pPr>
            <a:r>
              <a:rPr sz="950" b="1">
                <a:solidFill>
                  <a:srgbClr val="1F3B63"/>
                </a:solidFill>
              </a:rPr>
              <a:t>Jan 27</a:t>
            </a:r>
          </a:p>
        </p:txBody>
      </p:sp>
      <p:sp>
        <p:nvSpPr>
          <p:cNvPr id="11" name="TextBox 10"/>
          <p:cNvSpPr txBox="1"/>
          <p:nvPr/>
        </p:nvSpPr>
        <p:spPr>
          <a:xfrm>
            <a:off x="6817232" y="1042416"/>
            <a:ext cx="695934" cy="274320"/>
          </a:xfrm>
          <a:prstGeom prst="rect">
            <a:avLst/>
          </a:prstGeom>
          <a:noFill/>
        </p:spPr>
        <p:txBody>
          <a:bodyPr wrap="square">
            <a:spAutoFit/>
          </a:bodyPr>
          <a:lstStyle/>
          <a:p>
            <a:pPr algn="ctr">
              <a:lnSpc>
                <a:spcPct val="90000"/>
              </a:lnSpc>
              <a:spcAft>
                <a:spcPts val="400"/>
              </a:spcAft>
            </a:pPr>
            <a:r>
              <a:rPr sz="950" b="1">
                <a:solidFill>
                  <a:srgbClr val="1F3B63"/>
                </a:solidFill>
              </a:rPr>
              <a:t>Feb</a:t>
            </a:r>
          </a:p>
        </p:txBody>
      </p:sp>
      <p:sp>
        <p:nvSpPr>
          <p:cNvPr id="12" name="TextBox 11"/>
          <p:cNvSpPr txBox="1"/>
          <p:nvPr/>
        </p:nvSpPr>
        <p:spPr>
          <a:xfrm>
            <a:off x="7513167" y="1042416"/>
            <a:ext cx="695934" cy="274320"/>
          </a:xfrm>
          <a:prstGeom prst="rect">
            <a:avLst/>
          </a:prstGeom>
          <a:noFill/>
        </p:spPr>
        <p:txBody>
          <a:bodyPr wrap="square">
            <a:spAutoFit/>
          </a:bodyPr>
          <a:lstStyle/>
          <a:p>
            <a:pPr algn="ctr">
              <a:lnSpc>
                <a:spcPct val="90000"/>
              </a:lnSpc>
              <a:spcAft>
                <a:spcPts val="400"/>
              </a:spcAft>
            </a:pPr>
            <a:r>
              <a:rPr sz="950" b="1">
                <a:solidFill>
                  <a:srgbClr val="1F3B63"/>
                </a:solidFill>
              </a:rPr>
              <a:t>Mar</a:t>
            </a:r>
          </a:p>
        </p:txBody>
      </p:sp>
      <p:sp>
        <p:nvSpPr>
          <p:cNvPr id="13" name="TextBox 12"/>
          <p:cNvSpPr txBox="1"/>
          <p:nvPr/>
        </p:nvSpPr>
        <p:spPr>
          <a:xfrm>
            <a:off x="8209102" y="1042416"/>
            <a:ext cx="695934" cy="274320"/>
          </a:xfrm>
          <a:prstGeom prst="rect">
            <a:avLst/>
          </a:prstGeom>
          <a:noFill/>
        </p:spPr>
        <p:txBody>
          <a:bodyPr wrap="square">
            <a:spAutoFit/>
          </a:bodyPr>
          <a:lstStyle/>
          <a:p>
            <a:pPr algn="ctr">
              <a:lnSpc>
                <a:spcPct val="90000"/>
              </a:lnSpc>
              <a:spcAft>
                <a:spcPts val="400"/>
              </a:spcAft>
            </a:pPr>
            <a:r>
              <a:rPr sz="950" b="1">
                <a:solidFill>
                  <a:srgbClr val="1F3B63"/>
                </a:solidFill>
              </a:rPr>
              <a:t>Apr</a:t>
            </a:r>
          </a:p>
        </p:txBody>
      </p:sp>
      <p:sp>
        <p:nvSpPr>
          <p:cNvPr id="14" name="TextBox 13"/>
          <p:cNvSpPr txBox="1"/>
          <p:nvPr/>
        </p:nvSpPr>
        <p:spPr>
          <a:xfrm>
            <a:off x="8905036" y="1042416"/>
            <a:ext cx="695934" cy="274320"/>
          </a:xfrm>
          <a:prstGeom prst="rect">
            <a:avLst/>
          </a:prstGeom>
          <a:noFill/>
        </p:spPr>
        <p:txBody>
          <a:bodyPr wrap="square">
            <a:spAutoFit/>
          </a:bodyPr>
          <a:lstStyle/>
          <a:p>
            <a:pPr algn="ctr">
              <a:lnSpc>
                <a:spcPct val="90000"/>
              </a:lnSpc>
              <a:spcAft>
                <a:spcPts val="400"/>
              </a:spcAft>
            </a:pPr>
            <a:r>
              <a:rPr sz="950" b="1">
                <a:solidFill>
                  <a:srgbClr val="1F3B63"/>
                </a:solidFill>
              </a:rPr>
              <a:t>May</a:t>
            </a:r>
          </a:p>
        </p:txBody>
      </p:sp>
      <p:sp>
        <p:nvSpPr>
          <p:cNvPr id="15" name="TextBox 14"/>
          <p:cNvSpPr txBox="1"/>
          <p:nvPr/>
        </p:nvSpPr>
        <p:spPr>
          <a:xfrm>
            <a:off x="9600971" y="1042416"/>
            <a:ext cx="695934" cy="274320"/>
          </a:xfrm>
          <a:prstGeom prst="rect">
            <a:avLst/>
          </a:prstGeom>
          <a:noFill/>
        </p:spPr>
        <p:txBody>
          <a:bodyPr wrap="square">
            <a:spAutoFit/>
          </a:bodyPr>
          <a:lstStyle/>
          <a:p>
            <a:pPr algn="ctr">
              <a:lnSpc>
                <a:spcPct val="90000"/>
              </a:lnSpc>
              <a:spcAft>
                <a:spcPts val="400"/>
              </a:spcAft>
            </a:pPr>
            <a:r>
              <a:rPr sz="950" b="1">
                <a:solidFill>
                  <a:srgbClr val="1F3B63"/>
                </a:solidFill>
              </a:rPr>
              <a:t>Jun</a:t>
            </a:r>
          </a:p>
        </p:txBody>
      </p:sp>
      <p:sp>
        <p:nvSpPr>
          <p:cNvPr id="16" name="TextBox 15"/>
          <p:cNvSpPr txBox="1"/>
          <p:nvPr/>
        </p:nvSpPr>
        <p:spPr>
          <a:xfrm>
            <a:off x="10296905" y="1042416"/>
            <a:ext cx="695934" cy="274320"/>
          </a:xfrm>
          <a:prstGeom prst="rect">
            <a:avLst/>
          </a:prstGeom>
          <a:noFill/>
        </p:spPr>
        <p:txBody>
          <a:bodyPr wrap="square">
            <a:spAutoFit/>
          </a:bodyPr>
          <a:lstStyle/>
          <a:p>
            <a:pPr algn="ctr">
              <a:lnSpc>
                <a:spcPct val="90000"/>
              </a:lnSpc>
              <a:spcAft>
                <a:spcPts val="400"/>
              </a:spcAft>
            </a:pPr>
            <a:r>
              <a:rPr sz="950" b="1">
                <a:solidFill>
                  <a:srgbClr val="1F3B63"/>
                </a:solidFill>
              </a:rPr>
              <a:t>Jul</a:t>
            </a:r>
          </a:p>
        </p:txBody>
      </p:sp>
      <p:sp>
        <p:nvSpPr>
          <p:cNvPr id="17" name="TextBox 16"/>
          <p:cNvSpPr txBox="1"/>
          <p:nvPr/>
        </p:nvSpPr>
        <p:spPr>
          <a:xfrm>
            <a:off x="10992840" y="1042416"/>
            <a:ext cx="695934" cy="274320"/>
          </a:xfrm>
          <a:prstGeom prst="rect">
            <a:avLst/>
          </a:prstGeom>
          <a:noFill/>
        </p:spPr>
        <p:txBody>
          <a:bodyPr wrap="square">
            <a:spAutoFit/>
          </a:bodyPr>
          <a:lstStyle/>
          <a:p>
            <a:pPr algn="ctr">
              <a:lnSpc>
                <a:spcPct val="90000"/>
              </a:lnSpc>
              <a:spcAft>
                <a:spcPts val="400"/>
              </a:spcAft>
            </a:pPr>
            <a:r>
              <a:rPr sz="950" b="1">
                <a:solidFill>
                  <a:srgbClr val="1F3B63"/>
                </a:solidFill>
              </a:rPr>
              <a:t>Aug</a:t>
            </a:r>
          </a:p>
        </p:txBody>
      </p:sp>
      <p:sp>
        <p:nvSpPr>
          <p:cNvPr id="18" name="Rectangle 17"/>
          <p:cNvSpPr/>
          <p:nvPr/>
        </p:nvSpPr>
        <p:spPr>
          <a:xfrm>
            <a:off x="3337560"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33494"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29429"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25363"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1298"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17232"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13167"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09102"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05036"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00971"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296905"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92840"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688775" y="1307592"/>
            <a:ext cx="6350" cy="4325112"/>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1316736"/>
            <a:ext cx="2788920" cy="256032"/>
          </a:xfrm>
          <a:prstGeom prst="rect">
            <a:avLst/>
          </a:prstGeom>
          <a:noFill/>
        </p:spPr>
        <p:txBody>
          <a:bodyPr wrap="square">
            <a:spAutoFit/>
          </a:bodyPr>
          <a:lstStyle/>
          <a:p>
            <a:pPr>
              <a:lnSpc>
                <a:spcPct val="90000"/>
              </a:lnSpc>
              <a:spcAft>
                <a:spcPts val="400"/>
              </a:spcAft>
            </a:pPr>
            <a:r>
              <a:rPr sz="950" b="0">
                <a:solidFill>
                  <a:srgbClr val="1F3B63"/>
                </a:solidFill>
              </a:rPr>
              <a:t>Xenium pilot with Alina (base panel)</a:t>
            </a:r>
          </a:p>
        </p:txBody>
      </p:sp>
      <p:sp>
        <p:nvSpPr>
          <p:cNvPr id="32" name="Rounded Rectangle 31"/>
          <p:cNvSpPr/>
          <p:nvPr/>
        </p:nvSpPr>
        <p:spPr>
          <a:xfrm>
            <a:off x="3346560" y="1344168"/>
            <a:ext cx="677934" cy="205740"/>
          </a:xfrm>
          <a:prstGeom prst="round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1623060"/>
            <a:ext cx="2788920" cy="256032"/>
          </a:xfrm>
          <a:prstGeom prst="rect">
            <a:avLst/>
          </a:prstGeom>
          <a:noFill/>
        </p:spPr>
        <p:txBody>
          <a:bodyPr wrap="square">
            <a:spAutoFit/>
          </a:bodyPr>
          <a:lstStyle/>
          <a:p>
            <a:pPr>
              <a:lnSpc>
                <a:spcPct val="90000"/>
              </a:lnSpc>
              <a:spcAft>
                <a:spcPts val="400"/>
              </a:spcAft>
            </a:pPr>
            <a:r>
              <a:rPr sz="950" b="0">
                <a:solidFill>
                  <a:srgbClr val="1F3B63"/>
                </a:solidFill>
              </a:rPr>
              <a:t>Panel cross-check + quote</a:t>
            </a:r>
          </a:p>
        </p:txBody>
      </p:sp>
      <p:sp>
        <p:nvSpPr>
          <p:cNvPr id="34" name="Rounded Rectangle 33"/>
          <p:cNvSpPr/>
          <p:nvPr/>
        </p:nvSpPr>
        <p:spPr>
          <a:xfrm>
            <a:off x="3346560" y="1650492"/>
            <a:ext cx="1373869" cy="205740"/>
          </a:xfrm>
          <a:prstGeom prst="roundRect">
            <a:avLst/>
          </a:prstGeom>
          <a:solidFill>
            <a:srgbClr val="8A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1929384"/>
            <a:ext cx="2788920" cy="256032"/>
          </a:xfrm>
          <a:prstGeom prst="rect">
            <a:avLst/>
          </a:prstGeom>
          <a:noFill/>
        </p:spPr>
        <p:txBody>
          <a:bodyPr wrap="square">
            <a:spAutoFit/>
          </a:bodyPr>
          <a:lstStyle/>
          <a:p>
            <a:pPr>
              <a:lnSpc>
                <a:spcPct val="90000"/>
              </a:lnSpc>
              <a:spcAft>
                <a:spcPts val="400"/>
              </a:spcAft>
            </a:pPr>
            <a:r>
              <a:rPr sz="950" b="0">
                <a:solidFill>
                  <a:srgbClr val="1F3B63"/>
                </a:solidFill>
              </a:rPr>
              <a:t>Order custom panel</a:t>
            </a:r>
          </a:p>
        </p:txBody>
      </p:sp>
      <p:sp>
        <p:nvSpPr>
          <p:cNvPr id="36" name="Rounded Rectangle 35"/>
          <p:cNvSpPr/>
          <p:nvPr/>
        </p:nvSpPr>
        <p:spPr>
          <a:xfrm>
            <a:off x="4042494" y="1956816"/>
            <a:ext cx="677934" cy="205740"/>
          </a:xfrm>
          <a:prstGeom prst="round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2235708"/>
            <a:ext cx="2788920" cy="256032"/>
          </a:xfrm>
          <a:prstGeom prst="rect">
            <a:avLst/>
          </a:prstGeom>
          <a:noFill/>
        </p:spPr>
        <p:txBody>
          <a:bodyPr wrap="square">
            <a:spAutoFit/>
          </a:bodyPr>
          <a:lstStyle/>
          <a:p>
            <a:pPr>
              <a:lnSpc>
                <a:spcPct val="90000"/>
              </a:lnSpc>
              <a:spcAft>
                <a:spcPts val="400"/>
              </a:spcAft>
            </a:pPr>
            <a:r>
              <a:rPr sz="950" b="0">
                <a:solidFill>
                  <a:srgbClr val="1F3B63"/>
                </a:solidFill>
              </a:rPr>
              <a:t>Panel manufacture</a:t>
            </a:r>
          </a:p>
        </p:txBody>
      </p:sp>
      <p:sp>
        <p:nvSpPr>
          <p:cNvPr id="38" name="Rounded Rectangle 37"/>
          <p:cNvSpPr/>
          <p:nvPr/>
        </p:nvSpPr>
        <p:spPr>
          <a:xfrm>
            <a:off x="4042494" y="2263140"/>
            <a:ext cx="2069803" cy="205740"/>
          </a:xfrm>
          <a:prstGeom prst="roundRect">
            <a:avLst/>
          </a:prstGeom>
          <a:solidFill>
            <a:srgbClr val="8A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2542032"/>
            <a:ext cx="2788920" cy="256032"/>
          </a:xfrm>
          <a:prstGeom prst="rect">
            <a:avLst/>
          </a:prstGeom>
          <a:noFill/>
        </p:spPr>
        <p:txBody>
          <a:bodyPr wrap="square">
            <a:spAutoFit/>
          </a:bodyPr>
          <a:lstStyle/>
          <a:p>
            <a:pPr>
              <a:lnSpc>
                <a:spcPct val="90000"/>
              </a:lnSpc>
              <a:spcAft>
                <a:spcPts val="400"/>
              </a:spcAft>
            </a:pPr>
            <a:r>
              <a:rPr sz="950" b="0">
                <a:solidFill>
                  <a:srgbClr val="1F3B63"/>
                </a:solidFill>
              </a:rPr>
              <a:t>Exp 1 behaviour cohort (n=3+3)</a:t>
            </a:r>
          </a:p>
        </p:txBody>
      </p:sp>
      <p:sp>
        <p:nvSpPr>
          <p:cNvPr id="40" name="Rounded Rectangle 39"/>
          <p:cNvSpPr/>
          <p:nvPr/>
        </p:nvSpPr>
        <p:spPr>
          <a:xfrm>
            <a:off x="4738429" y="2569464"/>
            <a:ext cx="1373869" cy="205740"/>
          </a:xfrm>
          <a:prstGeom prst="round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2848356"/>
            <a:ext cx="2788920" cy="256032"/>
          </a:xfrm>
          <a:prstGeom prst="rect">
            <a:avLst/>
          </a:prstGeom>
          <a:noFill/>
        </p:spPr>
        <p:txBody>
          <a:bodyPr wrap="square">
            <a:spAutoFit/>
          </a:bodyPr>
          <a:lstStyle/>
          <a:p>
            <a:pPr>
              <a:lnSpc>
                <a:spcPct val="90000"/>
              </a:lnSpc>
              <a:spcAft>
                <a:spcPts val="400"/>
              </a:spcAft>
            </a:pPr>
            <a:r>
              <a:rPr sz="950" b="0">
                <a:solidFill>
                  <a:srgbClr val="1F3B63"/>
                </a:solidFill>
              </a:rPr>
              <a:t>Exp 1 Xenium run + analysis</a:t>
            </a:r>
          </a:p>
        </p:txBody>
      </p:sp>
      <p:sp>
        <p:nvSpPr>
          <p:cNvPr id="42" name="Rounded Rectangle 41"/>
          <p:cNvSpPr/>
          <p:nvPr/>
        </p:nvSpPr>
        <p:spPr>
          <a:xfrm>
            <a:off x="5434363" y="2875788"/>
            <a:ext cx="2069803" cy="205740"/>
          </a:xfrm>
          <a:prstGeom prst="round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3154680"/>
            <a:ext cx="2788920" cy="256032"/>
          </a:xfrm>
          <a:prstGeom prst="rect">
            <a:avLst/>
          </a:prstGeom>
          <a:noFill/>
        </p:spPr>
        <p:txBody>
          <a:bodyPr wrap="square">
            <a:spAutoFit/>
          </a:bodyPr>
          <a:lstStyle/>
          <a:p>
            <a:pPr>
              <a:lnSpc>
                <a:spcPct val="90000"/>
              </a:lnSpc>
              <a:spcAft>
                <a:spcPts val="400"/>
              </a:spcAft>
            </a:pPr>
            <a:r>
              <a:rPr sz="950" b="0">
                <a:solidFill>
                  <a:srgbClr val="1F3B63"/>
                </a:solidFill>
              </a:rPr>
              <a:t>Exp 2 cohort 1 surgery (ORBm, n=16)</a:t>
            </a:r>
          </a:p>
        </p:txBody>
      </p:sp>
      <p:sp>
        <p:nvSpPr>
          <p:cNvPr id="44" name="Rounded Rectangle 43"/>
          <p:cNvSpPr/>
          <p:nvPr/>
        </p:nvSpPr>
        <p:spPr>
          <a:xfrm>
            <a:off x="4738429" y="3182112"/>
            <a:ext cx="677934" cy="205740"/>
          </a:xfrm>
          <a:prstGeom prst="roundRect">
            <a:avLst/>
          </a:prstGeom>
          <a:solidFill>
            <a:srgbClr val="7A3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3461004"/>
            <a:ext cx="2788920" cy="256032"/>
          </a:xfrm>
          <a:prstGeom prst="rect">
            <a:avLst/>
          </a:prstGeom>
          <a:noFill/>
        </p:spPr>
        <p:txBody>
          <a:bodyPr wrap="square">
            <a:spAutoFit/>
          </a:bodyPr>
          <a:lstStyle/>
          <a:p>
            <a:pPr>
              <a:lnSpc>
                <a:spcPct val="90000"/>
              </a:lnSpc>
              <a:spcAft>
                <a:spcPts val="400"/>
              </a:spcAft>
            </a:pPr>
            <a:r>
              <a:rPr sz="950" b="0">
                <a:solidFill>
                  <a:srgbClr val="1F3B63"/>
                </a:solidFill>
              </a:rPr>
              <a:t>Exp 2 cohort 1 behaviour + DCZ tests</a:t>
            </a:r>
          </a:p>
        </p:txBody>
      </p:sp>
      <p:sp>
        <p:nvSpPr>
          <p:cNvPr id="46" name="Rounded Rectangle 45"/>
          <p:cNvSpPr/>
          <p:nvPr/>
        </p:nvSpPr>
        <p:spPr>
          <a:xfrm>
            <a:off x="4738429" y="3488436"/>
            <a:ext cx="2069803" cy="205740"/>
          </a:xfrm>
          <a:prstGeom prst="roundRect">
            <a:avLst/>
          </a:prstGeom>
          <a:solidFill>
            <a:srgbClr val="9D6A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 y="3767328"/>
            <a:ext cx="2788920" cy="256032"/>
          </a:xfrm>
          <a:prstGeom prst="rect">
            <a:avLst/>
          </a:prstGeom>
          <a:noFill/>
        </p:spPr>
        <p:txBody>
          <a:bodyPr wrap="square">
            <a:spAutoFit/>
          </a:bodyPr>
          <a:lstStyle/>
          <a:p>
            <a:pPr>
              <a:lnSpc>
                <a:spcPct val="90000"/>
              </a:lnSpc>
              <a:spcAft>
                <a:spcPts val="400"/>
              </a:spcAft>
            </a:pPr>
            <a:r>
              <a:rPr sz="950" b="0">
                <a:solidFill>
                  <a:srgbClr val="1F3B63"/>
                </a:solidFill>
              </a:rPr>
              <a:t>Cohort 1 histology + power estimate</a:t>
            </a:r>
          </a:p>
        </p:txBody>
      </p:sp>
      <p:sp>
        <p:nvSpPr>
          <p:cNvPr id="48" name="Rounded Rectangle 47"/>
          <p:cNvSpPr/>
          <p:nvPr/>
        </p:nvSpPr>
        <p:spPr>
          <a:xfrm>
            <a:off x="6130298" y="3794760"/>
            <a:ext cx="1373869" cy="205740"/>
          </a:xfrm>
          <a:prstGeom prst="roundRect">
            <a:avLst/>
          </a:prstGeom>
          <a:solidFill>
            <a:srgbClr val="9D6A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4073652"/>
            <a:ext cx="2788920" cy="256032"/>
          </a:xfrm>
          <a:prstGeom prst="rect">
            <a:avLst/>
          </a:prstGeom>
          <a:noFill/>
        </p:spPr>
        <p:txBody>
          <a:bodyPr wrap="square">
            <a:spAutoFit/>
          </a:bodyPr>
          <a:lstStyle/>
          <a:p>
            <a:pPr>
              <a:lnSpc>
                <a:spcPct val="90000"/>
              </a:lnSpc>
              <a:spcAft>
                <a:spcPts val="400"/>
              </a:spcAft>
            </a:pPr>
            <a:r>
              <a:rPr sz="950" b="1">
                <a:solidFill>
                  <a:srgbClr val="1F3B63"/>
                </a:solidFill>
              </a:rPr>
              <a:t>DECISION GATE: go / no-go on powered cohort</a:t>
            </a:r>
          </a:p>
        </p:txBody>
      </p:sp>
      <p:sp>
        <p:nvSpPr>
          <p:cNvPr id="50" name="Rounded Rectangle 49"/>
          <p:cNvSpPr/>
          <p:nvPr/>
        </p:nvSpPr>
        <p:spPr>
          <a:xfrm>
            <a:off x="6826232" y="4101084"/>
            <a:ext cx="677934" cy="205740"/>
          </a:xfrm>
          <a:prstGeom prst="roundRect">
            <a:avLst/>
          </a:prstGeom>
          <a:solidFill>
            <a:srgbClr val="9C6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2920" y="4379976"/>
            <a:ext cx="2788920" cy="256032"/>
          </a:xfrm>
          <a:prstGeom prst="rect">
            <a:avLst/>
          </a:prstGeom>
          <a:noFill/>
        </p:spPr>
        <p:txBody>
          <a:bodyPr wrap="square">
            <a:spAutoFit/>
          </a:bodyPr>
          <a:lstStyle/>
          <a:p>
            <a:pPr>
              <a:lnSpc>
                <a:spcPct val="90000"/>
              </a:lnSpc>
              <a:spcAft>
                <a:spcPts val="400"/>
              </a:spcAft>
            </a:pPr>
            <a:r>
              <a:rPr sz="950" b="0">
                <a:solidFill>
                  <a:srgbClr val="1F3B63"/>
                </a:solidFill>
              </a:rPr>
              <a:t>Exp 2 cohort 2 powered (ORBm, n=40)</a:t>
            </a:r>
          </a:p>
        </p:txBody>
      </p:sp>
      <p:sp>
        <p:nvSpPr>
          <p:cNvPr id="52" name="Rounded Rectangle 51"/>
          <p:cNvSpPr/>
          <p:nvPr/>
        </p:nvSpPr>
        <p:spPr>
          <a:xfrm>
            <a:off x="6826232" y="4407408"/>
            <a:ext cx="2765738" cy="205740"/>
          </a:xfrm>
          <a:prstGeom prst="roundRect">
            <a:avLst/>
          </a:prstGeom>
          <a:solidFill>
            <a:srgbClr val="7A3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4686300"/>
            <a:ext cx="2788920" cy="256032"/>
          </a:xfrm>
          <a:prstGeom prst="rect">
            <a:avLst/>
          </a:prstGeom>
          <a:noFill/>
        </p:spPr>
        <p:txBody>
          <a:bodyPr wrap="square">
            <a:spAutoFit/>
          </a:bodyPr>
          <a:lstStyle/>
          <a:p>
            <a:pPr>
              <a:lnSpc>
                <a:spcPct val="90000"/>
              </a:lnSpc>
              <a:spcAft>
                <a:spcPts val="400"/>
              </a:spcAft>
            </a:pPr>
            <a:r>
              <a:rPr sz="950" b="0">
                <a:solidFill>
                  <a:srgbClr val="1F3B63"/>
                </a:solidFill>
              </a:rPr>
              <a:t>Exp 2 BMAp cohort</a:t>
            </a:r>
          </a:p>
        </p:txBody>
      </p:sp>
      <p:sp>
        <p:nvSpPr>
          <p:cNvPr id="54" name="Rounded Rectangle 53"/>
          <p:cNvSpPr/>
          <p:nvPr/>
        </p:nvSpPr>
        <p:spPr>
          <a:xfrm>
            <a:off x="8914036" y="4713732"/>
            <a:ext cx="2765738" cy="205740"/>
          </a:xfrm>
          <a:prstGeom prst="roundRect">
            <a:avLst/>
          </a:prstGeom>
          <a:solidFill>
            <a:srgbClr val="7A3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4992624"/>
            <a:ext cx="2788920" cy="256032"/>
          </a:xfrm>
          <a:prstGeom prst="rect">
            <a:avLst/>
          </a:prstGeom>
          <a:noFill/>
        </p:spPr>
        <p:txBody>
          <a:bodyPr wrap="square">
            <a:spAutoFit/>
          </a:bodyPr>
          <a:lstStyle/>
          <a:p>
            <a:pPr>
              <a:lnSpc>
                <a:spcPct val="90000"/>
              </a:lnSpc>
              <a:spcAft>
                <a:spcPts val="400"/>
              </a:spcAft>
            </a:pPr>
            <a:r>
              <a:rPr sz="950" b="0">
                <a:solidFill>
                  <a:srgbClr val="1F3B63"/>
                </a:solidFill>
              </a:rPr>
              <a:t>Start TRAP2 × R26-hM4Di cross (option B)</a:t>
            </a:r>
          </a:p>
        </p:txBody>
      </p:sp>
      <p:sp>
        <p:nvSpPr>
          <p:cNvPr id="56" name="Rounded Rectangle 55"/>
          <p:cNvSpPr/>
          <p:nvPr/>
        </p:nvSpPr>
        <p:spPr>
          <a:xfrm>
            <a:off x="4738429" y="5020056"/>
            <a:ext cx="5549476" cy="205740"/>
          </a:xfrm>
          <a:prstGeom prst="roundRect">
            <a:avLst/>
          </a:prstGeom>
          <a:solidFill>
            <a:srgbClr val="1E6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5298948"/>
            <a:ext cx="2788920" cy="256032"/>
          </a:xfrm>
          <a:prstGeom prst="rect">
            <a:avLst/>
          </a:prstGeom>
          <a:noFill/>
        </p:spPr>
        <p:txBody>
          <a:bodyPr wrap="square">
            <a:spAutoFit/>
          </a:bodyPr>
          <a:lstStyle/>
          <a:p>
            <a:pPr>
              <a:lnSpc>
                <a:spcPct val="90000"/>
              </a:lnSpc>
              <a:spcAft>
                <a:spcPts val="400"/>
              </a:spcAft>
            </a:pPr>
            <a:r>
              <a:rPr sz="950" b="0">
                <a:solidFill>
                  <a:srgbClr val="595959"/>
                </a:solidFill>
              </a:rPr>
              <a:t>Writing / figures</a:t>
            </a:r>
          </a:p>
        </p:txBody>
      </p:sp>
      <p:sp>
        <p:nvSpPr>
          <p:cNvPr id="58" name="Rounded Rectangle 57"/>
          <p:cNvSpPr/>
          <p:nvPr/>
        </p:nvSpPr>
        <p:spPr>
          <a:xfrm>
            <a:off x="9609971" y="5326380"/>
            <a:ext cx="2069803" cy="205740"/>
          </a:xfrm>
          <a:prstGeom prst="round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02920" y="5760720"/>
            <a:ext cx="11185855" cy="502920"/>
          </a:xfrm>
          <a:prstGeom prst="rect">
            <a:avLst/>
          </a:prstGeom>
          <a:solidFill>
            <a:srgbClr val="FFF4D6"/>
          </a:solidFill>
          <a:ln w="15875">
            <a:solidFill>
              <a:srgbClr val="9C6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54864"/>
          <a:lstStyle/>
          <a:p>
            <a:pPr algn="l">
              <a:lnSpc>
                <a:spcPct val="100000"/>
              </a:lnSpc>
              <a:spcAft>
                <a:spcPts val="400"/>
              </a:spcAft>
            </a:pPr>
            <a:r>
              <a:rPr sz="1150" b="1">
                <a:solidFill>
                  <a:srgbClr val="1F3B63"/>
                </a:solidFill>
              </a:rPr>
              <a:t>The decision gate in February is deliberate: no powered cohort is ordered until cohort 1 has shown that hM4Di reaches the tagged cells and that DCZ suppresses their activity.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DECISIONS</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What I need from you, and what could still go wrong</a:t>
            </a:r>
          </a:p>
        </p:txBody>
      </p:sp>
      <p:sp>
        <p:nvSpPr>
          <p:cNvPr id="4" name="Rectangle 3"/>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98448"/>
            <a:ext cx="5449824" cy="292608"/>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DECISIONS I NEED</a:t>
            </a:r>
          </a:p>
        </p:txBody>
      </p:sp>
      <p:sp>
        <p:nvSpPr>
          <p:cNvPr id="6" name="Rectangle 5"/>
          <p:cNvSpPr/>
          <p:nvPr/>
        </p:nvSpPr>
        <p:spPr>
          <a:xfrm>
            <a:off x="502920" y="1591056"/>
            <a:ext cx="5449824" cy="391363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150" b="0">
                <a:solidFill>
                  <a:srgbClr val="595959"/>
                </a:solidFill>
              </a:rPr>
              <a:t>1.  Budget route for the panel: Xenium Prime 5K base, or base panel plus a 100-gene add-on. This changes what I can order in October.</a:t>
            </a:r>
          </a:p>
          <a:p>
            <a:pPr algn="l">
              <a:lnSpc>
                <a:spcPct val="97000"/>
              </a:lnSpc>
              <a:spcAft>
                <a:spcPts val="500"/>
              </a:spcAft>
            </a:pPr>
            <a:r>
              <a:rPr sz="1150" b="0">
                <a:solidFill>
                  <a:srgbClr val="595959"/>
                </a:solidFill>
              </a:rPr>
              <a:t>2.  Which region first for chemogenetics. I recommend ORBm — larger effect in the screen, easier bilateral target, and cortex is more forgiving of spread.</a:t>
            </a:r>
          </a:p>
          <a:p>
            <a:pPr algn="l">
              <a:lnSpc>
                <a:spcPct val="97000"/>
              </a:lnSpc>
              <a:spcAft>
                <a:spcPts val="500"/>
              </a:spcAft>
            </a:pPr>
            <a:r>
              <a:rPr sz="1150" b="0">
                <a:solidFill>
                  <a:srgbClr val="595959"/>
                </a:solidFill>
              </a:rPr>
              <a:t>3.  Group sizes: do you accept cohort 1 as an explicitly underpowered expression pilot, with the powered cohort gated on its result?</a:t>
            </a:r>
          </a:p>
          <a:p>
            <a:pPr algn="l">
              <a:lnSpc>
                <a:spcPct val="97000"/>
              </a:lnSpc>
              <a:spcAft>
                <a:spcPts val="500"/>
              </a:spcAft>
            </a:pPr>
            <a:r>
              <a:rPr sz="1150" b="0">
                <a:solidFill>
                  <a:srgbClr val="595959"/>
                </a:solidFill>
              </a:rPr>
              <a:t>4.  Housing on the tagging day — whether the yoked design can tolerate 48 h of single housing before day 12, or whether we measure background instead.</a:t>
            </a:r>
          </a:p>
          <a:p>
            <a:pPr algn="l">
              <a:lnSpc>
                <a:spcPct val="97000"/>
              </a:lnSpc>
              <a:spcAft>
                <a:spcPts val="500"/>
              </a:spcAft>
            </a:pPr>
            <a:r>
              <a:rPr sz="1150" b="0">
                <a:solidFill>
                  <a:srgbClr val="595959"/>
                </a:solidFill>
              </a:rPr>
              <a:t>5.  Sex as a variable. The current cohort needs checking; if it is male-only I would like to add females to the powered cohort rather than to the pilot.</a:t>
            </a:r>
          </a:p>
          <a:p>
            <a:pPr algn="l">
              <a:lnSpc>
                <a:spcPct val="97000"/>
              </a:lnSpc>
              <a:spcAft>
                <a:spcPts val="500"/>
              </a:spcAft>
            </a:pPr>
            <a:r>
              <a:rPr sz="1150" b="0">
                <a:solidFill>
                  <a:srgbClr val="595959"/>
                </a:solidFill>
              </a:rPr>
              <a:t>6.  Whether to start the TRAP2 × R26-hM4Di cross now, so the within-Post question is answerable in 2027.</a:t>
            </a:r>
          </a:p>
        </p:txBody>
      </p:sp>
      <p:sp>
        <p:nvSpPr>
          <p:cNvPr id="7" name="Rectangle 6"/>
          <p:cNvSpPr/>
          <p:nvPr/>
        </p:nvSpPr>
        <p:spPr>
          <a:xfrm>
            <a:off x="6238951" y="1298448"/>
            <a:ext cx="5449824" cy="292608"/>
          </a:xfrm>
          <a:prstGeom prst="rect">
            <a:avLst/>
          </a:prstGeom>
          <a:solidFill>
            <a:srgbClr val="9C6300"/>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nSpc>
                <a:spcPct val="95000"/>
              </a:lnSpc>
              <a:spcAft>
                <a:spcPts val="400"/>
              </a:spcAft>
            </a:pPr>
            <a:r>
              <a:rPr sz="1150" b="1">
                <a:solidFill>
                  <a:srgbClr val="FFFFFF"/>
                </a:solidFill>
              </a:rPr>
              <a:t>RISKS, AND WHAT I WOULD DO</a:t>
            </a:r>
          </a:p>
        </p:txBody>
      </p:sp>
      <p:sp>
        <p:nvSpPr>
          <p:cNvPr id="8" name="Rectangle 7"/>
          <p:cNvSpPr/>
          <p:nvPr/>
        </p:nvSpPr>
        <p:spPr>
          <a:xfrm>
            <a:off x="6238951" y="1591056"/>
            <a:ext cx="5449824" cy="3913632"/>
          </a:xfrm>
          <a:prstGeom prst="rect">
            <a:avLst/>
          </a:prstGeom>
          <a:solidFill>
            <a:srgbClr val="EEF3F9"/>
          </a:solidFill>
          <a:ln>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82296"/>
          <a:lstStyle/>
          <a:p>
            <a:pPr algn="l">
              <a:lnSpc>
                <a:spcPct val="97000"/>
              </a:lnSpc>
              <a:spcAft>
                <a:spcPts val="500"/>
              </a:spcAft>
            </a:pPr>
            <a:r>
              <a:rPr sz="1150" b="0">
                <a:solidFill>
                  <a:srgbClr val="595959"/>
                </a:solidFill>
              </a:rPr>
              <a:t>Custom transgene probes are not validated by 10x. If tdTomato detection is weak, iCre gives a second independent readout of the same cells, and immunostaining on adjacent sections is the fallback.</a:t>
            </a:r>
          </a:p>
          <a:p>
            <a:pPr algn="l">
              <a:lnSpc>
                <a:spcPct val="97000"/>
              </a:lnSpc>
              <a:spcAft>
                <a:spcPts val="500"/>
              </a:spcAft>
            </a:pPr>
            <a:r>
              <a:rPr sz="1150" b="0">
                <a:solidFill>
                  <a:srgbClr val="595959"/>
                </a:solidFill>
              </a:rPr>
              <a:t>BMAp is small and next to MEA, BLA and the sAMY-like GABA populations. Mitigation: small injection volume, and every mouse verified histologically against the subclass markers from the panel work.</a:t>
            </a:r>
          </a:p>
          <a:p>
            <a:pPr algn="l">
              <a:lnSpc>
                <a:spcPct val="97000"/>
              </a:lnSpc>
              <a:spcAft>
                <a:spcPts val="500"/>
              </a:spcAft>
            </a:pPr>
            <a:r>
              <a:rPr sz="1150" b="0">
                <a:solidFill>
                  <a:srgbClr val="595959"/>
                </a:solidFill>
              </a:rPr>
              <a:t>Our Post ensemble may not be one cell type. If Xenium shows it is heterogeneous, the chemogenetic result becomes harder to interpret — which is a reason to let Experiment 1 report before the powered cohort is locked.</a:t>
            </a:r>
          </a:p>
          <a:p>
            <a:pPr algn="l">
              <a:lnSpc>
                <a:spcPct val="97000"/>
              </a:lnSpc>
              <a:spcAft>
                <a:spcPts val="500"/>
              </a:spcAft>
            </a:pPr>
            <a:r>
              <a:rPr sz="1150" b="1">
                <a:solidFill>
                  <a:srgbClr val="1F3B63"/>
                </a:solidFill>
              </a:rPr>
              <a:t>Morphine dose and delivery volume are not written down anywhere I can find in the code or manifests. I need them for the methods section and for the licence.</a:t>
            </a:r>
          </a:p>
          <a:p>
            <a:pPr algn="l">
              <a:lnSpc>
                <a:spcPct val="97000"/>
              </a:lnSpc>
              <a:spcAft>
                <a:spcPts val="500"/>
              </a:spcAft>
            </a:pPr>
            <a:r>
              <a:rPr sz="1150" b="0">
                <a:solidFill>
                  <a:srgbClr val="595959"/>
                </a:solidFill>
              </a:rPr>
              <a:t>Oral lick-based self-administration is less standard than IV, so reviewers will ask for intake per session in mg/kg. Worth agreeing how we report that now.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85855" cy="256032"/>
          </a:xfrm>
          <a:prstGeom prst="rect">
            <a:avLst/>
          </a:prstGeom>
          <a:noFill/>
        </p:spPr>
        <p:txBody>
          <a:bodyPr wrap="square">
            <a:spAutoFit/>
          </a:bodyPr>
          <a:lstStyle/>
          <a:p>
            <a:pPr>
              <a:lnSpc>
                <a:spcPct val="95000"/>
              </a:lnSpc>
              <a:spcAft>
                <a:spcPts val="400"/>
              </a:spcAft>
            </a:pPr>
            <a:r>
              <a:rPr sz="1100" b="1">
                <a:solidFill>
                  <a:srgbClr val="2E6DA4"/>
                </a:solidFill>
              </a:rPr>
              <a:t>REFERENCES</a:t>
            </a:r>
          </a:p>
        </p:txBody>
      </p:sp>
      <p:sp>
        <p:nvSpPr>
          <p:cNvPr id="3" name="TextBox 2"/>
          <p:cNvSpPr txBox="1"/>
          <p:nvPr/>
        </p:nvSpPr>
        <p:spPr>
          <a:xfrm>
            <a:off x="502920" y="457200"/>
            <a:ext cx="11185855" cy="502920"/>
          </a:xfrm>
          <a:prstGeom prst="rect">
            <a:avLst/>
          </a:prstGeom>
          <a:noFill/>
        </p:spPr>
        <p:txBody>
          <a:bodyPr wrap="square">
            <a:spAutoFit/>
          </a:bodyPr>
          <a:lstStyle/>
          <a:p>
            <a:pPr>
              <a:lnSpc>
                <a:spcPct val="95000"/>
              </a:lnSpc>
              <a:spcAft>
                <a:spcPts val="400"/>
              </a:spcAft>
            </a:pPr>
            <a:r>
              <a:rPr sz="2500" b="1">
                <a:solidFill>
                  <a:srgbClr val="1F3B63"/>
                </a:solidFill>
              </a:rPr>
              <a:t>References for every parameter used in this deck</a:t>
            </a:r>
          </a:p>
        </p:txBody>
      </p:sp>
      <p:sp>
        <p:nvSpPr>
          <p:cNvPr id="4" name="Rectangle 3"/>
          <p:cNvSpPr/>
          <p:nvPr/>
        </p:nvSpPr>
        <p:spPr>
          <a:xfrm>
            <a:off x="502920" y="1234440"/>
            <a:ext cx="11185855" cy="11430"/>
          </a:xfrm>
          <a:prstGeom prst="rect">
            <a:avLst/>
          </a:prstGeom>
          <a:solidFill>
            <a:srgbClr val="D9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298448"/>
          <a:ext cx="11185854" cy="4809744"/>
        </p:xfrm>
        <a:graphic>
          <a:graphicData uri="http://schemas.openxmlformats.org/drawingml/2006/table">
            <a:tbl>
              <a:tblPr firstRow="1" bandRow="1">
                <a:tableStyleId>{5C22544A-7EE6-4342-B048-85BDC9FD1C3A}</a:tableStyleId>
              </a:tblPr>
              <a:tblGrid>
                <a:gridCol w="4217617"/>
                <a:gridCol w="6968237"/>
              </a:tblGrid>
              <a:tr h="237744">
                <a:tc>
                  <a:txBody>
                    <a:bodyPr/>
                    <a:lstStyle/>
                    <a:p>
                      <a:pPr algn="l">
                        <a:lnSpc>
                          <a:spcPct val="92000"/>
                        </a:lnSpc>
                      </a:pPr>
                      <a:r>
                        <a:rPr sz="1050" b="1">
                          <a:solidFill>
                            <a:srgbClr val="FFFFFF"/>
                          </a:solidFill>
                        </a:rPr>
                        <a:t>Claim in this deck</a:t>
                      </a:r>
                    </a:p>
                  </a:txBody>
                  <a:tcPr anchor="ctr" marL="54864" marR="54864" marT="18288" marB="18288">
                    <a:solidFill>
                      <a:srgbClr val="1F3B63"/>
                    </a:solidFill>
                  </a:tcPr>
                </a:tc>
                <a:tc>
                  <a:txBody>
                    <a:bodyPr/>
                    <a:lstStyle/>
                    <a:p>
                      <a:pPr algn="l">
                        <a:lnSpc>
                          <a:spcPct val="92000"/>
                        </a:lnSpc>
                      </a:pPr>
                      <a:r>
                        <a:rPr sz="1050" b="1">
                          <a:solidFill>
                            <a:srgbClr val="FFFFFF"/>
                          </a:solidFill>
                        </a:rPr>
                        <a:t>Source</a:t>
                      </a:r>
                    </a:p>
                  </a:txBody>
                  <a:tcPr anchor="ctr" marL="54864" marR="54864" marT="18288" marB="18288">
                    <a:solidFill>
                      <a:srgbClr val="1F3B63"/>
                    </a:solidFill>
                  </a:tcPr>
                </a:tc>
              </a:tr>
              <a:tr h="457200">
                <a:tc>
                  <a:txBody>
                    <a:bodyPr/>
                    <a:lstStyle/>
                    <a:p>
                      <a:pPr algn="l">
                        <a:lnSpc>
                          <a:spcPct val="92000"/>
                        </a:lnSpc>
                      </a:pPr>
                      <a:r>
                        <a:rPr sz="950" b="0">
                          <a:solidFill>
                            <a:srgbClr val="1F3B63"/>
                          </a:solidFill>
                        </a:rPr>
                        <a:t>TRAP2 labels within a ~6 h window centred on 4-OHT; 4-OHT 50 mg/kg i.p. at 10 mg/mL in 1:4 castor:sunflower oil; single housing 48 h before tagging</a:t>
                      </a:r>
                    </a:p>
                  </a:txBody>
                  <a:tcPr anchor="ctr" marL="54864" marR="54864" marT="18288" marB="18288">
                    <a:solidFill>
                      <a:srgbClr val="FFFFFF"/>
                    </a:solidFill>
                  </a:tcPr>
                </a:tc>
                <a:tc>
                  <a:txBody>
                    <a:bodyPr/>
                    <a:lstStyle/>
                    <a:p>
                      <a:pPr algn="l">
                        <a:lnSpc>
                          <a:spcPct val="92000"/>
                        </a:lnSpc>
                      </a:pPr>
                      <a:r>
                        <a:rPr sz="950" b="0">
                          <a:solidFill>
                            <a:srgbClr val="1F3B63"/>
                          </a:solidFill>
                        </a:rPr>
                        <a:t>DeNardo LA et al. Temporal evolution of cortical ensembles promoting remote memory retrieval. Nat Neurosci 2019;22:460-469</a:t>
                      </a:r>
                    </a:p>
                  </a:txBody>
                  <a:tcPr anchor="ctr" marL="54864" marR="54864" marT="18288" marB="18288">
                    <a:solidFill>
                      <a:srgbClr val="FFFFFF"/>
                    </a:solidFill>
                  </a:tcPr>
                </a:tc>
              </a:tr>
              <a:tr h="457200">
                <a:tc>
                  <a:txBody>
                    <a:bodyPr/>
                    <a:lstStyle/>
                    <a:p>
                      <a:pPr algn="l">
                        <a:lnSpc>
                          <a:spcPct val="92000"/>
                        </a:lnSpc>
                      </a:pPr>
                      <a:r>
                        <a:rPr sz="950" b="0">
                          <a:solidFill>
                            <a:srgbClr val="1F3B63"/>
                          </a:solidFill>
                        </a:rPr>
                        <a:t>TRAP2 = Fos2A-iCreER, JAX 030323;  Ai14 = JAX 007914</a:t>
                      </a:r>
                    </a:p>
                  </a:txBody>
                  <a:tcPr anchor="ctr" marL="54864" marR="54864" marT="18288" marB="18288">
                    <a:solidFill>
                      <a:srgbClr val="EEF3F9"/>
                    </a:solidFill>
                  </a:tcPr>
                </a:tc>
                <a:tc>
                  <a:txBody>
                    <a:bodyPr/>
                    <a:lstStyle/>
                    <a:p>
                      <a:pPr algn="l">
                        <a:lnSpc>
                          <a:spcPct val="92000"/>
                        </a:lnSpc>
                      </a:pPr>
                      <a:r>
                        <a:rPr sz="950" b="0">
                          <a:solidFill>
                            <a:srgbClr val="1F3B63"/>
                          </a:solidFill>
                        </a:rPr>
                        <a:t>DeNardo et al. 2019; Madisen L et al. Nat Neurosci 2010;13:133-140</a:t>
                      </a:r>
                    </a:p>
                  </a:txBody>
                  <a:tcPr anchor="ctr" marL="54864" marR="54864" marT="18288" marB="18288">
                    <a:solidFill>
                      <a:srgbClr val="EEF3F9"/>
                    </a:solidFill>
                  </a:tcPr>
                </a:tc>
              </a:tr>
              <a:tr h="457200">
                <a:tc>
                  <a:txBody>
                    <a:bodyPr/>
                    <a:lstStyle/>
                    <a:p>
                      <a:pPr algn="l">
                        <a:lnSpc>
                          <a:spcPct val="92000"/>
                        </a:lnSpc>
                      </a:pPr>
                      <a:r>
                        <a:rPr sz="950" b="0">
                          <a:solidFill>
                            <a:srgbClr val="1F3B63"/>
                          </a:solidFill>
                        </a:rPr>
                        <a:t>AAV-delivered Cre-dependent DREADDs need ~2 weeks after 4-OHT, on top of ~3 weeks for AAV expression before tagging</a:t>
                      </a:r>
                    </a:p>
                  </a:txBody>
                  <a:tcPr anchor="ctr" marL="54864" marR="54864" marT="18288" marB="18288">
                    <a:solidFill>
                      <a:srgbClr val="FFFFFF"/>
                    </a:solidFill>
                  </a:tcPr>
                </a:tc>
                <a:tc>
                  <a:txBody>
                    <a:bodyPr/>
                    <a:lstStyle/>
                    <a:p>
                      <a:pPr algn="l">
                        <a:lnSpc>
                          <a:spcPct val="92000"/>
                        </a:lnSpc>
                      </a:pPr>
                      <a:r>
                        <a:rPr sz="950" b="0">
                          <a:solidFill>
                            <a:srgbClr val="1F3B63"/>
                          </a:solidFill>
                        </a:rPr>
                        <a:t>López-Ferreras L et al. TRAPing ghrelin-activated circuits. Int J Mol Sci 2022;23:559; Cre-dependent AAV DREADD studies use 3-4 week expression windows</a:t>
                      </a:r>
                    </a:p>
                  </a:txBody>
                  <a:tcPr anchor="ctr" marL="54864" marR="54864" marT="18288" marB="18288">
                    <a:solidFill>
                      <a:srgbClr val="FFFFFF"/>
                    </a:solidFill>
                  </a:tcPr>
                </a:tc>
              </a:tr>
              <a:tr h="457200">
                <a:tc>
                  <a:txBody>
                    <a:bodyPr/>
                    <a:lstStyle/>
                    <a:p>
                      <a:pPr algn="l">
                        <a:lnSpc>
                          <a:spcPct val="92000"/>
                        </a:lnSpc>
                      </a:pPr>
                      <a:r>
                        <a:rPr sz="950" b="0">
                          <a:solidFill>
                            <a:srgbClr val="1F3B63"/>
                          </a:solidFill>
                        </a:rPr>
                        <a:t>Transgenic Cre-dependent hM4Di can be used 48 h after tagging, with local intracerebral ligand infusion for region specificity</a:t>
                      </a:r>
                    </a:p>
                  </a:txBody>
                  <a:tcPr anchor="ctr" marL="54864" marR="54864" marT="18288" marB="18288">
                    <a:solidFill>
                      <a:srgbClr val="EEF3F9"/>
                    </a:solidFill>
                  </a:tcPr>
                </a:tc>
                <a:tc>
                  <a:txBody>
                    <a:bodyPr/>
                    <a:lstStyle/>
                    <a:p>
                      <a:pPr algn="l">
                        <a:lnSpc>
                          <a:spcPct val="92000"/>
                        </a:lnSpc>
                      </a:pPr>
                      <a:r>
                        <a:rPr sz="950" b="0">
                          <a:solidFill>
                            <a:srgbClr val="1F3B63"/>
                          </a:solidFill>
                        </a:rPr>
                        <a:t>LEC engram cell study, bioRxiv 2025 (TRAP2 × hM4Di-DREADD, 48 h, intra-LEC CNO)</a:t>
                      </a:r>
                    </a:p>
                  </a:txBody>
                  <a:tcPr anchor="ctr" marL="54864" marR="54864" marT="18288" marB="18288">
                    <a:solidFill>
                      <a:srgbClr val="EEF3F9"/>
                    </a:solidFill>
                  </a:tcPr>
                </a:tc>
              </a:tr>
              <a:tr h="457200">
                <a:tc>
                  <a:txBody>
                    <a:bodyPr/>
                    <a:lstStyle/>
                    <a:p>
                      <a:pPr algn="l">
                        <a:lnSpc>
                          <a:spcPct val="92000"/>
                        </a:lnSpc>
                      </a:pPr>
                      <a:r>
                        <a:rPr sz="950" b="0">
                          <a:solidFill>
                            <a:srgbClr val="1F3B63"/>
                          </a:solidFill>
                        </a:rPr>
                        <a:t>R26-LSL-hM4Di/mCitrine = JAX 026219, targeted to the Rosa26 locus (hence the conflict with Ai14)</a:t>
                      </a:r>
                    </a:p>
                  </a:txBody>
                  <a:tcPr anchor="ctr" marL="54864" marR="54864" marT="18288" marB="18288">
                    <a:solidFill>
                      <a:srgbClr val="FFFFFF"/>
                    </a:solidFill>
                  </a:tcPr>
                </a:tc>
                <a:tc>
                  <a:txBody>
                    <a:bodyPr/>
                    <a:lstStyle/>
                    <a:p>
                      <a:pPr algn="l">
                        <a:lnSpc>
                          <a:spcPct val="92000"/>
                        </a:lnSpc>
                      </a:pPr>
                      <a:r>
                        <a:rPr sz="950" b="0">
                          <a:solidFill>
                            <a:srgbClr val="1F3B63"/>
                          </a:solidFill>
                        </a:rPr>
                        <a:t>Zhu H et al., Cre-dependent DREADD mice; JAX strain 026219; MGI:5614050</a:t>
                      </a:r>
                    </a:p>
                  </a:txBody>
                  <a:tcPr anchor="ctr" marL="54864" marR="54864" marT="18288" marB="18288">
                    <a:solidFill>
                      <a:srgbClr val="FFFFFF"/>
                    </a:solidFill>
                  </a:tcPr>
                </a:tc>
              </a:tr>
              <a:tr h="457200">
                <a:tc>
                  <a:txBody>
                    <a:bodyPr/>
                    <a:lstStyle/>
                    <a:p>
                      <a:pPr algn="l">
                        <a:lnSpc>
                          <a:spcPct val="92000"/>
                        </a:lnSpc>
                      </a:pPr>
                      <a:r>
                        <a:rPr sz="950" b="0">
                          <a:solidFill>
                            <a:srgbClr val="1F3B63"/>
                          </a:solidFill>
                        </a:rPr>
                        <a:t>CNO is reverse-metabolised to clozapine and produces clozapine-like effects</a:t>
                      </a:r>
                    </a:p>
                  </a:txBody>
                  <a:tcPr anchor="ctr" marL="54864" marR="54864" marT="18288" marB="18288">
                    <a:solidFill>
                      <a:srgbClr val="EEF3F9"/>
                    </a:solidFill>
                  </a:tcPr>
                </a:tc>
                <a:tc>
                  <a:txBody>
                    <a:bodyPr/>
                    <a:lstStyle/>
                    <a:p>
                      <a:pPr algn="l">
                        <a:lnSpc>
                          <a:spcPct val="92000"/>
                        </a:lnSpc>
                      </a:pPr>
                      <a:r>
                        <a:rPr sz="950" b="0">
                          <a:solidFill>
                            <a:srgbClr val="1F3B63"/>
                          </a:solidFill>
                        </a:rPr>
                        <a:t>Gomez JL et al. Science 2017;357:503-507; Manvich DF et al. Sci Rep 2018;8:3840</a:t>
                      </a:r>
                    </a:p>
                  </a:txBody>
                  <a:tcPr anchor="ctr" marL="54864" marR="54864" marT="18288" marB="18288">
                    <a:solidFill>
                      <a:srgbClr val="EEF3F9"/>
                    </a:solidFill>
                  </a:tcPr>
                </a:tc>
              </a:tr>
              <a:tr h="457200">
                <a:tc>
                  <a:txBody>
                    <a:bodyPr/>
                    <a:lstStyle/>
                    <a:p>
                      <a:pPr algn="l">
                        <a:lnSpc>
                          <a:spcPct val="92000"/>
                        </a:lnSpc>
                      </a:pPr>
                      <a:r>
                        <a:rPr sz="950" b="0">
                          <a:solidFill>
                            <a:srgbClr val="1F3B63"/>
                          </a:solidFill>
                        </a:rPr>
                        <a:t>DCZ is more potent and selective than CNO; effective at 0.001-0.1 mg/kg with no activity across 318 off-target GPCRs</a:t>
                      </a:r>
                    </a:p>
                  </a:txBody>
                  <a:tcPr anchor="ctr" marL="54864" marR="54864" marT="18288" marB="18288">
                    <a:solidFill>
                      <a:srgbClr val="FFFFFF"/>
                    </a:solidFill>
                  </a:tcPr>
                </a:tc>
                <a:tc>
                  <a:txBody>
                    <a:bodyPr/>
                    <a:lstStyle/>
                    <a:p>
                      <a:pPr algn="l">
                        <a:lnSpc>
                          <a:spcPct val="92000"/>
                        </a:lnSpc>
                      </a:pPr>
                      <a:r>
                        <a:rPr sz="950" b="0">
                          <a:solidFill>
                            <a:srgbClr val="1F3B63"/>
                          </a:solidFill>
                        </a:rPr>
                        <a:t>Nagai Y et al. Nat Neurosci 2020;23:1157-1167; Nentwig TB et al. Sci Rep 2022;12:6520</a:t>
                      </a:r>
                    </a:p>
                  </a:txBody>
                  <a:tcPr anchor="ctr" marL="54864" marR="54864" marT="18288" marB="18288">
                    <a:solidFill>
                      <a:srgbClr val="FFFFFF"/>
                    </a:solidFill>
                  </a:tcPr>
                </a:tc>
              </a:tr>
              <a:tr h="457200">
                <a:tc>
                  <a:txBody>
                    <a:bodyPr/>
                    <a:lstStyle/>
                    <a:p>
                      <a:pPr algn="l">
                        <a:lnSpc>
                          <a:spcPct val="92000"/>
                        </a:lnSpc>
                      </a:pPr>
                      <a:r>
                        <a:rPr sz="950" b="0">
                          <a:solidFill>
                            <a:srgbClr val="1F3B63"/>
                          </a:solidFill>
                        </a:rPr>
                        <a:t>OFC inactivation reduces oxycodone seeking on withdrawal day 15 but not day 1</a:t>
                      </a:r>
                    </a:p>
                  </a:txBody>
                  <a:tcPr anchor="ctr" marL="54864" marR="54864" marT="18288" marB="18288">
                    <a:solidFill>
                      <a:srgbClr val="EEF3F9"/>
                    </a:solidFill>
                  </a:tcPr>
                </a:tc>
                <a:tc>
                  <a:txBody>
                    <a:bodyPr/>
                    <a:lstStyle/>
                    <a:p>
                      <a:pPr algn="l">
                        <a:lnSpc>
                          <a:spcPct val="92000"/>
                        </a:lnSpc>
                      </a:pPr>
                      <a:r>
                        <a:rPr sz="950" b="0">
                          <a:solidFill>
                            <a:srgbClr val="1F3B63"/>
                          </a:solidFill>
                        </a:rPr>
                        <a:t>Fredriksson I / Shaham lab. Role of orbitofrontal cortex in incubation of oxycodone craving. Addict Biol 2020;25:e12927</a:t>
                      </a:r>
                    </a:p>
                  </a:txBody>
                  <a:tcPr anchor="ctr" marL="54864" marR="54864" marT="18288" marB="18288">
                    <a:solidFill>
                      <a:srgbClr val="EEF3F9"/>
                    </a:solidFill>
                  </a:tcPr>
                </a:tc>
              </a:tr>
              <a:tr h="457200">
                <a:tc>
                  <a:txBody>
                    <a:bodyPr/>
                    <a:lstStyle/>
                    <a:p>
                      <a:pPr algn="l">
                        <a:lnSpc>
                          <a:spcPct val="92000"/>
                        </a:lnSpc>
                      </a:pPr>
                      <a:r>
                        <a:rPr sz="950" b="0">
                          <a:solidFill>
                            <a:srgbClr val="1F3B63"/>
                          </a:solidFill>
                        </a:rPr>
                        <a:t>Fos ensembles are causally required for opioid and nicotine seeking; incubation peaks around withdrawal day 14</a:t>
                      </a:r>
                    </a:p>
                  </a:txBody>
                  <a:tcPr anchor="ctr" marL="54864" marR="54864" marT="18288" marB="18288">
                    <a:solidFill>
                      <a:srgbClr val="FFFFFF"/>
                    </a:solidFill>
                  </a:tcPr>
                </a:tc>
                <a:tc>
                  <a:txBody>
                    <a:bodyPr/>
                    <a:lstStyle/>
                    <a:p>
                      <a:pPr algn="l">
                        <a:lnSpc>
                          <a:spcPct val="92000"/>
                        </a:lnSpc>
                      </a:pPr>
                      <a:r>
                        <a:rPr sz="950" b="0">
                          <a:solidFill>
                            <a:srgbClr val="1F3B63"/>
                          </a:solidFill>
                        </a:rPr>
                        <a:t>Funk D et al. J Neurosci 2016 (CeA, nicotine); Fredriksson I et al. Sci Adv 2023 (vSub, oxycodone); Warren BL et al. Addict Biol 2022 (IL, oxycodone)</a:t>
                      </a:r>
                    </a:p>
                  </a:txBody>
                  <a:tcPr anchor="ctr" marL="54864" marR="54864" marT="18288" marB="18288">
                    <a:solidFill>
                      <a:srgbClr val="FFFFFF"/>
                    </a:solidFill>
                  </a:tcPr>
                </a:tc>
              </a:tr>
              <a:tr h="457200">
                <a:tc>
                  <a:txBody>
                    <a:bodyPr/>
                    <a:lstStyle/>
                    <a:p>
                      <a:pPr algn="l">
                        <a:lnSpc>
                          <a:spcPct val="92000"/>
                        </a:lnSpc>
                      </a:pPr>
                      <a:r>
                        <a:rPr sz="950" b="0">
                          <a:solidFill>
                            <a:srgbClr val="1F3B63"/>
                          </a:solidFill>
                        </a:rPr>
                        <a:t>Xenium supports exogenous targets (reporters, transgenes) via advanced custom design from a FASTA of ≥80 bp, but 10x does not validate them; add-on panels are capped at 100 genes</a:t>
                      </a:r>
                    </a:p>
                  </a:txBody>
                  <a:tcPr anchor="ctr" marL="54864" marR="54864" marT="18288" marB="18288">
                    <a:solidFill>
                      <a:srgbClr val="EEF3F9"/>
                    </a:solidFill>
                  </a:tcPr>
                </a:tc>
                <a:tc>
                  <a:txBody>
                    <a:bodyPr/>
                    <a:lstStyle/>
                    <a:p>
                      <a:pPr algn="l">
                        <a:lnSpc>
                          <a:spcPct val="92000"/>
                        </a:lnSpc>
                      </a:pPr>
                      <a:r>
                        <a:rPr sz="950" b="0">
                          <a:solidFill>
                            <a:srgbClr val="1F3B63"/>
                          </a:solidFill>
                        </a:rPr>
                        <a:t>10x Genomics CG000683 Xenium Custom Panel Design; CG000643 Designing Custom Xenium Panels</a:t>
                      </a:r>
                    </a:p>
                  </a:txBody>
                  <a:tcPr anchor="ctr" marL="54864" marR="54864" marT="18288" marB="18288">
                    <a:solidFill>
                      <a:srgbClr val="EEF3F9"/>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