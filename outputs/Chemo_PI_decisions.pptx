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Chemogenetic test of the Post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2000" b="0">
                <a:solidFill>
                  <a:srgbClr val="C9DAEC"/>
                </a:solidFill>
                <a:latin typeface="Calibri"/>
              </a:rPr>
              <a:t>One decision for my PI: which question do we test this year?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400" b="0">
                <a:solidFill>
                  <a:srgbClr val="A8C0D8"/>
                </a:solidFill>
                <a:latin typeface="Calibri"/>
              </a:rPr>
              <a:t>Already locked   ·   TRAP2 × Ai14   ·   tag at Post day 12   ·   wait 14 days for hM4Di   ·   DCZ   ·   Active and Passive   ·   ORBm 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The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Tag at day 12  +  14-day wait  =  first possible DCZ is day 26. Post is already 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2114492" cy="64008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Pre  water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692" y="1874519"/>
            <a:ext cx="3524154" cy="64008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During  morphine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6" y="1874519"/>
            <a:ext cx="2114492" cy="64008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Post  morphine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10338" y="1874519"/>
            <a:ext cx="2114492" cy="64008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Withdrawal  water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24830" y="1874519"/>
            <a:ext cx="1409661" cy="64008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Re-exp  morphine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57138" y="1709927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178" y="1399031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4-OHT  day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3265" y="2587751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400" b="1">
                <a:solidFill>
                  <a:srgbClr val="B31B1B"/>
                </a:solidFill>
                <a:latin typeface="Calibri"/>
              </a:rPr>
              <a:t>DCZ here? 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12772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day 1                                         12                                             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77295" cy="2103120"/>
          </a:xfrm>
          <a:prstGeom prst="roundRect">
            <a:avLst/>
          </a:prstGeom>
          <a:solidFill>
            <a:srgbClr val="FDE9E9"/>
          </a:solidFill>
          <a:ln w="1587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0637215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2000"/>
              </a:lnSpc>
            </a:pPr>
            <a:r>
              <a:rPr sz="2000" b="1">
                <a:solidFill>
                  <a:srgbClr val="1F3B63"/>
                </a:solidFill>
                <a:latin typeface="Calibri"/>
              </a:rPr>
              <a:t>hM4Di ready  =  day 26</a:t>
            </a:r>
          </a:p>
          <a:p>
            <a:pPr algn="ctr">
              <a:lnSpc>
                <a:spcPct val="102000"/>
              </a:lnSpc>
            </a:pPr>
            <a:r>
              <a:rPr sz="2000" b="1">
                <a:solidFill>
                  <a:srgbClr val="1F3B63"/>
                </a:solidFill>
                <a:latin typeface="Calibri"/>
              </a:rPr>
              <a:t>Post window  =  day 11–13</a:t>
            </a:r>
          </a:p>
          <a:p>
            <a:pPr algn="ctr">
              <a:lnSpc>
                <a:spcPct val="102000"/>
              </a:lnSpc>
            </a:pPr>
            <a:r>
              <a:rPr sz="2000" b="1">
                <a:solidFill>
                  <a:srgbClr val="1F3B63"/>
                </a:solidFill>
                <a:latin typeface="Calibri"/>
              </a:rPr>
              <a:t>Original sketch (DCZ on Post day 7) tests a receptor that is not there.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Two questions. This cohort can answer only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14-day wait removes the left box. Choose the right box this year, or change the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212080" cy="4846320"/>
          </a:xfrm>
          <a:prstGeom prst="roundRect">
            <a:avLst/>
          </a:prstGeom>
          <a:solidFill>
            <a:srgbClr val="FDE9E9"/>
          </a:solidFill>
          <a:ln w="1587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B31B1B"/>
                </a:solidFill>
                <a:latin typeface="Calibri"/>
              </a:rPr>
              <a:t>Q1   During 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475488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1F3B63"/>
                </a:solidFill>
                <a:latin typeface="Calibri"/>
              </a:rPr>
              <a:t>Silence the tagged cells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1F3B63"/>
                </a:solidFill>
                <a:latin typeface="Calibri"/>
              </a:rPr>
              <a:t>while the mouse is still taking morphine.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1F3B63"/>
                </a:solidFill>
                <a:latin typeface="Calibri"/>
              </a:rPr>
              <a:t>Does Post seeking fall?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9160"/>
            <a:ext cx="4754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5A5A5A"/>
                </a:solidFill>
                <a:latin typeface="Calibri"/>
              </a:rPr>
              <a:t>Needs receptor inside a 3-day window.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5A5A5A"/>
                </a:solidFill>
                <a:latin typeface="Calibri"/>
              </a:rPr>
              <a:t>AAV + 14-day wait cannot do this.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17320"/>
            <a:ext cx="5212080" cy="4846320"/>
          </a:xfrm>
          <a:prstGeom prst="roundRect">
            <a:avLst/>
          </a:prstGeom>
          <a:solidFill>
            <a:srgbClr val="D8ECD8"/>
          </a:solidFill>
          <a:ln w="15875">
            <a:solidFill>
              <a:srgbClr val="1E6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00200"/>
            <a:ext cx="4754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E6F3C"/>
                </a:solidFill>
                <a:latin typeface="Calibri"/>
              </a:rPr>
              <a:t>Q2   After abstinence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86000"/>
            <a:ext cx="475488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800" b="0">
                <a:solidFill>
                  <a:srgbClr val="1F3B63"/>
                </a:solidFill>
                <a:latin typeface="Calibri"/>
              </a:rPr>
              <a:t>Silence the same cells later.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1F3B63"/>
                </a:solidFill>
                <a:latin typeface="Calibri"/>
              </a:rPr>
              <a:t>Does the mouse still seek</a:t>
            </a:r>
          </a:p>
          <a:p>
            <a:pPr algn="l">
              <a:lnSpc>
                <a:spcPct val="102000"/>
              </a:lnSpc>
            </a:pPr>
            <a:r>
              <a:rPr sz="1800" b="0">
                <a:solidFill>
                  <a:srgbClr val="1F3B63"/>
                </a:solidFill>
                <a:latin typeface="Calibri"/>
              </a:rPr>
              <a:t>when put back in the box?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709160"/>
            <a:ext cx="4754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5A5A5A"/>
                </a:solidFill>
                <a:latin typeface="Calibri"/>
              </a:rPr>
              <a:t>Receptor is ready. Behaviour protocol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5A5A5A"/>
                </a:solidFill>
                <a:latin typeface="Calibri"/>
              </a:rPr>
              <a:t>must be extended past day 18.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Three different sessions. “No morphine” is not one condition.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Pick the day-33 task. This changes what the experiment is allowed to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566160" cy="4846320"/>
          </a:xfrm>
          <a:prstGeom prst="roundRect">
            <a:avLst/>
          </a:prstGeom>
          <a:solidFill>
            <a:srgbClr val="EEF3F9"/>
          </a:solidFill>
          <a:ln w="15875">
            <a:solidFill>
              <a:srgbClr val="5B8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1051560"/>
          </a:xfrm>
          <a:prstGeom prst="rect">
            <a:avLst/>
          </a:prstGeom>
          <a:solidFill>
            <a:srgbClr val="5B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Your Withdrawal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day 14–16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800" b="1">
                <a:solidFill>
                  <a:srgbClr val="1F3B63"/>
                </a:solidFill>
                <a:latin typeface="Calibri"/>
              </a:rPr>
              <a:t>Pump ON</a:t>
            </a:r>
          </a:p>
          <a:p>
            <a:pPr algn="ctr">
              <a:lnSpc>
                <a:spcPct val="102000"/>
              </a:lnSpc>
            </a:pPr>
            <a:r>
              <a:rPr sz="1800" b="1">
                <a:solidFill>
                  <a:srgbClr val="1F3B63"/>
                </a:solidFill>
                <a:latin typeface="Calibri"/>
              </a:rPr>
              <a:t>Water comes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Water motivation</a:t>
            </a:r>
          </a:p>
          <a:p>
            <a:pPr algn="ctr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after morphine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400" b="0">
                <a:solidFill>
                  <a:srgbClr val="5A5A5A"/>
                </a:solidFill>
                <a:latin typeface="Calibri"/>
              </a:rPr>
              <a:t>Not drug seeking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417320"/>
            <a:ext cx="3566160" cy="4846320"/>
          </a:xfrm>
          <a:prstGeom prst="roundRect">
            <a:avLst/>
          </a:prstGeom>
          <a:solidFill>
            <a:srgbClr val="EEF3F9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566160" cy="10515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Your Re-exposure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day 17–18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6517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800" b="1">
                <a:solidFill>
                  <a:srgbClr val="1F3B63"/>
                </a:solidFill>
                <a:latin typeface="Calibri"/>
              </a:rPr>
              <a:t>Pump ON</a:t>
            </a:r>
          </a:p>
          <a:p>
            <a:pPr algn="ctr">
              <a:lnSpc>
                <a:spcPct val="102000"/>
              </a:lnSpc>
            </a:pPr>
            <a:r>
              <a:rPr sz="1800" b="1">
                <a:solidFill>
                  <a:srgbClr val="1F3B63"/>
                </a:solidFill>
                <a:latin typeface="Calibri"/>
              </a:rPr>
              <a:t>Morphine comes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393192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Taking the drug again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5074920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400" b="0">
                <a:solidFill>
                  <a:srgbClr val="5A5A5A"/>
                </a:solidFill>
                <a:latin typeface="Calibri"/>
              </a:rPr>
              <a:t>Not seeking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17320"/>
            <a:ext cx="3566160" cy="4846320"/>
          </a:xfrm>
          <a:prstGeom prst="roundRect">
            <a:avLst/>
          </a:prstGeom>
          <a:solidFill>
            <a:srgbClr val="EEF3F9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3566160" cy="105156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Relapse test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(not in your 18-day protocol)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5176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800" b="1">
                <a:solidFill>
                  <a:srgbClr val="1F3B63"/>
                </a:solidFill>
                <a:latin typeface="Calibri"/>
              </a:rPr>
              <a:t>Pump OFF</a:t>
            </a:r>
          </a:p>
          <a:p>
            <a:pPr algn="ctr">
              <a:lnSpc>
                <a:spcPct val="102000"/>
              </a:lnSpc>
            </a:pPr>
            <a:r>
              <a:rPr sz="1800" b="1">
                <a:solidFill>
                  <a:srgbClr val="1F3B63"/>
                </a:solidFill>
                <a:latin typeface="Calibri"/>
              </a:rPr>
              <a:t>Nothing comes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93192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Cue / box seeking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5074920"/>
            <a:ext cx="3200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400" b="0">
                <a:solidFill>
                  <a:srgbClr val="5A5A5A"/>
                </a:solidFill>
                <a:latin typeface="Calibri"/>
              </a:rPr>
              <a:t>Standard relapse assay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All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A and B test Q2. C tries to keep Q1 by stretching morphine. D is not valid. E is next year.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7294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077"/>
                <a:gridCol w="3025615"/>
                <a:gridCol w="3117301"/>
                <a:gridCol w="3117301"/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</a:p>
                  </a:txBody>
                  <a:tcPr anchor="ctr" marL="73152" marR="73152" marT="36576" marB="3657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L="73152" marR="73152" marT="36576" marB="3657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 anchor="ctr" marL="73152" marR="73152" marT="36576" marB="36576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</a:t>
                      </a:r>
                    </a:p>
                  </a:txBody>
                  <a:tcPr anchor="ctr" marL="73152" marR="73152" marT="36576" marB="36576">
                    <a:solidFill>
                      <a:srgbClr val="1F3B6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A  Relapse test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day 33</a:t>
                      </a:r>
                    </a:p>
                  </a:txBody>
                  <a:tcPr anchor="ctr" marL="73152" marR="73152" marT="36576" marB="36576">
                    <a:solidFill>
                      <a:srgbClr val="D8EC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4-OHT day 12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DCZ once, day 33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Nothing delivered</a:t>
                      </a:r>
                    </a:p>
                  </a:txBody>
                  <a:tcPr anchor="ctr" marL="73152" marR="73152" marT="36576" marB="36576">
                    <a:solidFill>
                      <a:srgbClr val="D8EC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Receptor ready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Standard relapse claim</a:t>
                      </a:r>
                    </a:p>
                  </a:txBody>
                  <a:tcPr anchor="ctr" marL="73152" marR="73152" marT="36576" marB="36576">
                    <a:solidFill>
                      <a:srgbClr val="D8EC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New session type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Not your Withdrawal</a:t>
                      </a:r>
                    </a:p>
                  </a:txBody>
                  <a:tcPr anchor="ctr" marL="73152" marR="73152" marT="36576" marB="36576">
                    <a:solidFill>
                      <a:srgbClr val="D8ECD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B  Your Withdrawal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at day 33</a:t>
                      </a:r>
                    </a:p>
                  </a:txBody>
                  <a:tcPr anchor="ctr" marL="73152" marR="73152" marT="36576" marB="36576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Same as A, but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water PR like day 14–16</a:t>
                      </a:r>
                    </a:p>
                  </a:txBody>
                  <a:tcPr anchor="ctr" marL="73152" marR="73152" marT="36576" marB="36576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Matches your protocol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Comparable to TRAP data</a:t>
                      </a:r>
                    </a:p>
                  </a:txBody>
                  <a:tcPr anchor="ctr" marL="73152" marR="73152" marT="36576" marB="36576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Water is available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Weak as “seeking”</a:t>
                      </a:r>
                    </a:p>
                  </a:txBody>
                  <a:tcPr anchor="ctr" marL="73152" marR="73152" marT="36576" marB="36576">
                    <a:solidFill>
                      <a:srgbClr val="FFF4D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C  Stretch Post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Keep morphine until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~day 26, then DCZ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Tests Q1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Silence while taking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Drug history ≠ screen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Long extra morphine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D  Same mouse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day 19 and 33</a:t>
                      </a:r>
                    </a:p>
                  </a:txBody>
                  <a:tcPr anchor="ctr" marL="73152" marR="73152" marT="36576" marB="36576"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DCZ twice in one mouse</a:t>
                      </a:r>
                    </a:p>
                  </a:txBody>
                  <a:tcPr anchor="ctr" marL="73152" marR="73152" marT="36576" marB="36576"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Fewer mice</a:t>
                      </a:r>
                    </a:p>
                  </a:txBody>
                  <a:tcPr anchor="ctr" marL="73152" marR="73152" marT="36576" marB="36576">
                    <a:solidFill>
                      <a:srgbClr val="FD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Day 19 = only +7 days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2nd test is extinction</a:t>
                      </a:r>
                    </a:p>
                  </a:txBody>
                  <a:tcPr anchor="ctr" marL="73152" marR="73152" marT="36576" marB="36576">
                    <a:solidFill>
                      <a:srgbClr val="FDE9E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E  New mouse line</a:t>
                      </a:r>
                    </a:p>
                    <a:p>
                      <a:pPr algn="ctr">
                        <a:lnSpc>
                          <a:spcPct val="95000"/>
                        </a:lnSpc>
                      </a:pPr>
                      <a:r>
                        <a:rPr sz="1200" b="1">
                          <a:solidFill>
                            <a:srgbClr val="1F3B63"/>
                          </a:solidFill>
                          <a:latin typeface="Calibri"/>
                        </a:rPr>
                        <a:t>(Phase 2)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TRAP2 × R26-hM4Di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+ local DCZ cannula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Ready in 48 h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True 3-day Post test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Breed 4–6 months</a:t>
                      </a:r>
                    </a:p>
                    <a:p>
                      <a:pPr algn="l">
                        <a:lnSpc>
                          <a:spcPct val="95000"/>
                        </a:lnSpc>
                      </a:pPr>
                      <a:r>
                        <a:rPr sz="1200" b="0">
                          <a:solidFill>
                            <a:srgbClr val="1F3B63"/>
                          </a:solidFill>
                          <a:latin typeface="Calibri"/>
                        </a:rPr>
                        <a:t>No Ai14 on same mouse</a:t>
                      </a:r>
                    </a:p>
                  </a:txBody>
                  <a:tcPr anchor="ctr" marL="73152" marR="73152" marT="36576" marB="36576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Option A  —  the day-33 relapse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One DCZ injection. One test. Nothing comes out of the pump.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3316851" cy="77724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1F3B63"/>
                </a:solidFill>
                <a:latin typeface="Calibri"/>
              </a:rPr>
              <a:t>1–10  Pre/During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774051" y="2148840"/>
            <a:ext cx="995055" cy="77724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11–13  Post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9106" y="2148840"/>
            <a:ext cx="1658425" cy="77724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1F3B63"/>
                </a:solidFill>
                <a:latin typeface="Calibri"/>
              </a:rPr>
              <a:t>14–18  Wd / Re-exp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7531" y="2148840"/>
            <a:ext cx="4643592" cy="777240"/>
          </a:xfrm>
          <a:prstGeom prst="rect">
            <a:avLst/>
          </a:prstGeom>
          <a:solidFill>
            <a:srgbClr val="C5B8D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1F3B63"/>
                </a:solidFill>
                <a:latin typeface="Calibri"/>
              </a:rPr>
              <a:t>19–32  home cage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71123" y="2148840"/>
            <a:ext cx="663370" cy="777240"/>
          </a:xfrm>
          <a:prstGeom prst="rect">
            <a:avLst/>
          </a:prstGeom>
          <a:solidFill>
            <a:srgbClr val="1E6F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33 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6579" y="1984248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8619" y="1673352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4-OHT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97809" y="1984248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9849" y="1673352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DCZ +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12772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300" b="0">
                <a:solidFill>
                  <a:srgbClr val="5A5A5A"/>
                </a:solidFill>
                <a:latin typeface="Calibri"/>
              </a:rPr>
              <a:t>day 12                                              day 26 receptor ready                         day 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86400" cy="2103120"/>
          </a:xfrm>
          <a:prstGeom prst="roundRect">
            <a:avLst/>
          </a:prstGeom>
          <a:solidFill>
            <a:srgbClr val="D8ECD8"/>
          </a:solidFill>
          <a:ln w="15875">
            <a:solidFill>
              <a:srgbClr val="1E6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02920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PRO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Receptor ready  (+21 days)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Clean relapse claim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Matches OFC literature 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931920"/>
            <a:ext cx="5029200" cy="2103120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9C6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114800"/>
            <a:ext cx="461772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CON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Not your Withdrawal task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Cannot say “incubation”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Does not test Q1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Option B  —  same calendar, your Withdrawal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Day 33 is water PR, like day 14–16. Pump is ON. Water comes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3316851" cy="77724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1F3B63"/>
                </a:solidFill>
                <a:latin typeface="Calibri"/>
              </a:rPr>
              <a:t>1–10  Pre/During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774051" y="2148840"/>
            <a:ext cx="995055" cy="77724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11–13  Post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9106" y="2148840"/>
            <a:ext cx="1658425" cy="77724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1F3B63"/>
                </a:solidFill>
                <a:latin typeface="Calibri"/>
              </a:rPr>
              <a:t>14–18  Wd / Re-exp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7531" y="2148840"/>
            <a:ext cx="4643592" cy="777240"/>
          </a:xfrm>
          <a:prstGeom prst="rect">
            <a:avLst/>
          </a:prstGeom>
          <a:solidFill>
            <a:srgbClr val="C5B8D9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1F3B63"/>
                </a:solidFill>
                <a:latin typeface="Calibri"/>
              </a:rPr>
              <a:t>19–32  home cage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71123" y="2148840"/>
            <a:ext cx="663370" cy="77724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100" b="1">
                <a:solidFill>
                  <a:srgbClr val="1F3B63"/>
                </a:solidFill>
                <a:latin typeface="Calibri"/>
              </a:rPr>
              <a:t>33  water PR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6579" y="1984248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8619" y="1673352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4-OHT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97809" y="1984248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9849" y="1673352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DCZ + water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486400" cy="2103120"/>
          </a:xfrm>
          <a:prstGeom prst="roundRect">
            <a:avLst/>
          </a:prstGeom>
          <a:solidFill>
            <a:srgbClr val="D8ECD8"/>
          </a:solidFill>
          <a:ln w="15875">
            <a:solidFill>
              <a:srgbClr val="1E6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502920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PRO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Same task you already run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Links to TRAP Withdrawal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931920"/>
            <a:ext cx="5029200" cy="2103120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9C6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114800"/>
            <a:ext cx="461772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CON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Mouse can earn water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Hard to call this drug seeking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Reviewers will notice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Option C  —  stretch Post until the receptor is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Morphine continues to ~day 26. Then DCZ. This is Q1, not relapse.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4176775" cy="77724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B63"/>
                </a:solidFill>
                <a:latin typeface="Calibri"/>
              </a:rPr>
              <a:t>1–10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3975" y="2148840"/>
            <a:ext cx="1253032" cy="77724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11–13  Post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887007" y="2148840"/>
            <a:ext cx="5012131" cy="77724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14–25  still morphine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99138" y="2148840"/>
            <a:ext cx="835355" cy="777240"/>
          </a:xfrm>
          <a:prstGeom prst="rect">
            <a:avLst/>
          </a:prstGeom>
          <a:solidFill>
            <a:srgbClr val="1E6F3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26  DCZ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5492" y="1984248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7532" y="1673352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4-OHT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02978" y="1984248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5018" y="1673352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DCZ on morphine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486400" cy="2103120"/>
          </a:xfrm>
          <a:prstGeom prst="roundRect">
            <a:avLst/>
          </a:prstGeom>
          <a:solidFill>
            <a:srgbClr val="D8ECD8"/>
          </a:solidFill>
          <a:ln w="15875">
            <a:solidFill>
              <a:srgbClr val="1E6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502920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PRO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Tests the original hypothesis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Silence while taking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931920"/>
            <a:ext cx="5029200" cy="2103120"/>
          </a:xfrm>
          <a:prstGeom prst="roundRect">
            <a:avLst/>
          </a:prstGeom>
          <a:solidFill>
            <a:srgbClr val="FDE9E9"/>
          </a:solidFill>
          <a:ln w="1587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4114800"/>
            <a:ext cx="461772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CON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~2 extra weeks of morphine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Not the protocol behind the screen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Cannot compare to current 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Option D  —  do not use the same mouse twice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Day 19 is too early for hM4Di. Day 33 is then an extinction retest.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86400" cy="4846320"/>
          </a:xfrm>
          <a:prstGeom prst="roundRect">
            <a:avLst/>
          </a:prstGeom>
          <a:solidFill>
            <a:srgbClr val="FDE9E9"/>
          </a:solidFill>
          <a:ln w="15875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000" b="1">
                <a:solidFill>
                  <a:srgbClr val="B31B1B"/>
                </a:solidFill>
                <a:latin typeface="Calibri"/>
              </a:rPr>
              <a:t>Same mouse, two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Day 19 DCZ  =  only 7 days after 4-OHT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→ receptor not ready</a:t>
            </a:r>
          </a:p>
          <a:p>
            <a:pPr algn="l">
              <a:lnSpc>
                <a:spcPct val="102000"/>
              </a:lnSpc>
            </a:pP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Day 33 test  =  second extinction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→ seeking is already trained down</a:t>
            </a:r>
          </a:p>
          <a:p>
            <a:pPr algn="l">
              <a:lnSpc>
                <a:spcPct val="102000"/>
              </a:lnSpc>
            </a:pP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If DCZ both days  →  no vehicle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17320"/>
            <a:ext cx="5029200" cy="4846320"/>
          </a:xfrm>
          <a:prstGeom prst="roundRect">
            <a:avLst/>
          </a:prstGeom>
          <a:solidFill>
            <a:srgbClr val="D8ECD8"/>
          </a:solidFill>
          <a:ln w="15875">
            <a:solidFill>
              <a:srgbClr val="1E6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4617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000" b="1">
                <a:solidFill>
                  <a:srgbClr val="1E6F3C"/>
                </a:solidFill>
                <a:latin typeface="Calibri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286000"/>
            <a:ext cx="461772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One mouse  =  one seeking test</a:t>
            </a:r>
          </a:p>
          <a:p>
            <a:pPr algn="l">
              <a:lnSpc>
                <a:spcPct val="102000"/>
              </a:lnSpc>
            </a:pP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DCZ or vehicle, not both</a:t>
            </a:r>
          </a:p>
          <a:p>
            <a:pPr algn="l">
              <a:lnSpc>
                <a:spcPct val="102000"/>
              </a:lnSpc>
            </a:pP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That is why A/B/C use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separate groups, not a crossover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Option E  —  next year, if Q1 is still 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Transgenic hM4Di is on in 48 h. Then the original 3-day Post can be tested.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674842" cy="777240"/>
          </a:xfrm>
          <a:prstGeom prst="rect">
            <a:avLst/>
          </a:prstGeom>
          <a:solidFill>
            <a:srgbClr val="5B8FB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1F3B63"/>
                </a:solidFill>
                <a:latin typeface="Calibri"/>
              </a:rPr>
              <a:t>1–10  Pre / During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32042" y="2011680"/>
            <a:ext cx="2602452" cy="777240"/>
          </a:xfrm>
          <a:prstGeom prst="rect">
            <a:avLst/>
          </a:prstGeom>
          <a:solidFill>
            <a:srgbClr val="C0504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11–13  Post   ·   DCZ possible on day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8268" y="1847088"/>
            <a:ext cx="10000" cy="164592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10308" y="1536192"/>
            <a:ext cx="16459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B31B1B"/>
                </a:solidFill>
                <a:latin typeface="Calibri"/>
              </a:rPr>
              <a:t>4-OHT day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5486400" cy="2651760"/>
          </a:xfrm>
          <a:prstGeom prst="roundRect">
            <a:avLst/>
          </a:prstGeom>
          <a:solidFill>
            <a:srgbClr val="D8ECD8"/>
          </a:solidFill>
          <a:ln w="15875">
            <a:solidFill>
              <a:srgbClr val="1E6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5029200" cy="2286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PRO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48 h, not 14 days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Original 3-day Post intact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Together with A: taking vs relapse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83280"/>
            <a:ext cx="5029200" cy="2651760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9C6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566160"/>
            <a:ext cx="4617720" cy="2286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CON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Start breeding now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Rosa26: cannot also carry Ai14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Needs cannulae for region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Groups if you pick A or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Five groups. One test each. n = 12. Order 75 for ORBm. Same again later for BMAp.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97"/>
                <a:gridCol w="1650335"/>
                <a:gridCol w="2017077"/>
                <a:gridCol w="1833706"/>
                <a:gridCol w="5134378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7315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Mice</a:t>
                      </a:r>
                    </a:p>
                  </a:txBody>
                  <a:tcPr anchor="ctr" marL="7315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Virus</a:t>
                      </a:r>
                    </a:p>
                  </a:txBody>
                  <a:tcPr anchor="ctr" marL="7315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Day 33</a:t>
                      </a:r>
                    </a:p>
                  </a:txBody>
                  <a:tcPr anchor="ctr" marL="73152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answers</a:t>
                      </a:r>
                    </a:p>
                  </a:txBody>
                  <a:tcPr anchor="ctr" marL="73152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3B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hM4Di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DCZ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Does seeking fall?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3B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hM4Di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vehicle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Same virus, no drug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3B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mCherry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DCZ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Is it the ligand?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3B6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Passive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hM4Di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DCZ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Does it fall without volition?</a:t>
                      </a:r>
                    </a:p>
                  </a:txBody>
                  <a:tcPr anchor="ctr" marL="73152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3B6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Passive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hM4Di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vehicle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B63"/>
                          </a:solidFill>
                          <a:latin typeface="Calibri"/>
                        </a:rPr>
                        <a:t>Passive baseline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06440"/>
            <a:ext cx="1127729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600" b="0">
                <a:solidFill>
                  <a:srgbClr val="5A5A5A"/>
                </a:solidFill>
                <a:latin typeface="Calibri"/>
              </a:rPr>
              <a:t>1 vs 2 = hypothesis     ·     1 vs 3 = ligand     ·     4 vs 5 = Active-only?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Please pick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C9DAEC"/>
                </a:solidFill>
                <a:latin typeface="Calibri"/>
              </a:rPr>
              <a:t>Three ticks. That is the whole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1508760"/>
          </a:xfrm>
          <a:prstGeom prst="roundRect">
            <a:avLst/>
          </a:prstGeom>
          <a:solidFill>
            <a:srgbClr val="EEF3F9"/>
          </a:solidFill>
          <a:ln w="15875">
            <a:solidFill>
              <a:srgbClr val="D9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2E6DA4"/>
                </a:solidFill>
                <a:latin typeface="Calibri"/>
              </a:rPr>
              <a:t>1  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1072865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Q2  after abstinence   (A or B, this year)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Q1  during Post        (C this year, or E next year)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11277295" cy="1508760"/>
          </a:xfrm>
          <a:prstGeom prst="roundRect">
            <a:avLst/>
          </a:prstGeom>
          <a:solidFill>
            <a:srgbClr val="EEF3F9"/>
          </a:solidFill>
          <a:ln w="15875">
            <a:solidFill>
              <a:srgbClr val="D9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2E6DA4"/>
                </a:solidFill>
                <a:latin typeface="Calibri"/>
              </a:rPr>
              <a:t>2   Day-33 task  (only if Q2)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072865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A   nothing delivered   =  relapse / seeking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B   water PR            =  your Withdrawal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277295" cy="1508760"/>
          </a:xfrm>
          <a:prstGeom prst="roundRect">
            <a:avLst/>
          </a:prstGeom>
          <a:solidFill>
            <a:srgbClr val="EEF3F9"/>
          </a:solidFill>
          <a:ln w="15875">
            <a:solidFill>
              <a:srgbClr val="D9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73168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800" b="1">
                <a:solidFill>
                  <a:srgbClr val="2E6DA4"/>
                </a:solidFill>
                <a:latin typeface="Calibri"/>
              </a:rPr>
              <a:t>3   Region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8"/>
            <a:ext cx="1072865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ORBm first, then BMAp</a:t>
            </a:r>
          </a:p>
          <a:p>
            <a:pPr algn="l">
              <a:lnSpc>
                <a:spcPct val="102000"/>
              </a:lnSpc>
            </a:pPr>
            <a:r>
              <a:rPr sz="1600" b="0">
                <a:solidFill>
                  <a:srgbClr val="1F3B63"/>
                </a:solidFill>
                <a:latin typeface="Calibri"/>
              </a:rPr>
              <a:t>75 mice ordered for ORBm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127729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2000"/>
              </a:lnSpc>
            </a:pPr>
            <a:r>
              <a:rPr sz="1400" b="0">
                <a:solidFill>
                  <a:srgbClr val="5A5A5A"/>
                </a:solidFill>
                <a:latin typeface="Calibri"/>
              </a:rPr>
              <a:t>My recommendation:  1 = Q2    2 = A    3 = ORBm first.  Start E breeding if Q1 still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