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1729c4bd1a477e" /><Relationship Type="http://schemas.openxmlformats.org/officeDocument/2006/relationships/extended-properties" Target="/docProps/app.xml" Id="R0908a8842220450b" /><Relationship Type="http://schemas.openxmlformats.org/officeDocument/2006/relationships/officeDocument" Target="/ppt/presentation.xml" Id="R321132cd9b6247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23fa652eb14cf9"/>
  </p:sldMasterIdLst>
  <p:notesMasterIdLst>
    <p:notesMasterId xmlns:r="http://schemas.openxmlformats.org/officeDocument/2006/relationships" r:id="Raf7c158a70ea4c09"/>
  </p:notesMasterIdLst>
  <p:sldIdLst>
    <p:sldId xmlns:r="http://schemas.openxmlformats.org/officeDocument/2006/relationships" id="256" r:id="Rd9bec843530e4478"/>
    <p:sldId xmlns:r="http://schemas.openxmlformats.org/officeDocument/2006/relationships" id="257" r:id="Rde1880efb6c74a1a"/>
    <p:sldId xmlns:r="http://schemas.openxmlformats.org/officeDocument/2006/relationships" id="258" r:id="Rd6d56eb88fe049a3"/>
    <p:sldId xmlns:r="http://schemas.openxmlformats.org/officeDocument/2006/relationships" id="259" r:id="Re41fde7f5f4b4e51"/>
    <p:sldId xmlns:r="http://schemas.openxmlformats.org/officeDocument/2006/relationships" id="260" r:id="R41db5bded1a94c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675bc3210d4f86" /><Relationship Type="http://schemas.openxmlformats.org/officeDocument/2006/relationships/slideMaster" Target="/ppt/slideMasters/slideMaster1.xml" Id="R1823fa652eb14cf9" /><Relationship Type="http://schemas.openxmlformats.org/officeDocument/2006/relationships/notesMaster" Target="/ppt/notesMasters/notesMaster1.xml" Id="Raf7c158a70ea4c09" /><Relationship Type="http://schemas.openxmlformats.org/officeDocument/2006/relationships/presProps" Target="/ppt/presProps.xml" Id="R0d085027ca3048ea" /><Relationship Type="http://schemas.openxmlformats.org/officeDocument/2006/relationships/tableStyles" Target="/ppt/tableStyles.xml" Id="Rfd0bba822936497c" /><Relationship Type="http://schemas.openxmlformats.org/officeDocument/2006/relationships/slide" Target="/ppt/slides/slide1.xml" Id="Rd9bec843530e4478" /><Relationship Type="http://schemas.openxmlformats.org/officeDocument/2006/relationships/slide" Target="/ppt/slides/slide2.xml" Id="Rde1880efb6c74a1a" /><Relationship Type="http://schemas.openxmlformats.org/officeDocument/2006/relationships/slide" Target="/ppt/slides/slide3.xml" Id="Rd6d56eb88fe049a3" /><Relationship Type="http://schemas.openxmlformats.org/officeDocument/2006/relationships/slide" Target="/ppt/slides/slide4.xml" Id="Re41fde7f5f4b4e51" /><Relationship Type="http://schemas.openxmlformats.org/officeDocument/2006/relationships/slide" Target="/ppt/slides/slide5.xml" Id="R41db5bded1a94c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17ab22d3c34f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5baec28ec849c1" /><Relationship Type="http://schemas.openxmlformats.org/officeDocument/2006/relationships/notesMaster" Target="/ppt/notesMasters/notesMaster1.xml" Id="Rf4d293f957144f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884507ea874493" /><Relationship Type="http://schemas.openxmlformats.org/officeDocument/2006/relationships/notesMaster" Target="/ppt/notesMasters/notesMaster1.xml" Id="Red0651493bab45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2ffb9269f148db" /><Relationship Type="http://schemas.openxmlformats.org/officeDocument/2006/relationships/notesMaster" Target="/ppt/notesMasters/notesMaster1.xml" Id="R503946efdb7f43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ec557985ae4d26" /><Relationship Type="http://schemas.openxmlformats.org/officeDocument/2006/relationships/notesMaster" Target="/ppt/notesMasters/notesMaster1.xml" Id="R2ff73bb184ba44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e3a48e1a4c400f" /><Relationship Type="http://schemas.openxmlformats.org/officeDocument/2006/relationships/notesMaster" Target="/ppt/notesMasters/notesMaster1.xml" Id="R569cb9b3db2241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outputs/orbm_right/summary.json; outputs/orbm_right/figures/03_umap.png; PRIMARY_AIM_ANALYSIS.md. The displayed UMAP is real pilot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outputs/orbm_right/summary.json and outputs/bmap_left/summary.json. Composition values are calculated from module_counts divided by n_after_qc. These are real pilot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toy_demo_results/story2_toy_reporter_overlap.png and toy_demo_results/story2_toy_celltype_enrichment.png. These are simulated toy data and are not biological results. Real pilot status: outputs/story2_tdtom/SKIPPED.md.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toy_demo_results/factorial_toy_gene_effects.png. The figure contains simulated toy data and is not a biological result. Real design requirement is described in outputs/story3_mouse_ab/DESCRIPTIVE_ONLY.md and design_status.json.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PRIMARY_AIM_ANALYSIS.md; PIPELINE_REVIEW.md; outputs/story2_tdtom/SKIPPED.md; outputs/story3_mouse_ab/design_status.json. The minimum of three animals per condition is the pipeline readiness criterion, not a power calculation.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569ce1fe3343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0bb67199164238" /><Relationship Type="http://schemas.openxmlformats.org/officeDocument/2006/relationships/slideLayout" Target="/ppt/slideLayouts/slideLayout1.xml" Id="Rcd60cfa8bab540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60cfa8bab540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3ae9524ed4bd1" /><Relationship Type="http://schemas.openxmlformats.org/officeDocument/2006/relationships/image" Target="/ppt/media/image.png" Id="Rbe395d1ebd7847fd" /><Relationship Type="http://schemas.openxmlformats.org/officeDocument/2006/relationships/notesSlide" Target="/ppt/notesSlides/notesSlide1.xml" Id="R7eecc4c3c96949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0606036874812" /><Relationship Type="http://schemas.openxmlformats.org/officeDocument/2006/relationships/chart" Target="/ppt/slides/charts/chart1.xml" Id="R5c88957022244227" /><Relationship Type="http://schemas.openxmlformats.org/officeDocument/2006/relationships/chart" Target="/ppt/slides/charts/chart2.xml" Id="R0c3be0b730d34ea3" /><Relationship Type="http://schemas.openxmlformats.org/officeDocument/2006/relationships/notesSlide" Target="/ppt/notesSlides/notesSlide2.xml" Id="R73f1fc84762945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5df5300a24d4d" /><Relationship Type="http://schemas.openxmlformats.org/officeDocument/2006/relationships/image" Target="/ppt/media/image2.png" Id="R300c3819c2a548a9" /><Relationship Type="http://schemas.openxmlformats.org/officeDocument/2006/relationships/image" Target="/ppt/media/image3.png" Id="Re1d2e772f9804d75" /><Relationship Type="http://schemas.openxmlformats.org/officeDocument/2006/relationships/notesSlide" Target="/ppt/notesSlides/notesSlide3.xml" Id="R817e5cbdf7e048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51fb499434d22" /><Relationship Type="http://schemas.openxmlformats.org/officeDocument/2006/relationships/image" Target="/ppt/media/image4.png" Id="Rf7162b1d54bf4adc" /><Relationship Type="http://schemas.openxmlformats.org/officeDocument/2006/relationships/notesSlide" Target="/ppt/notesSlides/notesSlide4.xml" Id="R8be706940a1446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f9443b3f94c64" /><Relationship Type="http://schemas.openxmlformats.org/officeDocument/2006/relationships/notesSlide" Target="/ppt/notesSlides/notesSlide5.xml" Id="R02d5f5dfefdb41f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ORBm composition (n = 914)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F4E79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Cells in ROI (%)</c:v>
          </c:tx>
          <c:spPr>
            <a:solidFill xmlns:a="http://schemas.openxmlformats.org/drawingml/2006/main">
              <a:srgbClr val="2F75A1"/>
            </a:solidFill>
          </c:spPr>
          <c:cat>
            <c:strRef>
              <c:f>'Chart Data'!$A$2:$A$6</c:f>
              <c:strCache>
                <c:ptCount val="5"/>
                <c:pt idx="0">
                  <c:v>L2/3</c:v>
                </c:pt>
                <c:pt idx="1">
                  <c:v>Unassigned</c:v>
                </c:pt>
                <c:pt idx="2">
                  <c:v>L5</c:v>
                </c:pt>
                <c:pt idx="3">
                  <c:v>GABAergic</c:v>
                </c:pt>
                <c:pt idx="4">
                  <c:v>Endothelial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34.4</c:v>
                </c:pt>
                <c:pt idx="1">
                  <c:v>24.6</c:v>
                </c:pt>
                <c:pt idx="2">
                  <c:v>9.8</c:v>
                </c:pt>
                <c:pt idx="3">
                  <c:v>8.6</c:v>
                </c:pt>
                <c:pt idx="4">
                  <c:v>6.5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303030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BMAp composition (n = 1,077)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F4E79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Cells in ROI (%)</c:v>
          </c:tx>
          <c:spPr>
            <a:solidFill xmlns:a="http://schemas.openxmlformats.org/drawingml/2006/main">
              <a:srgbClr val="70AD47"/>
            </a:solidFill>
          </c:spPr>
          <c:cat>
            <c:strRef>
              <c:f>'Chart Data'!$A$2:$A$6</c:f>
              <c:strCache>
                <c:ptCount val="5"/>
                <c:pt idx="0">
                  <c:v>GABAergic</c:v>
                </c:pt>
                <c:pt idx="1">
                  <c:v>Unassigned</c:v>
                </c:pt>
                <c:pt idx="2">
                  <c:v>Glutamatergic</c:v>
                </c:pt>
                <c:pt idx="3">
                  <c:v>Oligo</c:v>
                </c:pt>
                <c:pt idx="4">
                  <c:v>OPC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29.3</c:v>
                </c:pt>
                <c:pt idx="1">
                  <c:v>25.3</c:v>
                </c:pt>
                <c:pt idx="2">
                  <c:v>18.9</c:v>
                </c:pt>
                <c:pt idx="3">
                  <c:v>6.4</c:v>
                </c:pt>
                <c:pt idx="4">
                  <c:v>4.9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303030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F6680F-9BFD-4472-AC69-725868B6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92494-F891-4BE9-BB5A-EF639E5A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8600"/>
            <a:ext cx="1131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Xenium pipeline: biological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9D157-02F0-4756-A095-8AD46BBB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9125"/>
            <a:ext cx="1131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13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ORBm and BMAp pilot validation. Cell identity comes first, followed by reporter and behavior comparisons.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61BDE-3F14-41EB-84A6-DDDD3A1A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43675"/>
            <a:ext cx="11315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13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Xenium ORBm + BMAp    Pipeline results    1/5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66FBD-AAFE-43C0-BFC0-E89A1AF2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42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Primary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B0FA3-1B94-4949-A76F-DA772319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E75B6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2E75B6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C9D8F-99C9-4FE2-B782-C4F545DC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95425"/>
            <a:ext cx="4810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Known cell type or reproducible new cluster?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58985-ACC1-4806-9284-CF2D1B5C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0225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238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Annotate cells with identity markers while excluding reporter and activity genes from the identity PCA.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BD02B-6437-46E6-B948-7A1D7FDA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14575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2D212-FEEA-42CE-9215-885C8D3B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E75B6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2E75B6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0B4B7B-4C84-4DBB-8DD1-4744CADE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38425"/>
            <a:ext cx="4810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Which known types contain more tdTom+ cells?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942A3-E054-45A7-8293-14A706A4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43225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238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Estimate enrichment per animal before testing whether reporter-positive cells form an unexplained, stable subtype.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0DC42-31A5-41BB-8FA8-B8A40AD9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57575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CDBE39-C148-4BED-8B46-DA7D63E2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E75B6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2E75B6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47FE2-22C4-4480-BE98-0319C81F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81425"/>
            <a:ext cx="4810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Which genes differ by reporter status and behavior?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295F83-2F8C-4CFE-858B-89115EF2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86225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238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Compare GPCR, TF and plasticity programs within each cell type using animal-level pseudobulk contrasts.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BBBED0-06F6-4F73-BD50-9CE2319D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00575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95d1ebd7847fd"/>
          <a:stretch xmlns:a="http://schemas.openxmlformats.org/drawingml/2006/main"/>
        </p:blipFill>
        <p:spPr>
          <a:xfrm xmlns:a="http://schemas.openxmlformats.org/drawingml/2006/main">
            <a:off x="6121125" y="1619250"/>
            <a:ext cx="5645700" cy="24003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E0CD4E-79B3-40C0-AED5-4319D1E7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38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REAL PILOT: ORBm UMAP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953029-833F-4D94-A4D6-27D5248F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74334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C74334"/>
                </a:solidFill>
                <a:latin typeface="Calibri"/>
                <a:ea typeface="Calibri"/>
                <a:cs typeface="Calibri"/>
              </a:rPr>
              <a:t>Current pilot: 247 measured genes; tdTomato absent; one animal per anatomy.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0975BA-6B55-48BB-A020-84C8EED2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43550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The pilot can validate cell identity and detection. It cannot test tdTom specificity or Active versus Passive effects.</a:t>
            </a:r>
          </a:p>
        </p:txBody>
      </p:sp>
    </p:spTree>
    <p:extLst>
      <p:ext uri="{BB962C8B-B14F-4D97-AF65-F5344CB8AC3E}">
        <p14:creationId xmlns:p14="http://schemas.microsoft.com/office/powerpoint/2010/main" val="9552000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00627D-39EA-412C-ACA3-70E32502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864D6-BE1C-4DD2-8FA6-37C851A8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8600"/>
            <a:ext cx="1131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Story 1: cell identity in the real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B7701-FDEA-4219-B55E-071BDD8F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9125"/>
            <a:ext cx="1131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13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Reference-aware annotation uses identity genes only. Reporter and activity genes do not drive the cell identity PCA.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A5CFC-79E3-4A1A-9BCF-AB6BFE2D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43675"/>
            <a:ext cx="11315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13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Xenium ORBm + BMAp    Pipeline results    2/5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19100" y="1162050"/>
          <a:ext xmlns:a="http://schemas.openxmlformats.org/drawingml/2006/main" cx="54483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88957022244227"/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324600" y="1162050"/>
          <a:ext xmlns:a="http://schemas.openxmlformats.org/drawingml/2006/main" cx="54483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3be0b730d34ea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19FC5-6BF4-479D-BDE4-731730FF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Allen/reference concordance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B81C9-6FB1-4A95-A864-530CD334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0545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NMI 0.738 in ORBm and 0.673 in BMAp. ARI is approximately 0.50 in both regions.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44DFF-723E-46BF-BD16-31478436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19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881AB-C12B-4186-B482-F368F6E0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05450"/>
            <a:ext cx="521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Broad classes are interpretable, but unassigned cells remain 24.6% in ORBm and 25.3% in BMAp.</a:t>
            </a:r>
          </a:p>
        </p:txBody>
      </p:sp>
    </p:spTree>
    <p:extLst>
      <p:ext uri="{BB962C8B-B14F-4D97-AF65-F5344CB8AC3E}">
        <p14:creationId xmlns:p14="http://schemas.microsoft.com/office/powerpoint/2010/main" val="5535012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DFACE9-3A80-46D7-98C0-9FB10B1A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0C1549-B53F-489C-88E5-14E24C9A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8600"/>
            <a:ext cx="1131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Story 2: tdTom enrichment within existing cell types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9C2B2-817D-436F-9586-888305E8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9125"/>
            <a:ext cx="1131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13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Simulated demonstration because tdTomato is absent from the pilot matrix. The real analysis will use the same outputs.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A6E62-63BC-4C86-80B4-F66C9582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43675"/>
            <a:ext cx="11315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13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Xenium ORBm + BMAp    Pipeline results    3/5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c3819c2a548a9"/>
          <a:stretch xmlns:a="http://schemas.openxmlformats.org/drawingml/2006/main"/>
        </p:blipFill>
        <p:spPr>
          <a:xfrm xmlns:a="http://schemas.openxmlformats.org/drawingml/2006/main">
            <a:off x="323850" y="1229101"/>
            <a:ext cx="6896100" cy="3218698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2e772f9804d75"/>
          <a:stretch xmlns:a="http://schemas.openxmlformats.org/drawingml/2006/main"/>
        </p:blipFill>
        <p:spPr>
          <a:xfrm xmlns:a="http://schemas.openxmlformats.org/drawingml/2006/main">
            <a:off x="7334250" y="1504413"/>
            <a:ext cx="4533900" cy="322052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3CCEC-C795-48B6-9D5D-0722679F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387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Expected real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7D577-3B7A-4E28-9DCD-3D67BD85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666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Calibrate the reporter threshold with controls. Estimate enrichment for each animal. Claim a new type only when a stable tdTom-associated cluster remains unexplained by reference subtypes and reproduces across animals.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19243-D891-432E-B55F-C4B88699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4006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7433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C74334"/>
                </a:solidFill>
                <a:latin typeface="Calibri"/>
                <a:ea typeface="Calibri"/>
                <a:cs typeface="Calibri"/>
              </a:rPr>
              <a:t>SIMULATED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704CF-1365-471B-8195-28A5E083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743575"/>
            <a:ext cx="3848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163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Toy data were designed to enrich tdTom+ cells in L5 and GABA classes.</a:t>
            </a:r>
          </a:p>
        </p:txBody>
      </p:sp>
    </p:spTree>
    <p:extLst>
      <p:ext uri="{BB962C8B-B14F-4D97-AF65-F5344CB8AC3E}">
        <p14:creationId xmlns:p14="http://schemas.microsoft.com/office/powerpoint/2010/main" val="20452330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D4AB2C-25D1-46D4-A37C-0551ABC8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E6371-A889-4653-A5B6-3ED8DB25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8600"/>
            <a:ext cx="1131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Story 3: reporter and condition effects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8FE05-1963-43B6-8621-DB4E1C2C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9125"/>
            <a:ext cx="1131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13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Simulated animal-level pseudobulk output. Five planned contrasts separate reporter, condition and interaction effects.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F0A11-0E78-4C3D-B58A-CAB08C8D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43675"/>
            <a:ext cx="11315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13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Xenium ORBm + BMAp    Pipeline results    4/5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62b1d54bf4adc"/>
          <a:stretch xmlns:a="http://schemas.openxmlformats.org/drawingml/2006/main"/>
        </p:blipFill>
        <p:spPr>
          <a:xfrm xmlns:a="http://schemas.openxmlformats.org/drawingml/2006/main">
            <a:off x="952364" y="1000125"/>
            <a:ext cx="6153422" cy="5286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5A9D6E-1D89-40B6-9447-77BCC043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190625"/>
            <a:ext cx="338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Planned contrasts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550CD-4355-46C0-BFF5-2B38A854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859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334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C74334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8C023C-8A8C-4B2C-8A50-90569DAD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764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tdTom+ vs tdTom− within Active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8555E-7DB6-4A2C-87B5-1A1D4677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526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334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C74334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C833EA-2D78-4D8C-8967-D62E92D3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43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tdTom+ vs tdTom− within Passive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A40E4-D0AD-41C6-8D10-98EBF4D2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194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334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C74334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1FEB4F-BCF1-4165-95F7-6368F3FB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099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Active vs Passive within tdTom+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5E6E6F-281A-4AC0-A725-72208C20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861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334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C74334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8C6167-BEE3-4F8D-9DB7-E86076B8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766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Active vs Passive within tdTom−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8A7BE2-8039-4851-B21D-E28E7CA8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529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334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C74334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9A985E-3BBF-441A-B134-B27E7BD1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434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Reporter-by-condition interaction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18A4AE-794A-4AC7-ADCF-B2DA725B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38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Animal is the experimental unit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1D670E-305C-432D-8E48-F74D5A30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619750"/>
            <a:ext cx="3486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>
                <a:solidFill>
                  <a:srgbClr val="C74334"/>
                </a:solidFill>
                <a:latin typeface="Calibri"/>
                <a:ea typeface="Calibri"/>
                <a:cs typeface="Calibri"/>
              </a:defRPr>
            </a:pPr>
            <a:r>
              <a:rPr sz="1238">
                <a:solidFill>
                  <a:srgbClr val="C74334"/>
                </a:solidFill>
                <a:latin typeface="Calibri"/>
                <a:ea typeface="Calibri"/>
                <a:cs typeface="Calibri"/>
              </a:rPr>
              <a:t>Toy values show effect size only. Real output adds confidence intervals and FDR.</a:t>
            </a:r>
          </a:p>
        </p:txBody>
      </p:sp>
    </p:spTree>
    <p:extLst>
      <p:ext uri="{BB962C8B-B14F-4D97-AF65-F5344CB8AC3E}">
        <p14:creationId xmlns:p14="http://schemas.microsoft.com/office/powerpoint/2010/main" val="5489617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36ABD-87AD-477E-97F5-78D62CA8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33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0EE52-A87C-42EB-BF5A-26F6BBEF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8600"/>
            <a:ext cx="1131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74334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C74334"/>
                </a:solidFill>
                <a:latin typeface="Calibri"/>
                <a:ea typeface="Calibri"/>
                <a:cs typeface="Calibri"/>
              </a:rPr>
              <a:t>Final decision: pipeline ready, inference awaits the full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4B32E-582F-4171-9BD7-91E9CE34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9125"/>
            <a:ext cx="1131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13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The pilot validates cell identity and detectability. It cannot answer the tdTom or Active and Passive questions.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4888D-286B-40A3-B0E3-833C7C64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43675"/>
            <a:ext cx="11315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13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Xenium ORBm + BMAp    Pipeline results    5/5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323850" y="1143000"/>
          <a:ext xmlns:a="http://schemas.openxmlformats.org/drawingml/2006/main" cx="115443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333625"/>
                <a:gridCol w="4095750"/>
                <a:gridCol w="3019425"/>
              </a:tblGrid>
              <a:tr h="6477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Question</a:t>
                      </a:r>
                    </a:p>
                  </a:txBody>
                  <a:tcPr marL="91440" marR="91440" marT="45720" marB="45720">
                    <a:solidFill>
                      <a:srgbClr val="C743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Current pilot</a:t>
                      </a:r>
                    </a:p>
                  </a:txBody>
                  <a:tcPr marL="91440" marR="91440" marT="45720" marB="45720">
                    <a:solidFill>
                      <a:srgbClr val="C743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Real-data criterion</a:t>
                      </a:r>
                    </a:p>
                  </a:txBody>
                  <a:tcPr marL="91440" marR="91440" marT="45720" marB="45720">
                    <a:solidFill>
                      <a:srgbClr val="C743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Primary output</a:t>
                      </a:r>
                    </a:p>
                  </a:txBody>
                  <a:tcPr marL="91440" marR="91440" marT="45720" marB="45720">
                    <a:solidFill>
                      <a:srgbClr val="C74334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303030"/>
                          </a:solidFill>
                          <a:latin typeface="Calibri"/>
                          <a:ea typeface="Calibri"/>
                          <a:cs typeface="Calibri"/>
                        </a:rPr>
                        <a:t>Cell identity</a:t>
                      </a:r>
                    </a:p>
                  </a:txBody>
                  <a:tcPr marL="91440" marR="91440" marT="45720" marB="45720"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303030"/>
                          </a:solidFill>
                          <a:latin typeface="Calibri"/>
                          <a:ea typeface="Calibri"/>
                          <a:cs typeface="Calibri"/>
                        </a:rPr>
                        <a:t>Runnable</a:t>
                      </a:r>
                    </a:p>
                  </a:txBody>
                  <a:tcPr marL="91440" marR="91440" marT="45720" marB="45720"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303030"/>
                          </a:solidFill>
                          <a:latin typeface="Calibri"/>
                          <a:ea typeface="Calibri"/>
                          <a:cs typeface="Calibri"/>
                        </a:rPr>
                        <a:t>Stable labels across resolution and Allen reference checks</a:t>
                      </a:r>
                    </a:p>
                  </a:txBody>
                  <a:tcPr marL="91440" marR="91440" marT="45720" marB="45720"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303030"/>
                          </a:solidFill>
                          <a:latin typeface="Calibri"/>
                          <a:ea typeface="Calibri"/>
                          <a:cs typeface="Calibri"/>
                        </a:rPr>
                        <a:t>Cell-type map and confidence</a:t>
                      </a:r>
                    </a:p>
                  </a:txBody>
                  <a:tcPr marL="91440" marR="91440" marT="45720" marB="45720">
                    <a:solidFill>
                      <a:srgbClr val="F4F1EB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303030"/>
                          </a:solidFill>
                          <a:latin typeface="Calibri"/>
                          <a:ea typeface="Calibri"/>
                          <a:cs typeface="Calibri"/>
                        </a:rPr>
                        <a:t>tdTom specificity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303030"/>
                          </a:solidFill>
                          <a:latin typeface="Calibri"/>
                          <a:ea typeface="Calibri"/>
                          <a:cs typeface="Calibri"/>
                        </a:rPr>
                        <a:t>Blocked: reporter absent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303030"/>
                          </a:solidFill>
                          <a:latin typeface="Calibri"/>
                          <a:ea typeface="Calibri"/>
                          <a:cs typeface="Calibri"/>
                        </a:rPr>
                        <a:t>Custom tdTomato probe and calibrated control threshold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303030"/>
                          </a:solidFill>
                          <a:latin typeface="Calibri"/>
                          <a:ea typeface="Calibri"/>
                          <a:cs typeface="Calibri"/>
                        </a:rPr>
                        <a:t>Per-animal enrichment with 95% CI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303030"/>
                          </a:solidFill>
                          <a:latin typeface="Calibri"/>
                          <a:ea typeface="Calibri"/>
                          <a:cs typeface="Calibri"/>
                        </a:rPr>
                        <a:t>Active vs Passive</a:t>
                      </a:r>
                    </a:p>
                  </a:txBody>
                  <a:tcPr marL="91440" marR="91440" marT="45720" marB="45720"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303030"/>
                          </a:solidFill>
                          <a:latin typeface="Calibri"/>
                          <a:ea typeface="Calibri"/>
                          <a:cs typeface="Calibri"/>
                        </a:rPr>
                        <a:t>Descriptive only</a:t>
                      </a:r>
                    </a:p>
                  </a:txBody>
                  <a:tcPr marL="91440" marR="91440" marT="45720" marB="45720"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303030"/>
                          </a:solidFill>
                          <a:latin typeface="Calibri"/>
                          <a:ea typeface="Calibri"/>
                          <a:cs typeface="Calibri"/>
                        </a:rPr>
                        <a:t>At least 3 independent animals per condition within each anatomy</a:t>
                      </a:r>
                    </a:p>
                  </a:txBody>
                  <a:tcPr marL="91440" marR="91440" marT="45720" marB="45720"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303030"/>
                          </a:solidFill>
                          <a:latin typeface="Calibri"/>
                          <a:ea typeface="Calibri"/>
                          <a:cs typeface="Calibri"/>
                        </a:rPr>
                        <a:t>Pseudobulk effect, CI and FDR</a:t>
                      </a:r>
                    </a:p>
                  </a:txBody>
                  <a:tcPr marL="91440" marR="91440" marT="45720" marB="45720">
                    <a:solidFill>
                      <a:srgbClr val="F4F1EB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303030"/>
                          </a:solidFill>
                          <a:latin typeface="Calibri"/>
                          <a:ea typeface="Calibri"/>
                          <a:cs typeface="Calibri"/>
                        </a:rPr>
                        <a:t>Novel cell type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303030"/>
                          </a:solidFill>
                          <a:latin typeface="Calibri"/>
                          <a:ea typeface="Calibri"/>
                          <a:cs typeface="Calibri"/>
                        </a:rPr>
                        <a:t>No conclusion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303030"/>
                          </a:solidFill>
                          <a:latin typeface="Calibri"/>
                          <a:ea typeface="Calibri"/>
                          <a:cs typeface="Calibri"/>
                        </a:rPr>
                        <a:t>Reporter-associated cluster persists within known types and reproduces across animals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303030"/>
                          </a:solidFill>
                          <a:latin typeface="Calibri"/>
                          <a:ea typeface="Calibri"/>
                          <a:cs typeface="Calibri"/>
                        </a:rPr>
                        <a:t>New type only with stable subtype markers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3870A-46AC-400B-8BF7-059E18F8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76875"/>
            <a:ext cx="11258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74334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C74334"/>
                </a:solidFill>
                <a:latin typeface="Calibri"/>
                <a:ea typeface="Calibri"/>
                <a:cs typeface="Calibri"/>
              </a:rPr>
              <a:t>Current decision: analysis code is ready; biological conclusions remain pending.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5F60F-CAA6-4467-8F86-1D53E5D3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1258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238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Preferred minimum: at least 3 independent animals per condition within each anatomy. Animal is the experimental unit.</a:t>
            </a:r>
          </a:p>
        </p:txBody>
      </p:sp>
    </p:spTree>
    <p:extLst>
      <p:ext uri="{BB962C8B-B14F-4D97-AF65-F5344CB8AC3E}">
        <p14:creationId xmlns:p14="http://schemas.microsoft.com/office/powerpoint/2010/main" val="2879374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2026-09-29T17:14:41.6770000Z</dcterms:created>
  <dcterms:modified xsi:type="dcterms:W3CDTF">2026-09-29T17:14:41.6770000Z</dcterms:modified>
</coreProperties>
</file>