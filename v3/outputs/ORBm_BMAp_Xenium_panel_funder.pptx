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4E89"/>
                </a:solidFill>
                <a:latin typeface="Calibri"/>
              </a:rPr>
              <a:t>How the gene panel was selected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12064"/>
            <a:ext cx="11430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472"/>
                </a:solidFill>
                <a:latin typeface="Calibri"/>
              </a:rPr>
              <a:t>The instrument reads a fixed number of genes per tissue section, so every slot has to be earned. First requirement: all 20 ORBm + BMAp cell types.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65392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472"/>
                </a:solidFill>
                <a:latin typeface="Calibri"/>
              </a:rPr>
              <a:t>ORBm + BMAp custom Xenium panel  |  Allen WMB-10X  |  1/5</a:t>
            </a:r>
          </a:p>
        </p:txBody>
      </p:sp>
      <p:pic>
        <p:nvPicPr>
          <p:cNvPr id="5" name="Picture 4" descr="s1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" y="914400"/>
            <a:ext cx="11521440" cy="4901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4E89"/>
                </a:solidFill>
                <a:latin typeface="Calibri"/>
              </a:rPr>
              <a:t>Why a gene is in - and why a similar one is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12064"/>
            <a:ext cx="11430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472"/>
                </a:solidFill>
                <a:latin typeface="Calibri"/>
              </a:rPr>
              <a:t>Each rule is a measurement with a cutoff. For every rule there is a gene that passed and a comparable gene that did not, so the line is visible rather than asserted.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65392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472"/>
                </a:solidFill>
                <a:latin typeface="Calibri"/>
              </a:rPr>
              <a:t>ORBm + BMAp custom Xenium panel  |  Allen WMB-10X  |  2/5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32688"/>
            <a:ext cx="5641848" cy="15179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3776" y="1042416"/>
            <a:ext cx="310896" cy="310896"/>
          </a:xfrm>
          <a:prstGeom prst="ellipse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3017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1042416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D4E89"/>
                </a:solidFill>
                <a:latin typeface="Calibri"/>
              </a:rPr>
              <a:t>Does it identify one of the 20 cell types?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408176"/>
            <a:ext cx="53675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472"/>
                </a:solidFill>
                <a:latin typeface="Calibri"/>
              </a:rPr>
              <a:t>Must be high in that type and low in the other 19, or in its closest neighbour.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1792224"/>
            <a:ext cx="53675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7C6A"/>
                </a:solidFill>
                <a:latin typeface="Calibri"/>
              </a:rPr>
              <a:t>IN     Prox1   +50pp for 073 Sox6 GABA vs 074 Lhx6 Sp9 GABA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2084832"/>
            <a:ext cx="53675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C44536"/>
                </a:solidFill>
                <a:latin typeface="Calibri"/>
              </a:rPr>
              <a:t>OUT   Sstr4    1.4% of cells - an empty map, cannot call any type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932688"/>
            <a:ext cx="5641848" cy="15179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59" y="1042416"/>
            <a:ext cx="310896" cy="31089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8504" y="1078992"/>
            <a:ext cx="3017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1042416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2A6F97"/>
                </a:solidFill>
                <a:latin typeface="Calibri"/>
              </a:rPr>
              <a:t>Does it split a type into a sub-type?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1408176"/>
            <a:ext cx="53675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472"/>
                </a:solidFill>
                <a:latin typeface="Calibri"/>
              </a:rPr>
              <a:t>Rare overall is fine if one sub-population is high and its siblings are not.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1792224"/>
            <a:ext cx="53675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7C6A"/>
                </a:solidFill>
                <a:latin typeface="Calibri"/>
              </a:rPr>
              <a:t>IN     St18    8.8% overall, 95% of one 194-cell sub-type (+66pp)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2084832"/>
            <a:ext cx="53675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C44536"/>
                </a:solidFill>
                <a:latin typeface="Calibri"/>
              </a:rPr>
              <a:t>OUT   Gpr63   2.7% of cells and 1.5pp gap - rare and uninformative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2560320"/>
            <a:ext cx="5641848" cy="15179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445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93776" y="2670048"/>
            <a:ext cx="310896" cy="310896"/>
          </a:xfrm>
          <a:prstGeom prst="ellipse">
            <a:avLst/>
          </a:prstGeom>
          <a:solidFill>
            <a:srgbClr val="C44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706624"/>
            <a:ext cx="3017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2670048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C44536"/>
                </a:solidFill>
                <a:latin typeface="Calibri"/>
              </a:rPr>
              <a:t>Does it report morphine or circadian state?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" y="3035808"/>
            <a:ext cx="53675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472"/>
                </a:solidFill>
                <a:latin typeface="Calibri"/>
              </a:rPr>
              <a:t>Jesse's 5-day morphine DEGs in ORBm. Circadian genes are from that list.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" y="3419856"/>
            <a:ext cx="53675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7C6A"/>
                </a:solidFill>
                <a:latin typeface="Calibri"/>
              </a:rPr>
              <a:t>IN     Per2    up in 13 of Jesse's ORBm clusters; circadian + morphine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" y="3712463"/>
            <a:ext cx="53675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C44536"/>
                </a:solidFill>
                <a:latin typeface="Calibri"/>
              </a:rPr>
              <a:t>OUT   Clock   97% of every type, 8pp gap - no contrast, Npas2 does this job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1344" y="2560320"/>
            <a:ext cx="5641848" cy="15179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6B7C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59" y="2670048"/>
            <a:ext cx="310896" cy="310896"/>
          </a:xfrm>
          <a:prstGeom prst="ellipse">
            <a:avLst/>
          </a:prstGeom>
          <a:solidFill>
            <a:srgbClr val="6B7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2706624"/>
            <a:ext cx="3017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3408" y="2670048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6B7C6A"/>
                </a:solidFill>
                <a:latin typeface="Calibri"/>
              </a:rPr>
              <a:t>Will the instrument actually detect it?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3035808"/>
            <a:ext cx="53675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472"/>
                </a:solidFill>
                <a:latin typeface="Calibri"/>
              </a:rPr>
              <a:t>State genes must be present in enough cells to read a level.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419856"/>
            <a:ext cx="53675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7C6A"/>
                </a:solidFill>
                <a:latin typeface="Calibri"/>
              </a:rPr>
              <a:t>IN     Grm8    99% of cells; also +31pp at a sub-population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7648" y="3712463"/>
            <a:ext cx="53675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C44536"/>
                </a:solidFill>
                <a:latin typeface="Calibri"/>
              </a:rPr>
              <a:t>OUT   Mas1    most ORB-enriched receptor in the donor list, but 45% of cells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4315968"/>
            <a:ext cx="11457432" cy="1993392"/>
          </a:xfrm>
          <a:prstGeom prst="roundRect">
            <a:avLst>
              <a:gd name="adj" fmla="val 6000"/>
            </a:avLst>
          </a:prstGeom>
          <a:solidFill>
            <a:srgbClr val="EAF2F8"/>
          </a:solidFill>
          <a:ln w="15875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443984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D4E89"/>
                </a:solidFill>
                <a:latin typeface="Calibri"/>
              </a:rPr>
              <a:t>The basic requirement this forces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773168"/>
            <a:ext cx="544068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ORBm = 12 Allen cell types. BMAp = 8. That is 20, and a panel that cannot call all 20 is not finished.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073 Sox6 GABA has no second gene unique versus all 19 others. It is still called: Prox1 / Sox6 / Lhx6 / Sp9 / Chn2 / Dlx1. Held-out recall 0.98.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4773168"/>
            <a:ext cx="544068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Circadian genes are circadian genes, from Jesse's ORBm morphine data.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On the panel: Per1, Per2, Cry2, Arntl, Npas2, Nr1d1, Nr1d2, Rora, Bhlhe40, Bhlhe41, Hlf, Nfil3, Id2, Ep300, Ppargc1a. Clock itself is out (no contrast).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4E89"/>
                </a:solidFill>
                <a:latin typeface="Calibri"/>
              </a:rPr>
              <a:t>Final panel  -  259 genes, one section, two regions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12064"/>
            <a:ext cx="11430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472"/>
                </a:solidFill>
                <a:latin typeface="Calibri"/>
              </a:rPr>
              <a:t>One shared Xenium panel read from the same mouse. All 20 target cell populations remain separable.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65392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472"/>
                </a:solidFill>
                <a:latin typeface="Calibri"/>
              </a:rPr>
              <a:t>ORBm + BMAp custom Xenium panel  |  Allen WMB-10X  |  3/5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14400"/>
            <a:ext cx="2697480" cy="1024128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5875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960120"/>
            <a:ext cx="247802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1D4E89"/>
                </a:solidFill>
                <a:latin typeface="Calibri"/>
              </a:rPr>
              <a:t>259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435607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genes on the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shared panel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55264" y="914400"/>
            <a:ext cx="2697480" cy="1024128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5875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64992" y="960120"/>
            <a:ext cx="247802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2A6F97"/>
                </a:solidFill>
                <a:latin typeface="Calibri"/>
              </a:rPr>
              <a:t>20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2" y="1435607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cell populations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still separable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914400"/>
            <a:ext cx="2697480" cy="1024128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5875">
            <a:solidFill>
              <a:srgbClr val="6B7C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960120"/>
            <a:ext cx="247802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6B7C6A"/>
                </a:solidFill>
                <a:latin typeface="Calibri"/>
              </a:rPr>
              <a:t>86 / 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4496" y="1435607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sub-populations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resolved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34272" y="914400"/>
            <a:ext cx="2697480" cy="1024128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5875">
            <a:solidFill>
              <a:srgbClr val="C445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960120"/>
            <a:ext cx="247802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C44536"/>
                </a:solidFill>
                <a:latin typeface="Calibri"/>
              </a:rPr>
              <a:t>12 + 8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1435607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populations in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ORBm  +  BMAp</a:t>
            </a:r>
          </a:p>
        </p:txBody>
      </p:sp>
      <p:pic>
        <p:nvPicPr>
          <p:cNvPr id="17" name="Picture 16" descr="s3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21408"/>
            <a:ext cx="6446520" cy="299938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78040" y="2139696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Calibri"/>
              </a:rPr>
              <a:t>What each cell will tell 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615184"/>
            <a:ext cx="4617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D4E89"/>
                </a:solidFill>
                <a:latin typeface="Calibri"/>
              </a:rPr>
              <a:t>Identity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88036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Which of the 20 populations it is - cortical layer, interneuron class, or amygdala subtype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502152"/>
            <a:ext cx="4617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A6F97"/>
                </a:solidFill>
                <a:latin typeface="Calibri"/>
              </a:rPr>
              <a:t>Activity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767328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Whether it was recently active - Fos and Arc, plus the TRAP2 genetic tag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389120"/>
            <a:ext cx="4617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44536"/>
                </a:solidFill>
                <a:latin typeface="Calibri"/>
              </a:rPr>
              <a:t>Circadian / morphine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4654296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Jesse ORBm state: Per2, Per1, Nr1d1 and the circadian gene 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5276088"/>
            <a:ext cx="4617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C6A"/>
                </a:solidFill>
                <a:latin typeface="Calibri"/>
              </a:rPr>
              <a:t>Receptors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5541264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Which GPCRs sit on it - opioid, monoamine, muscarinic, peptide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05332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44536"/>
                </a:solidFill>
                <a:latin typeface="Calibri"/>
              </a:rPr>
              <a:t>The last row is the new capability: inside one of the 20 types, separate cells that were TRAP-active during morphine seeking from those that were not, and ask which receptors differ.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4E89"/>
                </a:solidFill>
                <a:latin typeface="Calibri"/>
              </a:rPr>
              <a:t>The 20 populations we must tell apart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12064"/>
            <a:ext cx="11430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472"/>
                </a:solidFill>
                <a:latin typeface="Calibri"/>
              </a:rPr>
              <a:t>The target list comes from the Allen Brain Cell Atlas taxonomy: 12 populations in orbitofrontal cortex, 8 in basomedial amygdala.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65392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472"/>
                </a:solidFill>
                <a:latin typeface="Calibri"/>
              </a:rPr>
              <a:t>ORBm + BMAp custom Xenium panel  |  Allen WMB-10X  |  4/5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14400"/>
            <a:ext cx="2697480" cy="1024128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5875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960120"/>
            <a:ext cx="247802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1D4E89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435607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ORBm populations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83,406 Allen cells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55264" y="914400"/>
            <a:ext cx="2697480" cy="1024128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5875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64992" y="960120"/>
            <a:ext cx="247802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2A6F97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2" y="1435607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BMAp populations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40,709 Allen cells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914400"/>
            <a:ext cx="2697480" cy="1024128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5875">
            <a:solidFill>
              <a:srgbClr val="6B7C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960120"/>
            <a:ext cx="247802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6B7C6A"/>
                </a:solidFill>
                <a:latin typeface="Calibri"/>
              </a:rPr>
              <a:t>124,115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4496" y="1435607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cells in the 20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target populations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34272" y="914400"/>
            <a:ext cx="2697480" cy="1024128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5875">
            <a:solidFill>
              <a:srgbClr val="C445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960120"/>
            <a:ext cx="247802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C44536"/>
                </a:solidFill>
                <a:latin typeface="Calibri"/>
              </a:rPr>
              <a:t>20 /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1435607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have separators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on the final panel</a:t>
            </a:r>
          </a:p>
        </p:txBody>
      </p:sp>
      <p:pic>
        <p:nvPicPr>
          <p:cNvPr id="17" name="Picture 16" descr="s4_popu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103120"/>
            <a:ext cx="10149840" cy="41581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4E89"/>
                </a:solidFill>
                <a:latin typeface="Calibri"/>
              </a:rPr>
              <a:t>The list rests on a full re-analysis of the reference atlas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12064"/>
            <a:ext cx="11430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472"/>
                </a:solidFill>
                <a:latin typeface="Calibri"/>
              </a:rPr>
              <a:t>No gene was taken on a paper's word. Every candidate was re-scored in Allen WMB-10X, restricted to these two regions.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65392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472"/>
                </a:solidFill>
                <a:latin typeface="Calibri"/>
              </a:rPr>
              <a:t>ORBm + BMAp custom Xenium panel  |  Allen WMB-10X  |  5/5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14400"/>
            <a:ext cx="2697480" cy="1024128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5875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960120"/>
            <a:ext cx="247802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1D4E89"/>
                </a:solidFill>
                <a:latin typeface="Calibri"/>
              </a:rPr>
              <a:t>226,886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435607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single cells scored in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the two target regions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55264" y="914400"/>
            <a:ext cx="2697480" cy="1024128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5875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64992" y="960120"/>
            <a:ext cx="247802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2A6F97"/>
                </a:solidFill>
                <a:latin typeface="Calibri"/>
              </a:rPr>
              <a:t>32,245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2" y="1435607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genes re-scored,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not a shortlist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914400"/>
            <a:ext cx="2697480" cy="1024128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5875">
            <a:solidFill>
              <a:srgbClr val="C445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960120"/>
            <a:ext cx="247802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C44536"/>
                </a:solidFill>
                <a:latin typeface="Calibri"/>
              </a:rPr>
              <a:t>20 /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4496" y="1435607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cell types called,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the basic requirement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34272" y="914400"/>
            <a:ext cx="2697480" cy="1024128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5875">
            <a:solidFill>
              <a:srgbClr val="6B7C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960120"/>
            <a:ext cx="247802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6B7C6A"/>
                </a:solidFill>
                <a:latin typeface="Calibri"/>
              </a:rPr>
              <a:t>0.948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1435607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held-out accuracy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across the 20 types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139696"/>
            <a:ext cx="2697480" cy="1024128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5875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2185415"/>
            <a:ext cx="247802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1D4E89"/>
                </a:solidFill>
                <a:latin typeface="Calibri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2660903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documented sources,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9 with a DOI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55264" y="2139696"/>
            <a:ext cx="2697480" cy="1024128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5875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64992" y="2185415"/>
            <a:ext cx="247802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2A6F97"/>
                </a:solidFill>
                <a:latin typeface="Calibri"/>
              </a:rPr>
              <a:t>280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660903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GPCRs swept,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35 kept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2139696"/>
            <a:ext cx="2697480" cy="1024128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5875">
            <a:solidFill>
              <a:srgbClr val="C445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4496" y="2185415"/>
            <a:ext cx="247802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C44536"/>
                </a:solidFill>
                <a:latin typeface="Calibri"/>
              </a:rPr>
              <a:t>86 / 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4496" y="2660903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sub-populations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resolved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34272" y="2139696"/>
            <a:ext cx="2697480" cy="1024128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5875">
            <a:solidFill>
              <a:srgbClr val="6B7C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0" y="2185415"/>
            <a:ext cx="247802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6B7C6A"/>
                </a:solidFill>
                <a:latin typeface="Calibri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2660903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circadian genes,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from Jesse, not a name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3401568"/>
            <a:ext cx="11457432" cy="2907792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5875">
            <a:solidFill>
              <a:srgbClr val="B8B2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354787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D4E89"/>
                </a:solidFill>
                <a:latin typeface="Calibri"/>
              </a:rPr>
              <a:t>What that analysis produced, in order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950208"/>
            <a:ext cx="54406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1.   Restrict to the 20 types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      12 ORBm + 8 BMAp. Nothing is scored as a whole-brain average.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2.   Per-type marker ranking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      Unique versus the other 19, and versus the closest neighbour.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3.   Circadian + morphine from Jesse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      Clock genes that are DE in PL-ILA-ORB after 5-day morphine, plus the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      PER:CRY and ROR/REV-ERB limbs those DEGs need to be readable.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950208"/>
            <a:ext cx="54406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4.   Receptor layer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      35 GPCRs, each with where it sits among the 20 and whether a drug exists.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5.   Drop what cannot be seen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      Empty maps (Sstr4 1%) and no-contrast genes (Clock, Syt1).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6.   Held-out check on the 20 types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      0.948 balanced accuracy. 073 Sox6 GABA recall 0.98. L5 IT and L6b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      grade into their neighbour - that is cortex, not a missing marker.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