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D4E89"/>
                </a:solidFill>
                <a:latin typeface="Calibri"/>
              </a:rPr>
              <a:t>What the 147 genes do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genes</c:v>
                </c:pt>
              </c:strCache>
            </c:strRef>
          </c:tx>
          <c:dPt>
            <c:idx val="0"/>
            <c:spPr>
              <a:solidFill>
                <a:srgbClr val="1D4E89"/>
              </a:solidFill>
            </c:spPr>
          </c:dPt>
          <c:dPt>
            <c:idx val="1"/>
            <c:spPr>
              <a:solidFill>
                <a:srgbClr val="2A6F97"/>
              </a:solidFill>
            </c:spPr>
          </c:dPt>
          <c:dPt>
            <c:idx val="2"/>
            <c:spPr>
              <a:solidFill>
                <a:srgbClr val="6B7C6A"/>
              </a:solidFill>
            </c:spPr>
          </c:dPt>
          <c:dPt>
            <c:idx val="3"/>
            <c:spPr>
              <a:solidFill>
                <a:srgbClr val="C44536"/>
              </a:solidFill>
            </c:spPr>
          </c:dPt>
          <c:dPt>
            <c:idx val="4"/>
            <c:spPr>
              <a:solidFill>
                <a:srgbClr val="B08968"/>
              </a:solidFill>
            </c:spPr>
          </c:dPt>
          <c:cat>
            <c:strRef>
              <c:f>Sheet1!$A$2:$A$6</c:f>
              <c:strCache>
                <c:ptCount val="5"/>
                <c:pt idx="0">
                  <c:v>Cell identity and region</c:v>
                </c:pt>
                <c:pt idx="1">
                  <c:v>Druggable receptor map</c:v>
                </c:pt>
                <c:pt idx="2">
                  <c:v>Activity and plasticity</c:v>
                </c:pt>
                <c:pt idx="3">
                  <c:v>Morphine-dependence state</c:v>
                </c:pt>
                <c:pt idx="4">
                  <c:v>TRAP genetic tag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96</c:v>
                </c:pt>
                <c:pt idx="1">
                  <c:v>27</c:v>
                </c:pt>
                <c:pt idx="2">
                  <c:v>17</c:v>
                </c:pt>
                <c:pt idx="3">
                  <c:v>5</c:v>
                </c:pt>
                <c:pt idx="4">
                  <c:v>2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B2A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>
                <a:solidFill>
                  <a:srgbClr val="1D4E89"/>
                </a:solidFill>
                <a:latin typeface="Calibri"/>
              </a:rPr>
              <a:t>Option B  -  cut to the 100-gene custom 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The same design trimmed to exactly the add-on cap, so it can be ordered today.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47104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OPTION B  ·  147 genes, 100 custom  |  ORBm + BMAp Xenium  |  1/3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969264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1D4E89"/>
                </a:solidFill>
                <a:latin typeface="Calibri"/>
              </a:rPr>
              <a:t>WHERE THE CANDIDATES CAME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969264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D4E89"/>
                </a:solidFill>
                <a:latin typeface="Calibri"/>
              </a:rPr>
              <a:t>FOUR DECISION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969264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D4E89"/>
                </a:solidFill>
                <a:latin typeface="Calibri"/>
              </a:rPr>
              <a:t>WHAT WE ORDER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280160"/>
            <a:ext cx="2999232" cy="1280160"/>
          </a:xfrm>
          <a:prstGeom prst="roundRect">
            <a:avLst/>
          </a:prstGeom>
          <a:solidFill>
            <a:srgbClr val="F4F1EA"/>
          </a:solidFill>
          <a:ln w="1905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280160"/>
            <a:ext cx="2999232" cy="310896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OUR MARKER SCREEN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1645919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Allen atlas + 13 documented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228600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1D4E89"/>
                </a:solidFill>
                <a:latin typeface="Calibri"/>
              </a:rPr>
              <a:t>311 screened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83280" y="1920239"/>
            <a:ext cx="5486400" cy="1298449"/>
          </a:xfrm>
          <a:prstGeom prst="line">
            <a:avLst/>
          </a:prstGeom>
          <a:ln w="19050">
            <a:solidFill>
              <a:srgbClr val="1D4E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474720" y="1645919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D4E89"/>
                </a:solidFill>
                <a:latin typeface="Calibri"/>
              </a:rPr>
              <a:t>130 kept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2724911"/>
            <a:ext cx="2999232" cy="1280160"/>
          </a:xfrm>
          <a:prstGeom prst="roundRect">
            <a:avLst/>
          </a:prstGeom>
          <a:solidFill>
            <a:srgbClr val="F4F1EA"/>
          </a:solidFill>
          <a:ln w="1905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2724911"/>
            <a:ext cx="2999232" cy="310896"/>
          </a:xfrm>
          <a:prstGeom prst="rect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JESSE NIEHAUS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3090671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Morphine-dependence expression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in orbitofrontal cortex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3730751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C44536"/>
                </a:solidFill>
                <a:latin typeface="Calibri"/>
              </a:rPr>
              <a:t>431 screened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3383280" y="3218688"/>
            <a:ext cx="5486400" cy="146303"/>
          </a:xfrm>
          <a:prstGeom prst="line">
            <a:avLst/>
          </a:prstGeom>
          <a:ln w="19050">
            <a:solidFill>
              <a:srgbClr val="C445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474720" y="309067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C44536"/>
                </a:solidFill>
                <a:latin typeface="Calibri"/>
              </a:rPr>
              <a:t>8 kept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4169663"/>
            <a:ext cx="2999232" cy="1280160"/>
          </a:xfrm>
          <a:prstGeom prst="roundRect">
            <a:avLst/>
          </a:prstGeom>
          <a:solidFill>
            <a:srgbClr val="F4F1EA"/>
          </a:solidFill>
          <a:ln w="1905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4048" y="4169663"/>
            <a:ext cx="2999232" cy="310896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BERG &amp; SCHERRER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4535424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Published amygdala spatial panel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(GSE283418)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5175503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2A6F97"/>
                </a:solidFill>
                <a:latin typeface="Calibri"/>
              </a:rPr>
              <a:t>98 screened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383280" y="3218688"/>
            <a:ext cx="5486400" cy="1591056"/>
          </a:xfrm>
          <a:prstGeom prst="line">
            <a:avLst/>
          </a:prstGeom>
          <a:ln w="19050">
            <a:solidFill>
              <a:srgbClr val="2A6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474720" y="453542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2A6F97"/>
                </a:solidFill>
                <a:latin typeface="Calibri"/>
              </a:rPr>
              <a:t>9 kept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1280160"/>
            <a:ext cx="4133087" cy="7680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90288" y="1527048"/>
            <a:ext cx="274320" cy="274320"/>
          </a:xfrm>
          <a:prstGeom prst="ellipse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56048" y="1353312"/>
            <a:ext cx="35295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D4E89"/>
                </a:solidFill>
                <a:latin typeface="Calibri"/>
              </a:rPr>
              <a:t>Does it identify the cell type?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80560" y="2176272"/>
            <a:ext cx="4133087" cy="7680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90288" y="2423160"/>
            <a:ext cx="274320" cy="27432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56048" y="2249424"/>
            <a:ext cx="35295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A6F97"/>
                </a:solidFill>
                <a:latin typeface="Calibri"/>
              </a:rPr>
              <a:t>Is it a druggable receptor we cannot already see?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0560" y="3072384"/>
            <a:ext cx="4133087" cy="7680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590288" y="3319272"/>
            <a:ext cx="274320" cy="274320"/>
          </a:xfrm>
          <a:prstGeom prst="ellipse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56048" y="3145536"/>
            <a:ext cx="35295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44536"/>
                </a:solidFill>
                <a:latin typeface="Calibri"/>
              </a:rPr>
              <a:t>Does it report the morphine-dependent state?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3968496"/>
            <a:ext cx="4133087" cy="7680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590288" y="4215383"/>
            <a:ext cx="274320" cy="274320"/>
          </a:xfrm>
          <a:prstGeom prst="ellipse">
            <a:avLst/>
          </a:prstGeom>
          <a:solidFill>
            <a:srgbClr val="6B7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56048" y="4041648"/>
            <a:ext cx="35295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7C6A"/>
                </a:solidFill>
                <a:latin typeface="Calibri"/>
              </a:rPr>
              <a:t>Will the instrument actually detect it?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80560" y="4882896"/>
            <a:ext cx="4133087" cy="859536"/>
          </a:xfrm>
          <a:prstGeom prst="roundRect">
            <a:avLst/>
          </a:prstGeom>
          <a:solidFill>
            <a:srgbClr val="EAF2F8"/>
          </a:solidFill>
          <a:ln w="1651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0" y="4956048"/>
            <a:ext cx="39502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D4E89"/>
                </a:solidFill>
                <a:latin typeface="Calibri"/>
              </a:rPr>
              <a:t>Every rule measured in the Allen atlas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5193792"/>
            <a:ext cx="395020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226,886 cells  ·  82 subclasses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28,184 measurements  ·  3,901 pairwise tests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69680" y="1280160"/>
            <a:ext cx="2944368" cy="4462272"/>
          </a:xfrm>
          <a:prstGeom prst="roundRect">
            <a:avLst/>
          </a:prstGeom>
          <a:solidFill>
            <a:srgbClr val="EAF2F8"/>
          </a:solidFill>
          <a:ln w="2667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1120" y="1371600"/>
            <a:ext cx="27614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D4E89"/>
                </a:solidFill>
                <a:latin typeface="Calibri"/>
              </a:rPr>
              <a:t>THIS OPTION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1645920"/>
            <a:ext cx="276148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4200" b="1">
                <a:solidFill>
                  <a:srgbClr val="1D4E89"/>
                </a:solidFill>
                <a:latin typeface="Calibri"/>
              </a:rPr>
              <a:t>147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0" y="2359152"/>
            <a:ext cx="2761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genes on one section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034272" y="2706624"/>
            <a:ext cx="2615184" cy="0"/>
          </a:xfrm>
          <a:prstGeom prst="line">
            <a:avLst/>
          </a:prstGeom>
          <a:ln w="12700">
            <a:solidFill>
              <a:srgbClr val="B8B2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961120" y="2779776"/>
            <a:ext cx="27614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F2937"/>
                </a:solidFill>
                <a:latin typeface="Calibri"/>
              </a:rPr>
              <a:t>130 our marker screen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F2937"/>
                </a:solidFill>
                <a:latin typeface="Calibri"/>
              </a:rPr>
              <a:t>9 Berg &amp; Scherrer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F2937"/>
                </a:solidFill>
                <a:latin typeface="Calibri"/>
              </a:rPr>
              <a:t>8 Jesse Niehaus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034272" y="3730752"/>
            <a:ext cx="2615184" cy="0"/>
          </a:xfrm>
          <a:prstGeom prst="line">
            <a:avLst/>
          </a:prstGeom>
          <a:ln w="12700">
            <a:solidFill>
              <a:srgbClr val="B8B2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961120" y="3803904"/>
            <a:ext cx="27614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050" b="1">
                <a:solidFill>
                  <a:srgbClr val="1D4E89"/>
                </a:solidFill>
                <a:latin typeface="Calibri"/>
              </a:rPr>
              <a:t>47 free on the base panel</a:t>
            </a:r>
          </a:p>
          <a:p>
            <a:pPr algn="ctr">
              <a:spcAft>
                <a:spcPts val="100"/>
              </a:spcAft>
            </a:pPr>
            <a:r>
              <a:rPr sz="1050" b="1">
                <a:solidFill>
                  <a:srgbClr val="1D4E89"/>
                </a:solidFill>
                <a:latin typeface="Calibri"/>
              </a:rPr>
              <a:t>100 custom probes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034272" y="4590288"/>
            <a:ext cx="2615184" cy="0"/>
          </a:xfrm>
          <a:prstGeom prst="line">
            <a:avLst/>
          </a:prstGeom>
          <a:ln w="12700">
            <a:solidFill>
              <a:srgbClr val="B8B2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961120" y="4663440"/>
            <a:ext cx="2761488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050" b="1">
                <a:solidFill>
                  <a:srgbClr val="1D4E89"/>
                </a:solidFill>
                <a:latin typeface="Calibri"/>
              </a:rPr>
              <a:t>2 brain regions</a:t>
            </a:r>
          </a:p>
          <a:p>
            <a:pPr algn="ctr">
              <a:spcAft>
                <a:spcPts val="100"/>
              </a:spcAft>
            </a:pPr>
            <a:r>
              <a:rPr sz="1050" b="1">
                <a:solidFill>
                  <a:srgbClr val="1D4E89"/>
                </a:solidFill>
                <a:latin typeface="Calibri"/>
              </a:rPr>
              <a:t>20 cell populations</a:t>
            </a:r>
          </a:p>
          <a:p>
            <a:pPr algn="ctr">
              <a:spcAft>
                <a:spcPts val="100"/>
              </a:spcAft>
            </a:pPr>
            <a:r>
              <a:rPr sz="1050" b="1">
                <a:solidFill>
                  <a:srgbClr val="1D4E89"/>
                </a:solidFill>
                <a:latin typeface="Calibri"/>
              </a:rPr>
              <a:t>1 section, 1 animal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84048" y="4882896"/>
            <a:ext cx="3749039" cy="859536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B8B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5488" y="4956048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F2937"/>
                </a:solidFill>
                <a:latin typeface="Calibri"/>
              </a:rPr>
              <a:t>701 candidates  -&gt;  147 selected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5488" y="5193792"/>
            <a:ext cx="35661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472"/>
                </a:solidFill>
                <a:latin typeface="Calibri"/>
              </a:rPr>
              <a:t>Each keeps its evidence and the rule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5B6472"/>
                </a:solidFill>
                <a:latin typeface="Calibri"/>
              </a:rPr>
              <a:t>that admitted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>
                <a:solidFill>
                  <a:srgbClr val="C44536"/>
                </a:solidFill>
                <a:latin typeface="Calibri"/>
              </a:rPr>
              <a:t>Why a gene is in - and why a similar one is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Each rule is a measurement with a cutoff, so any gene's inclusion can be re-checked.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47104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OPTION B  ·  147 genes, 100 custom  |  ORBm + BMAp Xenium  |  2/3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005840"/>
            <a:ext cx="5632704" cy="14447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12064" y="1115568"/>
            <a:ext cx="274320" cy="274320"/>
          </a:xfrm>
          <a:prstGeom prst="ellipse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088136"/>
            <a:ext cx="5047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D4E89"/>
                </a:solidFill>
                <a:latin typeface="Calibri"/>
              </a:rPr>
              <a:t>Does it identify the cell type?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426464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Specificity against genes the panel already carries; must beat them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755648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C6A"/>
                </a:solidFill>
                <a:latin typeface="Calibri"/>
              </a:rPr>
              <a:t>IN     Col23a1   3.7x more specific than any equal marker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066543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44536"/>
                </a:solidFill>
                <a:latin typeface="Calibri"/>
              </a:rPr>
              <a:t>OUT   Sfrp1   0.9x - a panel gene already does it better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005840"/>
            <a:ext cx="5632704" cy="14447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72783" y="1115568"/>
            <a:ext cx="274320" cy="27432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0256" y="1088136"/>
            <a:ext cx="5047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A6F97"/>
                </a:solidFill>
                <a:latin typeface="Calibri"/>
              </a:rPr>
              <a:t>Is it a druggable receptor we cannot see?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1426464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Regional enrichment, plus whether the family is already covered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1755648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C6A"/>
                </a:solidFill>
                <a:latin typeface="Calibri"/>
              </a:rPr>
              <a:t>IN     Chrm1   M1 receptor - we could only see M2 before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2066543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44536"/>
                </a:solidFill>
                <a:latin typeface="Calibri"/>
              </a:rPr>
              <a:t>OUT   Gpr26   orphan receptor, no known ligand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2560320"/>
            <a:ext cx="5632704" cy="14447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2064" y="2670048"/>
            <a:ext cx="274320" cy="274320"/>
          </a:xfrm>
          <a:prstGeom prst="ellipse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2642615"/>
            <a:ext cx="5047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44536"/>
                </a:solidFill>
                <a:latin typeface="Calibri"/>
              </a:rPr>
              <a:t>Does it report the morphine-dependent state?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2980944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Differential expression counted only in our 12 ORBm populations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3310127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C6A"/>
                </a:solidFill>
                <a:latin typeface="Calibri"/>
              </a:rPr>
              <a:t>IN     Per2   changes in 11 of 12 populations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3621024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44536"/>
                </a:solidFill>
                <a:latin typeface="Calibri"/>
              </a:rPr>
              <a:t>OUT   Nr4a3   8 clusters overall, but only 5 of ours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44768" y="2560320"/>
            <a:ext cx="5632704" cy="14447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72783" y="2670048"/>
            <a:ext cx="274320" cy="274320"/>
          </a:xfrm>
          <a:prstGeom prst="ellipse">
            <a:avLst/>
          </a:prstGeom>
          <a:solidFill>
            <a:srgbClr val="6B7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0256" y="2642615"/>
            <a:ext cx="5047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6B7C6A"/>
                </a:solidFill>
                <a:latin typeface="Calibri"/>
              </a:rPr>
              <a:t>Will the instrument actually detect it?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2" y="2980944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Fraction of cells expressing it; sparse probes give unusable maps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1072" y="3310127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C6A"/>
                </a:solidFill>
                <a:latin typeface="Calibri"/>
              </a:rPr>
              <a:t>IN     Grm8   99% of cells, &gt;50% in 8 of 12 populations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1072" y="3621024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44536"/>
                </a:solidFill>
                <a:latin typeface="Calibri"/>
              </a:rPr>
              <a:t>OUT   Mas1   most enriched of all, but only 45% of cells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" y="4206240"/>
            <a:ext cx="11430000" cy="1060704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4297680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6B7C6A"/>
                </a:solidFill>
                <a:latin typeface="Calibri"/>
              </a:rPr>
              <a:t>ORDERABLE NOW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4590288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Exactly at the 100-gene custom cap. 19 genes were removed, each because it failed the rule that admitted it. No cell-population marker was touched, so all 20 populations remain identifiable.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4048" y="5394960"/>
            <a:ext cx="11430000" cy="896112"/>
          </a:xfrm>
          <a:prstGeom prst="roundRect">
            <a:avLst/>
          </a:prstGeom>
          <a:solidFill>
            <a:srgbClr val="EAF2F8"/>
          </a:solidFill>
          <a:ln w="1524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5477256"/>
            <a:ext cx="11064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D4E89"/>
                </a:solidFill>
                <a:latin typeface="Calibri"/>
              </a:rPr>
              <a:t>No change to the quote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5733288"/>
            <a:ext cx="110642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Xenium Mouse Brain panel + Add-on Custom 51-100 (part 1000651), list $5,650, quoted at $2,825 after discount. Nothing further to negotiate.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>
                <a:solidFill>
                  <a:srgbClr val="2A6F97"/>
                </a:solidFill>
                <a:latin typeface="Calibri"/>
              </a:rPr>
              <a:t>What Option B delivers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Composition and measurement capability of this version.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47104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OPTION B  ·  147 genes, 100 custom  |  ORBm + BMAp Xenium  |  3/3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969264"/>
            <a:ext cx="2688336" cy="1005840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1D4E89"/>
                </a:solidFill>
                <a:latin typeface="Calibri"/>
              </a:rPr>
              <a:t>147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81328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genes on the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shared panel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3552" y="969264"/>
            <a:ext cx="2688336" cy="1005840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46704" y="1005840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2A6F97"/>
                </a:solidFill>
                <a:latin typeface="Calibri"/>
              </a:rPr>
              <a:t>20 / 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6704" y="1481328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cell populations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still separable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969264"/>
            <a:ext cx="2688336" cy="1005840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1005840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6B7C6A"/>
                </a:solidFill>
                <a:latin typeface="Calibri"/>
              </a:rPr>
              <a:t>100 / 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1481328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custom probes against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the 10x add-on cap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969264"/>
            <a:ext cx="2688336" cy="1005840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25712" y="1005840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C44536"/>
                </a:solidFill>
                <a:latin typeface="Calibri"/>
              </a:rPr>
              <a:t>12 + 8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2" y="1481328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populations in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ORBm  +  BMAp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274320" y="2176272"/>
          <a:ext cx="644652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967728" y="21945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D4E89"/>
                </a:solidFill>
                <a:latin typeface="Calibri"/>
              </a:rPr>
              <a:t>What each cell will tell 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2578608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D4E89"/>
                </a:solidFill>
                <a:latin typeface="Calibri"/>
              </a:rPr>
              <a:t>Identity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2816352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F2937"/>
                </a:solidFill>
                <a:latin typeface="Calibri"/>
              </a:rPr>
              <a:t>Which of the 20 populations it is - layer, interneuron class, amygdala subtype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8" y="3419856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A6F97"/>
                </a:solidFill>
                <a:latin typeface="Calibri"/>
              </a:rPr>
              <a:t>Activity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3657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F2937"/>
                </a:solidFill>
                <a:latin typeface="Calibri"/>
              </a:rPr>
              <a:t>Whether it was recently active - Fos and Arc, plus the TRAP2 tag (tdTomato and iCre)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4261104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44536"/>
                </a:solidFill>
                <a:latin typeface="Calibri"/>
              </a:rPr>
              <a:t>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4498848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F2937"/>
                </a:solidFill>
                <a:latin typeface="Calibri"/>
              </a:rPr>
              <a:t>Whether it carries the morphine-dependence signature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7728" y="5102352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6B7C6A"/>
                </a:solidFill>
                <a:latin typeface="Calibri"/>
              </a:rPr>
              <a:t>Receptors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5340096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F2937"/>
                </a:solidFill>
                <a:latin typeface="Calibri"/>
              </a:rPr>
              <a:t>Which druggable receptors sit on it - opioid, muscarinic, glutamate, relaxin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8" y="5998464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5B6472"/>
                </a:solidFill>
                <a:latin typeface="Calibri"/>
              </a:rPr>
              <a:t>No AAV probes: this project crosses TRAP2 with a tdTomato reporter 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