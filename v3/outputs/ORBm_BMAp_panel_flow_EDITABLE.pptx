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How the 259 genes were chosen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11521440" cy="29260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Left = where a gene was proposed.  Middle = the four tests every gene had to pass.  Right = what survived, by job.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" y="822960"/>
            <a:ext cx="3127248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822960"/>
            <a:ext cx="3127248" cy="347472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Allen Brain Cell Atlas (WMB-10X)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" y="1207008"/>
            <a:ext cx="3054096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226,886 single cells in ORBm + BMAp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20 target cell types (12 cortex + 8 amygdala)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86 sub-populations inside those 20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32,245 genes scored in these regions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" y="2670048"/>
            <a:ext cx="3127248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" y="2670048"/>
            <a:ext cx="3127248" cy="347472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Collaborator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3054096"/>
            <a:ext cx="305409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Jesse — 5-day morphine DEGs in ORB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55 of those genes sit on this panel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Dan — GSE283418 amygdala spatial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kept only where they still name a BMAp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" y="4425696"/>
            <a:ext cx="3127248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4425696"/>
            <a:ext cx="3127248" cy="347472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Literature + published markers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" y="4809744"/>
            <a:ext cx="305409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13 documented sources (9 with a DOI)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Published markers re-tested in Allen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Circadian genes from Jesse, not a document name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Sex genes excluded on request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56432" y="1554480"/>
            <a:ext cx="292608" cy="201168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3456432" y="3383280"/>
            <a:ext cx="292608" cy="201168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3456432" y="5120640"/>
            <a:ext cx="292608" cy="201168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22191" y="822960"/>
            <a:ext cx="4096512" cy="5230368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 w="254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896112"/>
            <a:ext cx="3877056" cy="38404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D4E89"/>
                </a:solidFill>
                <a:latin typeface="Calibri"/>
              </a:rPr>
              <a:t>Every candidate re-measured in these two regions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6783" y="1298448"/>
            <a:ext cx="3767328" cy="256032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2937"/>
                </a:solidFill>
                <a:latin typeface="Calibri"/>
              </a:rPr>
              <a:t>1  Does it name the cell type?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6783" y="1554480"/>
            <a:ext cx="3767328" cy="47548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High in that type and low in the other 19, or in its closest neighbour.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6783" y="2103120"/>
            <a:ext cx="3767328" cy="256032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2937"/>
                </a:solidFill>
                <a:latin typeface="Calibri"/>
              </a:rPr>
              <a:t>2  Does it name the sub-population?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3" y="2359152"/>
            <a:ext cx="3767328" cy="47548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High in one sub-type inside a cell type, low in its sibling sub-types.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6783" y="2907791"/>
            <a:ext cx="3767328" cy="256032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2937"/>
                </a:solidFill>
                <a:latin typeface="Calibri"/>
              </a:rPr>
              <a:t>3  Can the instrument read it?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3" y="3163824"/>
            <a:ext cx="3767328" cy="47548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Present in enough cells to make a map. Empty maps (e.g. Sstr4 at 1%) are out.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86783" y="3712463"/>
            <a:ext cx="3767328" cy="256032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2937"/>
                </a:solidFill>
                <a:latin typeface="Calibri"/>
              </a:rPr>
              <a:t>4  Does it report morphine or circadian state?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6783" y="3968496"/>
            <a:ext cx="3767328" cy="47548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Jesse 5-day morphine DEGs in ORBm, plus the clock limbs those DEGs need to be readable.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8496" y="5093208"/>
            <a:ext cx="3803904" cy="84124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C44536"/>
                </a:solidFill>
                <a:latin typeface="Calibri"/>
              </a:rPr>
              <a:t>What failed a rule was dropped, with its number: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C44536"/>
                </a:solidFill>
                <a:latin typeface="Calibri"/>
              </a:rPr>
              <a:t>empty maps  ·  no contrast (Clock, Syt1)  ·  duplicate of a gene already kept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73568" y="3337560"/>
            <a:ext cx="329184" cy="237744"/>
          </a:xfrm>
          <a:prstGeom prst="rightArrow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57616" y="822960"/>
            <a:ext cx="3529584" cy="523036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2540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6" y="896112"/>
            <a:ext cx="3346703" cy="365760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6B7C6A"/>
                </a:solidFill>
                <a:latin typeface="Calibri"/>
              </a:rPr>
              <a:t>Final panel  —  259 genes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22208" y="1399032"/>
            <a:ext cx="146304" cy="146304"/>
          </a:xfrm>
          <a:prstGeom prst="roundRect">
            <a:avLst>
              <a:gd name="adj" fmla="val 2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41664" y="1325880"/>
            <a:ext cx="233172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Cell identity and brain region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1325880"/>
            <a:ext cx="45720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r"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103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22208" y="1837944"/>
            <a:ext cx="146304" cy="146304"/>
          </a:xfrm>
          <a:prstGeom prst="roundRect">
            <a:avLst>
              <a:gd name="adj" fmla="val 2000"/>
            </a:avLst>
          </a:prstGeom>
          <a:solidFill>
            <a:srgbClr val="3C6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1664" y="1764792"/>
            <a:ext cx="233172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Sub-population markers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1764792"/>
            <a:ext cx="45720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r"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68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22208" y="2276856"/>
            <a:ext cx="146304" cy="146304"/>
          </a:xfrm>
          <a:prstGeom prst="roundRect">
            <a:avLst>
              <a:gd name="adj" fmla="val 2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41664" y="2203704"/>
            <a:ext cx="233172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Druggable receptor 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2203704"/>
            <a:ext cx="45720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r"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29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22208" y="2715768"/>
            <a:ext cx="146304" cy="146304"/>
          </a:xfrm>
          <a:prstGeom prst="roundRect">
            <a:avLst>
              <a:gd name="adj" fmla="val 2000"/>
            </a:avLst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41664" y="2642616"/>
            <a:ext cx="233172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Neural activity and plasticity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2642616"/>
            <a:ext cx="45720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r"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26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22208" y="3154680"/>
            <a:ext cx="146304" cy="146304"/>
          </a:xfrm>
          <a:prstGeom prst="roundRect">
            <a:avLst>
              <a:gd name="adj" fmla="val 2000"/>
            </a:avLst>
          </a:prstGeom>
          <a:solidFill>
            <a:srgbClr val="7A8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1664" y="3081528"/>
            <a:ext cx="233172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Identity transcription factors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3081528"/>
            <a:ext cx="45720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r"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13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22208" y="3593592"/>
            <a:ext cx="146304" cy="146304"/>
          </a:xfrm>
          <a:prstGeom prst="roundRect">
            <a:avLst>
              <a:gd name="adj" fmla="val 2000"/>
            </a:avLst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41664" y="3520440"/>
            <a:ext cx="233172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Morphine-dependence state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3520440"/>
            <a:ext cx="45720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r"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22208" y="4032504"/>
            <a:ext cx="146304" cy="146304"/>
          </a:xfrm>
          <a:prstGeom prst="roundRect">
            <a:avLst>
              <a:gd name="adj" fmla="val 2000"/>
            </a:avLst>
          </a:prstGeom>
          <a:solidFill>
            <a:srgbClr val="8C7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4" y="3959352"/>
            <a:ext cx="233172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Circadian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3959352"/>
            <a:ext cx="45720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r"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14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22208" y="4471416"/>
            <a:ext cx="146304" cy="146304"/>
          </a:xfrm>
          <a:prstGeom prst="roundRect">
            <a:avLst>
              <a:gd name="adj" fmla="val 2000"/>
            </a:avLst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41664" y="4398264"/>
            <a:ext cx="233172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Genetic-tag reporters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4398264"/>
            <a:ext cx="457200" cy="31089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r">
              <a:spcAft>
                <a:spcPts val="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67344" y="5276088"/>
            <a:ext cx="3310128" cy="65836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6B7C6A"/>
                </a:solidFill>
                <a:latin typeface="Calibri"/>
              </a:rPr>
              <a:t>All 20 target cell types are named.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B7C6A"/>
                </a:solidFill>
                <a:latin typeface="Calibri"/>
              </a:rPr>
              <a:t>86 of 86 sub-populations have a marker on this panel.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" y="6565392"/>
            <a:ext cx="11521440" cy="21945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click any box to edit  |  259 genes, 20/20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365760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What each part of that figure is saying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29260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The figure is a filter, not a collage. Every gene, from any source, goes through the middle.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96112"/>
            <a:ext cx="56692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96112"/>
            <a:ext cx="109728" cy="155448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87552"/>
            <a:ext cx="5257800" cy="329184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D4E89"/>
                </a:solidFill>
                <a:latin typeface="Calibri"/>
              </a:rPr>
              <a:t>LEFT  ·  Allen atlas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16736"/>
            <a:ext cx="5257800" cy="102412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The measuring stick. 226,886 cells from these two regions. A gene is kept as a cell-type marker only if it is high in one of the 20 types and low in the others. Whole-brain averages are not used.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896112"/>
            <a:ext cx="56692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896112"/>
            <a:ext cx="109728" cy="1554480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987552"/>
            <a:ext cx="5257800" cy="329184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44536"/>
                </a:solidFill>
                <a:latin typeface="Calibri"/>
              </a:rPr>
              <a:t>LEFT  ·  Collaborator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316736"/>
            <a:ext cx="5257800" cy="102412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Jesse: which genes change after 5-day morphine in orbitofrontal cortex. Dan: which genes were used as amygdala spatial markers. These are proposals. They still have to pass the middle.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587752"/>
            <a:ext cx="56692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587752"/>
            <a:ext cx="109728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679192"/>
            <a:ext cx="5257800" cy="329184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6F97"/>
                </a:solidFill>
                <a:latin typeface="Calibri"/>
              </a:rPr>
              <a:t>LEFT  ·  Literature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008376"/>
            <a:ext cx="5257800" cy="102412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Published marker names (Vip, Pvalb, Syt6, …) and circadian genes. Each one is re-tested in Allen for these two regions. A paper name is not enough.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587752"/>
            <a:ext cx="56692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587752"/>
            <a:ext cx="109728" cy="155448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679192"/>
            <a:ext cx="5257800" cy="329184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D4E89"/>
                </a:solidFill>
                <a:latin typeface="Calibri"/>
              </a:rPr>
              <a:t>MIDDLE  ·  four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008376"/>
            <a:ext cx="5257800" cy="102412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1 Names a cell type.  2 Names a sub-type inside it.  3 Is on enough cells for Xenium to see.  4 Reports morphine or circadian state from Jesse. Fail any test that matches the gene's job → 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279392"/>
            <a:ext cx="56692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279392"/>
            <a:ext cx="109728" cy="1554480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370831"/>
            <a:ext cx="5257800" cy="329184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44536"/>
                </a:solidFill>
                <a:latin typeface="Calibri"/>
              </a:rPr>
              <a:t>MIDDLE  ·  red line at the bottom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700016"/>
            <a:ext cx="5257800" cy="102412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Genes that were proposed and then dropped, with the reason: too rare to map, on in every cell (no contrast), or already covered by a gene on the list.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79392"/>
            <a:ext cx="56692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279392"/>
            <a:ext cx="109728" cy="1554480"/>
          </a:xfrm>
          <a:prstGeom prst="rect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4370831"/>
            <a:ext cx="5257800" cy="329184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B7C6A"/>
                </a:solidFill>
                <a:latin typeface="Calibri"/>
              </a:rPr>
              <a:t>RIGHT  ·  the 259 genes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700016"/>
            <a:ext cx="5257800" cy="1024128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What survived, grouped by job. Identity genes tell which of the 20 types the cell is. Receptors, IEGs, circadian, morphine, and tdTomato/iCre are the extra layers on top of identity.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 anchor="t" lIns="36576" rIns="36576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The screenshot you sent was a 297-gene draft of the same figure. This deck is the current 259-gene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