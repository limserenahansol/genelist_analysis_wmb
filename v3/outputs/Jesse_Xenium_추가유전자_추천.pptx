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D4E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1645920"/>
            <a:ext cx="10972800" cy="11887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400" b="1">
                <a:solidFill>
                  <a:srgbClr val="1D4E89"/>
                </a:solidFill>
                <a:latin typeface="Malgun Gothic"/>
                <a:ea typeface="Malgun Gothic"/>
              </a:rPr>
              <a:t>Jesse 데이터가 가리키는 유전자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2926080"/>
            <a:ext cx="109728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0">
                <a:solidFill>
                  <a:srgbClr val="2C2C2C"/>
                </a:solidFill>
                <a:latin typeface="Malgun Gothic"/>
                <a:ea typeface="Malgun Gothic"/>
              </a:rPr>
              <a:t>PL–ILA–ORB 5일 모르핀 의존 DEG + ORB 농축 GPCR</a:t>
            </a:r>
          </a:p>
          <a:p>
            <a:r>
              <a:rPr sz="1600" b="0">
                <a:solidFill>
                  <a:srgbClr val="6B6B6B"/>
                </a:solidFill>
                <a:latin typeface="Malgun Gothic"/>
                <a:ea typeface="Malgun Gothic"/>
              </a:rPr>
              <a:t>세포 타입 마커가 아니라, 이미 타입된 ORBm 세포가 모르핀 의존처럼 보이는가.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4937760"/>
            <a:ext cx="109728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0">
                <a:solidFill>
                  <a:srgbClr val="6B6B6B"/>
                </a:solidFill>
                <a:latin typeface="Malgun Gothic"/>
                <a:ea typeface="Malgun Gothic"/>
              </a:rPr>
              <a:t>Hansol Lim  |  Schnitzer + Scherrer  |  Xenium ORBm/BMAp add-on  |  2026-09-09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565392"/>
            <a:ext cx="1124712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0">
                <a:solidFill>
                  <a:srgbClr val="6B6B6B"/>
                </a:solidFill>
                <a:latin typeface="Malgun Gothic"/>
                <a:ea typeface="Malgun Gothic"/>
              </a:rPr>
              <a:t>Jesse Niehaus PL-ILA-ORB 모르핀 DEG  |  Xenium 추가 추천  |  1/16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D4E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37744"/>
            <a:ext cx="112471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1D4E89"/>
                </a:solidFill>
                <a:latin typeface="Malgun Gothic"/>
                <a:ea typeface="Malgun Gothic"/>
              </a:rPr>
              <a:t>한 장 결론 — 무엇을 넣을 것인가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76656"/>
            <a:ext cx="1124712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0">
                <a:solidFill>
                  <a:srgbClr val="6B6B6B"/>
                </a:solidFill>
                <a:latin typeface="Malgun Gothic"/>
                <a:ea typeface="Malgun Gothic"/>
              </a:rPr>
              <a:t>Jesse가 찾은 가장 중요한 새 유전자는 Per2 이다. 추천은 프로그램 단위로 한다.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11480" y="1143000"/>
            <a:ext cx="3703320" cy="4937760"/>
          </a:xfrm>
          <a:prstGeom prst="roundRect">
            <a:avLst/>
          </a:prstGeom>
          <a:solidFill>
            <a:srgbClr val="FFFFFF"/>
          </a:solidFill>
          <a:ln>
            <a:solidFill>
              <a:srgbClr val="B0896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11480" y="1143000"/>
            <a:ext cx="3703320" cy="384048"/>
          </a:xfrm>
          <a:prstGeom prst="rect">
            <a:avLst/>
          </a:prstGeom>
          <a:solidFill>
            <a:srgbClr val="B089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21208" y="1197864"/>
            <a:ext cx="3520439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>
                <a:solidFill>
                  <a:srgbClr val="FFFFFF"/>
                </a:solidFill>
                <a:latin typeface="Malgun Gothic"/>
                <a:ea typeface="Malgun Gothic"/>
              </a:rPr>
              <a:t>1순위  반드시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39496" y="1618488"/>
            <a:ext cx="3447287" cy="437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>
                <a:solidFill>
                  <a:srgbClr val="2C2C2C"/>
                </a:solidFill>
                <a:latin typeface="Malgun Gothic"/>
                <a:ea typeface="Malgun Gothic"/>
              </a:rPr>
              <a:t>Rxfp1</a:t>
            </a:r>
          </a:p>
          <a:p>
            <a:r>
              <a:rPr sz="1300">
                <a:solidFill>
                  <a:srgbClr val="2C2C2C"/>
                </a:solidFill>
                <a:latin typeface="Malgun Gothic"/>
                <a:ea typeface="Malgun Gothic"/>
              </a:rPr>
              <a:t/>
            </a:r>
          </a:p>
          <a:p>
            <a:r>
              <a:rPr sz="1300">
                <a:solidFill>
                  <a:srgbClr val="2C2C2C"/>
                </a:solidFill>
                <a:latin typeface="Malgun Gothic"/>
                <a:ea typeface="Malgun Gothic"/>
              </a:rPr>
              <a:t>Jesse #1 ORB 농축 GPCR</a:t>
            </a:r>
          </a:p>
          <a:p>
            <a:r>
              <a:rPr sz="1300">
                <a:solidFill>
                  <a:srgbClr val="2C2C2C"/>
                </a:solidFill>
                <a:latin typeface="Malgun Gothic"/>
                <a:ea typeface="Malgun Gothic"/>
              </a:rPr>
              <a:t>(19개 서브클래스)</a:t>
            </a:r>
          </a:p>
          <a:p>
            <a:r>
              <a:rPr sz="1300">
                <a:solidFill>
                  <a:srgbClr val="2C2C2C"/>
                </a:solidFill>
                <a:latin typeface="Malgun Gothic"/>
                <a:ea typeface="Malgun Gothic"/>
              </a:rPr>
              <a:t/>
            </a:r>
          </a:p>
          <a:p>
            <a:r>
              <a:rPr sz="1300">
                <a:solidFill>
                  <a:srgbClr val="2C2C2C"/>
                </a:solidFill>
                <a:latin typeface="Malgun Gothic"/>
                <a:ea typeface="Malgun Gothic"/>
              </a:rPr>
              <a:t>Xenium Mouse Brain v1</a:t>
            </a:r>
          </a:p>
          <a:p>
            <a:r>
              <a:rPr sz="1300">
                <a:solidFill>
                  <a:srgbClr val="2C2C2C"/>
                </a:solidFill>
                <a:latin typeface="Malgun Gothic"/>
                <a:ea typeface="Malgun Gothic"/>
              </a:rPr>
              <a:t>베이스에 이미 있음</a:t>
            </a:r>
          </a:p>
          <a:p>
            <a:r>
              <a:rPr sz="1300">
                <a:solidFill>
                  <a:srgbClr val="2C2C2C"/>
                </a:solidFill>
                <a:latin typeface="Malgun Gothic"/>
                <a:ea typeface="Malgun Gothic"/>
              </a:rPr>
              <a:t>→ 슬롯 0</a:t>
            </a:r>
          </a:p>
          <a:p>
            <a:r>
              <a:rPr sz="1300">
                <a:solidFill>
                  <a:srgbClr val="2C2C2C"/>
                </a:solidFill>
                <a:latin typeface="Malgun Gothic"/>
                <a:ea typeface="Malgun Gothic"/>
              </a:rPr>
              <a:t/>
            </a:r>
          </a:p>
          <a:p>
            <a:r>
              <a:rPr sz="1300">
                <a:solidFill>
                  <a:srgbClr val="2C2C2C"/>
                </a:solidFill>
                <a:latin typeface="Malgun Gothic"/>
                <a:ea typeface="Malgun Gothic"/>
              </a:rPr>
              <a:t>Allen ORBm에서 확인</a:t>
            </a:r>
          </a:p>
          <a:p>
            <a:r>
              <a:rPr sz="1300">
                <a:solidFill>
                  <a:srgbClr val="2C2C2C"/>
                </a:solidFill>
                <a:latin typeface="Malgun Gothic"/>
                <a:ea typeface="Malgun Gothic"/>
              </a:rPr>
              <a:t>(L5 ET 34%, 11/12 앵커)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251960" y="1143000"/>
            <a:ext cx="3703320" cy="4937760"/>
          </a:xfrm>
          <a:prstGeom prst="roundRect">
            <a:avLst/>
          </a:prstGeom>
          <a:solidFill>
            <a:srgbClr val="FFFFFF"/>
          </a:solidFill>
          <a:ln>
            <a:solidFill>
              <a:srgbClr val="C445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251960" y="1143000"/>
            <a:ext cx="3703320" cy="384048"/>
          </a:xfrm>
          <a:prstGeom prst="rect">
            <a:avLst/>
          </a:prstGeom>
          <a:solidFill>
            <a:srgbClr val="C445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361688" y="1197864"/>
            <a:ext cx="3520439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>
                <a:solidFill>
                  <a:srgbClr val="FFFFFF"/>
                </a:solidFill>
                <a:latin typeface="Malgun Gothic"/>
                <a:ea typeface="Malgun Gothic"/>
              </a:rPr>
              <a:t>2순위  강력 추천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379976" y="1618488"/>
            <a:ext cx="3447287" cy="437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>
                <a:solidFill>
                  <a:srgbClr val="2C2C2C"/>
                </a:solidFill>
                <a:latin typeface="Malgun Gothic"/>
                <a:ea typeface="Malgun Gothic"/>
              </a:rPr>
              <a:t>Per2   Pcsk1   Per1</a:t>
            </a:r>
          </a:p>
          <a:p>
            <a:r>
              <a:rPr sz="1300">
                <a:solidFill>
                  <a:srgbClr val="2C2C2C"/>
                </a:solidFill>
                <a:latin typeface="Malgun Gothic"/>
                <a:ea typeface="Malgun Gothic"/>
              </a:rPr>
              <a:t/>
            </a:r>
          </a:p>
          <a:p>
            <a:r>
              <a:rPr sz="1300">
                <a:solidFill>
                  <a:srgbClr val="2C2C2C"/>
                </a:solidFill>
                <a:latin typeface="Malgun Gothic"/>
                <a:ea typeface="Malgun Gothic"/>
              </a:rPr>
              <a:t>Jesse가 발견한</a:t>
            </a:r>
          </a:p>
          <a:p>
            <a:r>
              <a:rPr sz="1300">
                <a:solidFill>
                  <a:srgbClr val="2C2C2C"/>
                </a:solidFill>
                <a:latin typeface="Malgun Gothic"/>
                <a:ea typeface="Malgun Gothic"/>
              </a:rPr>
              <a:t>모르핀 의존의 새 축.</a:t>
            </a:r>
          </a:p>
          <a:p>
            <a:r>
              <a:rPr sz="1300">
                <a:solidFill>
                  <a:srgbClr val="2C2C2C"/>
                </a:solidFill>
                <a:latin typeface="Malgun Gothic"/>
                <a:ea typeface="Malgun Gothic"/>
              </a:rPr>
              <a:t/>
            </a:r>
          </a:p>
          <a:p>
            <a:r>
              <a:rPr sz="1300">
                <a:solidFill>
                  <a:srgbClr val="2C2C2C"/>
                </a:solidFill>
                <a:latin typeface="Malgun Gothic"/>
                <a:ea typeface="Malgun Gothic"/>
              </a:rPr>
              <a:t>Per2 = 가장 넓은 IEG</a:t>
            </a:r>
          </a:p>
          <a:p>
            <a:r>
              <a:rPr sz="1300">
                <a:solidFill>
                  <a:srgbClr val="2C2C2C"/>
                </a:solidFill>
                <a:latin typeface="Malgun Gothic"/>
                <a:ea typeface="Malgun Gothic"/>
              </a:rPr>
              <a:t>(13 클러스터, ORBm 11)</a:t>
            </a:r>
          </a:p>
          <a:p>
            <a:r>
              <a:rPr sz="1300">
                <a:solidFill>
                  <a:srgbClr val="2C2C2C"/>
                </a:solidFill>
                <a:latin typeface="Malgun Gothic"/>
                <a:ea typeface="Malgun Gothic"/>
              </a:rPr>
              <a:t>Fos/Arc보다 넓다.</a:t>
            </a:r>
          </a:p>
          <a:p>
            <a:r>
              <a:rPr sz="1300">
                <a:solidFill>
                  <a:srgbClr val="2C2C2C"/>
                </a:solidFill>
                <a:latin typeface="Malgun Gothic"/>
                <a:ea typeface="Malgun Gothic"/>
              </a:rPr>
              <a:t/>
            </a:r>
          </a:p>
          <a:p>
            <a:r>
              <a:rPr sz="1300">
                <a:solidFill>
                  <a:srgbClr val="2C2C2C"/>
                </a:solidFill>
                <a:latin typeface="Malgun Gothic"/>
                <a:ea typeface="Malgun Gothic"/>
              </a:rPr>
              <a:t>슬롯 3</a:t>
            </a:r>
          </a:p>
          <a:p>
            <a:r>
              <a:rPr sz="1300">
                <a:solidFill>
                  <a:srgbClr val="2C2C2C"/>
                </a:solidFill>
                <a:latin typeface="Malgun Gothic"/>
                <a:ea typeface="Malgun Gothic"/>
              </a:rPr>
              <a:t>이게 핵심 패키지.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092440" y="1143000"/>
            <a:ext cx="3703320" cy="4937760"/>
          </a:xfrm>
          <a:prstGeom prst="roundRect">
            <a:avLst/>
          </a:prstGeom>
          <a:solidFill>
            <a:srgbClr val="FFFFFF"/>
          </a:solidFill>
          <a:ln>
            <a:solidFill>
              <a:srgbClr val="2A6F9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8092440" y="1143000"/>
            <a:ext cx="3703320" cy="384048"/>
          </a:xfrm>
          <a:prstGeom prst="rect">
            <a:avLst/>
          </a:prstGeom>
          <a:solidFill>
            <a:srgbClr val="2A6F9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02167" y="1197864"/>
            <a:ext cx="3520439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>
                <a:solidFill>
                  <a:srgbClr val="FFFFFF"/>
                </a:solidFill>
                <a:latin typeface="Malgun Gothic"/>
                <a:ea typeface="Malgun Gothic"/>
              </a:rPr>
              <a:t>3순위  여유 있으면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20456" y="1618488"/>
            <a:ext cx="3447287" cy="437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>
                <a:solidFill>
                  <a:srgbClr val="2C2C2C"/>
                </a:solidFill>
                <a:latin typeface="Malgun Gothic"/>
                <a:ea typeface="Malgun Gothic"/>
              </a:rPr>
              <a:t>Egr3   Dusp1   Nr4a3</a:t>
            </a:r>
          </a:p>
          <a:p>
            <a:r>
              <a:rPr sz="1300">
                <a:solidFill>
                  <a:srgbClr val="2C2C2C"/>
                </a:solidFill>
                <a:latin typeface="Malgun Gothic"/>
                <a:ea typeface="Malgun Gothic"/>
              </a:rPr>
              <a:t/>
            </a:r>
          </a:p>
          <a:p>
            <a:r>
              <a:rPr sz="1300">
                <a:solidFill>
                  <a:srgbClr val="2C2C2C"/>
                </a:solidFill>
                <a:latin typeface="Malgun Gothic"/>
                <a:ea typeface="Malgun Gothic"/>
              </a:rPr>
              <a:t>Jesse DEG + 우리 Allen에서</a:t>
            </a:r>
          </a:p>
          <a:p>
            <a:r>
              <a:rPr sz="1300">
                <a:solidFill>
                  <a:srgbClr val="2C2C2C"/>
                </a:solidFill>
                <a:latin typeface="Malgun Gothic"/>
                <a:ea typeface="Malgun Gothic"/>
              </a:rPr>
              <a:t>이미 풍부함이 확인됨.</a:t>
            </a:r>
          </a:p>
          <a:p>
            <a:r>
              <a:rPr sz="1300">
                <a:solidFill>
                  <a:srgbClr val="2C2C2C"/>
                </a:solidFill>
                <a:latin typeface="Malgun Gothic"/>
                <a:ea typeface="Malgun Gothic"/>
              </a:rPr>
              <a:t/>
            </a:r>
          </a:p>
          <a:p>
            <a:r>
              <a:rPr sz="1300">
                <a:solidFill>
                  <a:srgbClr val="2C2C2C"/>
                </a:solidFill>
                <a:latin typeface="Malgun Gothic"/>
                <a:ea typeface="Malgun Gothic"/>
              </a:rPr>
              <a:t>Egr3  97%</a:t>
            </a:r>
          </a:p>
          <a:p>
            <a:r>
              <a:rPr sz="1300">
                <a:solidFill>
                  <a:srgbClr val="2C2C2C"/>
                </a:solidFill>
                <a:latin typeface="Malgun Gothic"/>
                <a:ea typeface="Malgun Gothic"/>
              </a:rPr>
              <a:t>Dusp1 54%</a:t>
            </a:r>
          </a:p>
          <a:p>
            <a:r>
              <a:rPr sz="1300">
                <a:solidFill>
                  <a:srgbClr val="2C2C2C"/>
                </a:solidFill>
                <a:latin typeface="Malgun Gothic"/>
                <a:ea typeface="Malgun Gothic"/>
              </a:rPr>
              <a:t>Nr4a3 63%</a:t>
            </a:r>
          </a:p>
          <a:p>
            <a:r>
              <a:rPr sz="1300">
                <a:solidFill>
                  <a:srgbClr val="2C2C2C"/>
                </a:solidFill>
                <a:latin typeface="Malgun Gothic"/>
                <a:ea typeface="Malgun Gothic"/>
              </a:rPr>
              <a:t/>
            </a:r>
          </a:p>
          <a:p>
            <a:r>
              <a:rPr sz="1300">
                <a:solidFill>
                  <a:srgbClr val="2C2C2C"/>
                </a:solidFill>
                <a:latin typeface="Malgun Gothic"/>
                <a:ea typeface="Malgun Gothic"/>
              </a:rPr>
              <a:t>슬롯 +3</a:t>
            </a:r>
          </a:p>
          <a:p>
            <a:r>
              <a:rPr sz="1300">
                <a:solidFill>
                  <a:srgbClr val="2C2C2C"/>
                </a:solidFill>
                <a:latin typeface="Malgun Gothic"/>
                <a:ea typeface="Malgun Gothic"/>
              </a:rPr>
              <a:t>Xenium에서 잘 잡힘.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" y="6565392"/>
            <a:ext cx="1124712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0">
                <a:solidFill>
                  <a:srgbClr val="6B6B6B"/>
                </a:solidFill>
                <a:latin typeface="Malgun Gothic"/>
                <a:ea typeface="Malgun Gothic"/>
              </a:rPr>
              <a:t>Jesse Niehaus PL-ILA-ORB 모르핀 DEG  |  Xenium 추가 추천  |  2/16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D4E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37744"/>
            <a:ext cx="112471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1D4E89"/>
                </a:solidFill>
                <a:latin typeface="Malgun Gothic"/>
                <a:ea typeface="Malgun Gothic"/>
              </a:rPr>
              <a:t>Jesse가 측정한 것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76656"/>
            <a:ext cx="1124712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0">
                <a:solidFill>
                  <a:srgbClr val="6B6B6B"/>
                </a:solidFill>
                <a:latin typeface="Malgun Gothic"/>
                <a:ea typeface="Malgun Gothic"/>
              </a:rPr>
              <a:t>5일 escalating morphine  |  DESeq2 서브클래스 pseudobulk  |  padj ≤ 0.1  |  PL–ILA–ORB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11480" y="1143000"/>
            <a:ext cx="5623560" cy="4937760"/>
          </a:xfrm>
          <a:prstGeom prst="roundRect">
            <a:avLst/>
          </a:prstGeom>
          <a:solidFill>
            <a:srgbClr val="FFFFFF"/>
          </a:solidFill>
          <a:ln>
            <a:solidFill>
              <a:srgbClr val="1D4E8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11480" y="1143000"/>
            <a:ext cx="5623560" cy="384048"/>
          </a:xfrm>
          <a:prstGeom prst="rect">
            <a:avLst/>
          </a:prstGeom>
          <a:solidFill>
            <a:srgbClr val="1D4E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21208" y="1197864"/>
            <a:ext cx="54406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>
                <a:solidFill>
                  <a:srgbClr val="FFFFFF"/>
                </a:solidFill>
                <a:latin typeface="Malgun Gothic"/>
                <a:ea typeface="Malgun Gothic"/>
              </a:rPr>
              <a:t>모르핀이 바꾼 유전자 (DEG)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39496" y="1618488"/>
            <a:ext cx="5367528" cy="437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>
                <a:solidFill>
                  <a:srgbClr val="2C2C2C"/>
                </a:solidFill>
                <a:latin typeface="Malgun Gothic"/>
                <a:ea typeface="Malgun Gothic"/>
              </a:rPr>
              <a:t>IEG / 활성          77개</a:t>
            </a:r>
          </a:p>
          <a:p>
            <a:r>
              <a:rPr sz="1300">
                <a:solidFill>
                  <a:srgbClr val="2C2C2C"/>
                </a:solidFill>
                <a:latin typeface="Malgun Gothic"/>
                <a:ea typeface="Malgun Gothic"/>
              </a:rPr>
              <a:t>전사인자 TF         179개</a:t>
            </a:r>
          </a:p>
          <a:p>
            <a:r>
              <a:rPr sz="1300">
                <a:solidFill>
                  <a:srgbClr val="2C2C2C"/>
                </a:solidFill>
                <a:latin typeface="Malgun Gothic"/>
                <a:ea typeface="Malgun Gothic"/>
              </a:rPr>
              <a:t>시냅스 가소성        45개</a:t>
            </a:r>
          </a:p>
          <a:p>
            <a:r>
              <a:rPr sz="1300">
                <a:solidFill>
                  <a:srgbClr val="2C2C2C"/>
                </a:solidFill>
                <a:latin typeface="Malgun Gothic"/>
                <a:ea typeface="Malgun Gothic"/>
              </a:rPr>
              <a:t>GPCR DEG             34개</a:t>
            </a:r>
          </a:p>
          <a:p>
            <a:r>
              <a:rPr sz="1300">
                <a:solidFill>
                  <a:srgbClr val="2C2C2C"/>
                </a:solidFill>
                <a:latin typeface="Malgun Gothic"/>
                <a:ea typeface="Malgun Gothic"/>
              </a:rPr>
              <a:t/>
            </a:r>
          </a:p>
          <a:p>
            <a:r>
              <a:rPr sz="1300">
                <a:solidFill>
                  <a:srgbClr val="2C2C2C"/>
                </a:solidFill>
                <a:latin typeface="Malgun Gothic"/>
                <a:ea typeface="Malgun Gothic"/>
              </a:rPr>
              <a:t>질문: 의존 후 어떤 유전자가</a:t>
            </a:r>
          </a:p>
          <a:p>
            <a:r>
              <a:rPr sz="1300">
                <a:solidFill>
                  <a:srgbClr val="2C2C2C"/>
                </a:solidFill>
                <a:latin typeface="Malgun Gothic"/>
                <a:ea typeface="Malgun Gothic"/>
              </a:rPr>
              <a:t>ORB 세포에서 켜지거나 꺼지나?</a:t>
            </a:r>
          </a:p>
          <a:p>
            <a:r>
              <a:rPr sz="1300">
                <a:solidFill>
                  <a:srgbClr val="2C2C2C"/>
                </a:solidFill>
                <a:latin typeface="Malgun Gothic"/>
                <a:ea typeface="Malgun Gothic"/>
              </a:rPr>
              <a:t/>
            </a:r>
          </a:p>
          <a:p>
            <a:r>
              <a:rPr sz="1300">
                <a:solidFill>
                  <a:srgbClr val="2C2C2C"/>
                </a:solidFill>
                <a:latin typeface="Malgun Gothic"/>
                <a:ea typeface="Malgun Gothic"/>
              </a:rPr>
              <a:t>대부분 Up, 흥분성 피질 세포</a:t>
            </a:r>
          </a:p>
          <a:p>
            <a:r>
              <a:rPr sz="1300">
                <a:solidFill>
                  <a:srgbClr val="2C2C2C"/>
                </a:solidFill>
                <a:latin typeface="Malgun Gothic"/>
                <a:ea typeface="Malgun Gothic"/>
              </a:rPr>
              <a:t>(L6 IT, L6 CT, L4/5 IT, L5 ET).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143000"/>
            <a:ext cx="5532120" cy="4937760"/>
          </a:xfrm>
          <a:prstGeom prst="roundRect">
            <a:avLst/>
          </a:prstGeom>
          <a:solidFill>
            <a:srgbClr val="FFFFFF"/>
          </a:solidFill>
          <a:ln>
            <a:solidFill>
              <a:srgbClr val="2A6F9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217920" y="1143000"/>
            <a:ext cx="5532120" cy="384048"/>
          </a:xfrm>
          <a:prstGeom prst="rect">
            <a:avLst/>
          </a:prstGeom>
          <a:solidFill>
            <a:srgbClr val="2A6F9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327648" y="1197864"/>
            <a:ext cx="534924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>
                <a:solidFill>
                  <a:srgbClr val="FFFFFF"/>
                </a:solidFill>
                <a:latin typeface="Malgun Gothic"/>
                <a:ea typeface="Malgun Gothic"/>
              </a:rPr>
              <a:t>ORB에 원래 많은 GPCR (농축)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345936" y="1618488"/>
            <a:ext cx="5276088" cy="437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>
                <a:solidFill>
                  <a:srgbClr val="2C2C2C"/>
                </a:solidFill>
                <a:latin typeface="Malgun Gothic"/>
                <a:ea typeface="Malgun Gothic"/>
              </a:rPr>
              <a:t>흥분성 127개 중 상위</a:t>
            </a:r>
          </a:p>
          <a:p>
            <a:r>
              <a:rPr sz="1300">
                <a:solidFill>
                  <a:srgbClr val="2C2C2C"/>
                </a:solidFill>
                <a:latin typeface="Malgun Gothic"/>
                <a:ea typeface="Malgun Gothic"/>
              </a:rPr>
              <a:t>억제성 리스트 별도</a:t>
            </a:r>
          </a:p>
          <a:p>
            <a:r>
              <a:rPr sz="1300">
                <a:solidFill>
                  <a:srgbClr val="2C2C2C"/>
                </a:solidFill>
                <a:latin typeface="Malgun Gothic"/>
                <a:ea typeface="Malgun Gothic"/>
              </a:rPr>
              <a:t/>
            </a:r>
          </a:p>
          <a:p>
            <a:r>
              <a:rPr sz="1300">
                <a:solidFill>
                  <a:srgbClr val="2C2C2C"/>
                </a:solidFill>
                <a:latin typeface="Malgun Gothic"/>
                <a:ea typeface="Malgun Gothic"/>
              </a:rPr>
              <a:t>Allen 4백만 세포 대비</a:t>
            </a:r>
          </a:p>
          <a:p>
            <a:r>
              <a:rPr sz="1300">
                <a:solidFill>
                  <a:srgbClr val="2C2C2C"/>
                </a:solidFill>
                <a:latin typeface="Malgun Gothic"/>
                <a:ea typeface="Malgun Gothic"/>
              </a:rPr>
              <a:t>Fisher, FDR 0.05, ≥5% 세포</a:t>
            </a:r>
          </a:p>
          <a:p>
            <a:r>
              <a:rPr sz="1300">
                <a:solidFill>
                  <a:srgbClr val="2C2C2C"/>
                </a:solidFill>
                <a:latin typeface="Malgun Gothic"/>
                <a:ea typeface="Malgun Gothic"/>
              </a:rPr>
              <a:t/>
            </a:r>
          </a:p>
          <a:p>
            <a:r>
              <a:rPr sz="1300">
                <a:solidFill>
                  <a:srgbClr val="2C2C2C"/>
                </a:solidFill>
                <a:latin typeface="Malgun Gothic"/>
                <a:ea typeface="Malgun Gothic"/>
              </a:rPr>
              <a:t>질문: 이 세포가 ORB에</a:t>
            </a:r>
          </a:p>
          <a:p>
            <a:r>
              <a:rPr sz="1300">
                <a:solidFill>
                  <a:srgbClr val="2C2C2C"/>
                </a:solidFill>
                <a:latin typeface="Malgun Gothic"/>
                <a:ea typeface="Malgun Gothic"/>
              </a:rPr>
              <a:t>사는 세포인가?</a:t>
            </a:r>
          </a:p>
          <a:p>
            <a:r>
              <a:rPr sz="1300">
                <a:solidFill>
                  <a:srgbClr val="2C2C2C"/>
                </a:solidFill>
                <a:latin typeface="Malgun Gothic"/>
                <a:ea typeface="Malgun Gothic"/>
              </a:rPr>
              <a:t/>
            </a:r>
          </a:p>
          <a:p>
            <a:r>
              <a:rPr sz="1300">
                <a:solidFill>
                  <a:srgbClr val="2C2C2C"/>
                </a:solidFill>
                <a:latin typeface="Malgun Gothic"/>
                <a:ea typeface="Malgun Gothic"/>
              </a:rPr>
              <a:t>모르핀이 바꿨다는 뜻이 아님.</a:t>
            </a:r>
          </a:p>
          <a:p>
            <a:r>
              <a:rPr sz="1300">
                <a:solidFill>
                  <a:srgbClr val="2C2C2C"/>
                </a:solidFill>
                <a:latin typeface="Malgun Gothic"/>
                <a:ea typeface="Malgun Gothic"/>
              </a:rPr>
              <a:t>해부학적 주소이다.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6565392"/>
            <a:ext cx="1124712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0">
                <a:solidFill>
                  <a:srgbClr val="6B6B6B"/>
                </a:solidFill>
                <a:latin typeface="Malgun Gothic"/>
                <a:ea typeface="Malgun Gothic"/>
              </a:rPr>
              <a:t>Jesse Niehaus PL-ILA-ORB 모르핀 DEG  |  Xenium 추가 추천  |  3/16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C445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37744"/>
            <a:ext cx="112471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1D4E89"/>
                </a:solidFill>
                <a:latin typeface="Malgun Gothic"/>
                <a:ea typeface="Malgun Gothic"/>
              </a:rPr>
              <a:t>Jesse가 찾은 가장 중요한 유전자는 Per2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76656"/>
            <a:ext cx="1124712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0">
                <a:solidFill>
                  <a:srgbClr val="6B6B6B"/>
                </a:solidFill>
                <a:latin typeface="Malgun Gothic"/>
                <a:ea typeface="Malgun Gothic"/>
              </a:rPr>
              <a:t>급성 활성 IEG(Fos/Arc)는 이미 있다. Jesse의 새로운 핵심은 지연형 · 일주기 프로그램이다.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143000"/>
            <a:ext cx="1115568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700">
                <a:solidFill>
                  <a:srgbClr val="2C2C2C"/>
                </a:solidFill>
                <a:latin typeface="Malgun Gothic"/>
                <a:ea typeface="Malgun Gothic"/>
              </a:rPr>
              <a:t>•  Per2: 13개 서브클래스에서 Up. 우리 ORBm 앵커만 세면 11개. Fos·Arc(각 10개)보다 넓다.</a:t>
            </a:r>
          </a:p>
          <a:p>
            <a:pPr>
              <a:spcAft>
                <a:spcPts val="800"/>
              </a:spcAft>
            </a:pPr>
            <a:r>
              <a:rPr sz="1700">
                <a:solidFill>
                  <a:srgbClr val="2C2C2C"/>
                </a:solidFill>
                <a:latin typeface="Malgun Gothic"/>
                <a:ea typeface="Malgun Gothic"/>
              </a:rPr>
              <a:t>•  같은 클러스터에 Vip / Pvalb / Sst 억제성까지 포함. 흥분성만의 신호가 아니다.</a:t>
            </a:r>
          </a:p>
          <a:p>
            <a:pPr>
              <a:spcAft>
                <a:spcPts val="800"/>
              </a:spcAft>
            </a:pPr>
            <a:r>
              <a:rPr sz="1700">
                <a:solidFill>
                  <a:srgbClr val="2C2C2C"/>
                </a:solidFill>
                <a:latin typeface="Malgun Gothic"/>
                <a:ea typeface="Malgun Gothic"/>
              </a:rPr>
              <a:t>•  Per2는 일주기·의존 시계 유전자. 마우스를 잡은 순간의 활성이 아니라, 수일간의 상태.</a:t>
            </a:r>
          </a:p>
          <a:p>
            <a:pPr>
              <a:spcAft>
                <a:spcPts val="800"/>
              </a:spcAft>
            </a:pPr>
            <a:r>
              <a:rPr sz="1700">
                <a:solidFill>
                  <a:srgbClr val="2C2C2C"/>
                </a:solidFill>
                <a:latin typeface="Malgun Gothic"/>
                <a:ea typeface="Malgun Gothic"/>
              </a:rPr>
              <a:t>•  우리 기존 패널의 Fos/Arc/Egr1/Junb/Nr4a1은 TRAP·급성 활성을 본다. Per2는 그걸 대체하지 않는다.</a:t>
            </a:r>
          </a:p>
          <a:p>
            <a:pPr>
              <a:spcAft>
                <a:spcPts val="800"/>
              </a:spcAft>
            </a:pPr>
            <a:r>
              <a:rPr sz="1700">
                <a:solidFill>
                  <a:srgbClr val="2C2C2C"/>
                </a:solidFill>
                <a:latin typeface="Malgun Gothic"/>
                <a:ea typeface="Malgun Gothic"/>
              </a:rPr>
              <a:t>•  그래서 가장 중요한 ‘새’ 유전자는 Per2 하나이고, 같이 가는 짝이 Pcsk1과 Per1이다.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565392"/>
            <a:ext cx="1124712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0">
                <a:solidFill>
                  <a:srgbClr val="6B6B6B"/>
                </a:solidFill>
                <a:latin typeface="Malgun Gothic"/>
                <a:ea typeface="Malgun Gothic"/>
              </a:rPr>
              <a:t>Jesse Niehaus PL-ILA-ORB 모르핀 DEG  |  Xenium 추가 추천  |  4/16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D4E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37744"/>
            <a:ext cx="112471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1D4E89"/>
                </a:solidFill>
                <a:latin typeface="Malgun Gothic"/>
                <a:ea typeface="Malgun Gothic"/>
              </a:rPr>
              <a:t>IEG 랭킹 — 이미 있는 것과 없는 것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76656"/>
            <a:ext cx="1124712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0">
                <a:solidFill>
                  <a:srgbClr val="6B6B6B"/>
                </a:solidFill>
                <a:latin typeface="Malgun Gothic"/>
                <a:ea typeface="Malgun Gothic"/>
              </a:rPr>
              <a:t>초록 = 우리 SHARED에 있음. 빨강 = 없음. Per2 / Pcsk1 / Per1 / Nr4a3 / Tiparp 가 비어 있다.</a:t>
            </a:r>
          </a:p>
        </p:txBody>
      </p:sp>
      <p:pic>
        <p:nvPicPr>
          <p:cNvPr id="5" name="Picture 4" descr="KR_Fig1_IEG_rankin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051560"/>
            <a:ext cx="10972800" cy="521208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6565392"/>
            <a:ext cx="1124712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0">
                <a:solidFill>
                  <a:srgbClr val="6B6B6B"/>
                </a:solidFill>
                <a:latin typeface="Malgun Gothic"/>
                <a:ea typeface="Malgun Gothic"/>
              </a:rPr>
              <a:t>Jesse Niehaus PL-ILA-ORB 모르핀 DEG  |  Xenium 추가 추천  |  5/16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C445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37744"/>
            <a:ext cx="112471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1D4E89"/>
                </a:solidFill>
                <a:latin typeface="Malgun Gothic"/>
                <a:ea typeface="Malgun Gothic"/>
              </a:rPr>
              <a:t>한 유전자가 아니라, Jesse의 모르핀 프로그램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76656"/>
            <a:ext cx="1124712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0">
                <a:solidFill>
                  <a:srgbClr val="6B6B6B"/>
                </a:solidFill>
                <a:latin typeface="Malgun Gothic"/>
                <a:ea typeface="Malgun Gothic"/>
              </a:rPr>
              <a:t>네 덩어리로 읽는 것이 맞다. 4개만 외우면 프로그램이 안 보인다.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65760" y="1143000"/>
            <a:ext cx="2788920" cy="4937760"/>
          </a:xfrm>
          <a:prstGeom prst="roundRect">
            <a:avLst/>
          </a:prstGeom>
          <a:solidFill>
            <a:srgbClr val="FFFFFF"/>
          </a:solidFill>
          <a:ln>
            <a:solidFill>
              <a:srgbClr val="6B7C6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65760" y="1143000"/>
            <a:ext cx="2788920" cy="384048"/>
          </a:xfrm>
          <a:prstGeom prst="rect">
            <a:avLst/>
          </a:prstGeom>
          <a:solidFill>
            <a:srgbClr val="6B7C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75488" y="1197864"/>
            <a:ext cx="2606039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>
                <a:solidFill>
                  <a:srgbClr val="FFFFFF"/>
                </a:solidFill>
                <a:latin typeface="Malgun Gothic"/>
                <a:ea typeface="Malgun Gothic"/>
              </a:rPr>
              <a:t>A. 이미 있음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93776" y="1618488"/>
            <a:ext cx="2532887" cy="437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>
                <a:solidFill>
                  <a:srgbClr val="2C2C2C"/>
                </a:solidFill>
                <a:latin typeface="Malgun Gothic"/>
                <a:ea typeface="Malgun Gothic"/>
              </a:rPr>
              <a:t>급성 TRAP / IEG</a:t>
            </a:r>
          </a:p>
          <a:p>
            <a:r>
              <a:rPr sz="1300">
                <a:solidFill>
                  <a:srgbClr val="2C2C2C"/>
                </a:solidFill>
                <a:latin typeface="Malgun Gothic"/>
                <a:ea typeface="Malgun Gothic"/>
              </a:rPr>
              <a:t/>
            </a:r>
          </a:p>
          <a:p>
            <a:r>
              <a:rPr sz="1300">
                <a:solidFill>
                  <a:srgbClr val="2C2C2C"/>
                </a:solidFill>
                <a:latin typeface="Malgun Gothic"/>
                <a:ea typeface="Malgun Gothic"/>
              </a:rPr>
              <a:t>Fos  Arc</a:t>
            </a:r>
          </a:p>
          <a:p>
            <a:r>
              <a:rPr sz="1300">
                <a:solidFill>
                  <a:srgbClr val="2C2C2C"/>
                </a:solidFill>
                <a:latin typeface="Malgun Gothic"/>
                <a:ea typeface="Malgun Gothic"/>
              </a:rPr>
              <a:t>Egr1  Junb</a:t>
            </a:r>
          </a:p>
          <a:p>
            <a:r>
              <a:rPr sz="1300">
                <a:solidFill>
                  <a:srgbClr val="2C2C2C"/>
                </a:solidFill>
                <a:latin typeface="Malgun Gothic"/>
                <a:ea typeface="Malgun Gothic"/>
              </a:rPr>
              <a:t>Nr4a1  Fosb</a:t>
            </a:r>
          </a:p>
          <a:p>
            <a:r>
              <a:rPr sz="1300">
                <a:solidFill>
                  <a:srgbClr val="2C2C2C"/>
                </a:solidFill>
                <a:latin typeface="Malgun Gothic"/>
                <a:ea typeface="Malgun Gothic"/>
              </a:rPr>
              <a:t>Npas4  Bdnf</a:t>
            </a:r>
          </a:p>
          <a:p>
            <a:r>
              <a:rPr sz="1300">
                <a:solidFill>
                  <a:srgbClr val="2C2C2C"/>
                </a:solidFill>
                <a:latin typeface="Malgun Gothic"/>
                <a:ea typeface="Malgun Gothic"/>
              </a:rPr>
              <a:t/>
            </a:r>
          </a:p>
          <a:p>
            <a:r>
              <a:rPr sz="1300">
                <a:solidFill>
                  <a:srgbClr val="2C2C2C"/>
                </a:solidFill>
                <a:latin typeface="Malgun Gothic"/>
                <a:ea typeface="Malgun Gothic"/>
              </a:rPr>
              <a:t>Jesse도 이걸</a:t>
            </a:r>
          </a:p>
          <a:p>
            <a:r>
              <a:rPr sz="1300">
                <a:solidFill>
                  <a:srgbClr val="2C2C2C"/>
                </a:solidFill>
                <a:latin typeface="Malgun Gothic"/>
                <a:ea typeface="Malgun Gothic"/>
              </a:rPr>
              <a:t>상위 DEG로 봄.</a:t>
            </a:r>
          </a:p>
          <a:p>
            <a:r>
              <a:rPr sz="1300">
                <a:solidFill>
                  <a:srgbClr val="2C2C2C"/>
                </a:solidFill>
                <a:latin typeface="Malgun Gothic"/>
                <a:ea typeface="Malgun Gothic"/>
              </a:rPr>
              <a:t>넣을 필요 없음.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246120" y="1143000"/>
            <a:ext cx="2788920" cy="4937760"/>
          </a:xfrm>
          <a:prstGeom prst="roundRect">
            <a:avLst/>
          </a:prstGeom>
          <a:solidFill>
            <a:srgbClr val="FFFFFF"/>
          </a:solidFill>
          <a:ln>
            <a:solidFill>
              <a:srgbClr val="C445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246120" y="1143000"/>
            <a:ext cx="2788920" cy="384048"/>
          </a:xfrm>
          <a:prstGeom prst="rect">
            <a:avLst/>
          </a:prstGeom>
          <a:solidFill>
            <a:srgbClr val="C445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355848" y="1197864"/>
            <a:ext cx="2606039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>
                <a:solidFill>
                  <a:srgbClr val="FFFFFF"/>
                </a:solidFill>
                <a:latin typeface="Malgun Gothic"/>
                <a:ea typeface="Malgun Gothic"/>
              </a:rPr>
              <a:t>B. 새 핵심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374136" y="1618488"/>
            <a:ext cx="2532887" cy="437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>
                <a:solidFill>
                  <a:srgbClr val="2C2C2C"/>
                </a:solidFill>
                <a:latin typeface="Malgun Gothic"/>
                <a:ea typeface="Malgun Gothic"/>
              </a:rPr>
              <a:t>지연 · 시계 · 분비</a:t>
            </a:r>
          </a:p>
          <a:p>
            <a:r>
              <a:rPr sz="1300">
                <a:solidFill>
                  <a:srgbClr val="2C2C2C"/>
                </a:solidFill>
                <a:latin typeface="Malgun Gothic"/>
                <a:ea typeface="Malgun Gothic"/>
              </a:rPr>
              <a:t/>
            </a:r>
          </a:p>
          <a:p>
            <a:r>
              <a:rPr sz="1300">
                <a:solidFill>
                  <a:srgbClr val="2C2C2C"/>
                </a:solidFill>
                <a:latin typeface="Malgun Gothic"/>
                <a:ea typeface="Malgun Gothic"/>
              </a:rPr>
              <a:t>Per2   13 클러스터</a:t>
            </a:r>
          </a:p>
          <a:p>
            <a:r>
              <a:rPr sz="1300">
                <a:solidFill>
                  <a:srgbClr val="2C2C2C"/>
                </a:solidFill>
                <a:latin typeface="Malgun Gothic"/>
                <a:ea typeface="Malgun Gothic"/>
              </a:rPr>
              <a:t>Pcsk1  11</a:t>
            </a:r>
          </a:p>
          <a:p>
            <a:r>
              <a:rPr sz="1300">
                <a:solidFill>
                  <a:srgbClr val="2C2C2C"/>
                </a:solidFill>
                <a:latin typeface="Malgun Gothic"/>
                <a:ea typeface="Malgun Gothic"/>
              </a:rPr>
              <a:t>Per1    8</a:t>
            </a:r>
          </a:p>
          <a:p>
            <a:r>
              <a:rPr sz="1300">
                <a:solidFill>
                  <a:srgbClr val="2C2C2C"/>
                </a:solidFill>
                <a:latin typeface="Malgun Gothic"/>
                <a:ea typeface="Malgun Gothic"/>
              </a:rPr>
              <a:t>Nr4a3   8</a:t>
            </a:r>
          </a:p>
          <a:p>
            <a:r>
              <a:rPr sz="1300">
                <a:solidFill>
                  <a:srgbClr val="2C2C2C"/>
                </a:solidFill>
                <a:latin typeface="Malgun Gothic"/>
                <a:ea typeface="Malgun Gothic"/>
              </a:rPr>
              <a:t/>
            </a:r>
          </a:p>
          <a:p>
            <a:r>
              <a:rPr sz="1300">
                <a:solidFill>
                  <a:srgbClr val="2C2C2C"/>
                </a:solidFill>
                <a:latin typeface="Malgun Gothic"/>
                <a:ea typeface="Malgun Gothic"/>
              </a:rPr>
              <a:t>이게 Jesse가</a:t>
            </a:r>
          </a:p>
          <a:p>
            <a:r>
              <a:rPr sz="1300">
                <a:solidFill>
                  <a:srgbClr val="2C2C2C"/>
                </a:solidFill>
                <a:latin typeface="Malgun Gothic"/>
                <a:ea typeface="Malgun Gothic"/>
              </a:rPr>
              <a:t>새로 보여 준 축.</a:t>
            </a:r>
          </a:p>
          <a:p>
            <a:r>
              <a:rPr sz="1300">
                <a:solidFill>
                  <a:srgbClr val="2C2C2C"/>
                </a:solidFill>
                <a:latin typeface="Malgun Gothic"/>
                <a:ea typeface="Malgun Gothic"/>
              </a:rPr>
              <a:t>강력 추천.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26480" y="1143000"/>
            <a:ext cx="2788920" cy="4937760"/>
          </a:xfrm>
          <a:prstGeom prst="roundRect">
            <a:avLst/>
          </a:prstGeom>
          <a:solidFill>
            <a:srgbClr val="FFFFFF"/>
          </a:solidFill>
          <a:ln>
            <a:solidFill>
              <a:srgbClr val="2A6F9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126480" y="1143000"/>
            <a:ext cx="2788920" cy="384048"/>
          </a:xfrm>
          <a:prstGeom prst="rect">
            <a:avLst/>
          </a:prstGeom>
          <a:solidFill>
            <a:srgbClr val="2A6F9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236208" y="1197864"/>
            <a:ext cx="2606039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>
                <a:solidFill>
                  <a:srgbClr val="FFFFFF"/>
                </a:solidFill>
                <a:latin typeface="Malgun Gothic"/>
                <a:ea typeface="Malgun Gothic"/>
              </a:rPr>
              <a:t>C. 풍부 확인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254496" y="1618488"/>
            <a:ext cx="2532887" cy="437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>
                <a:solidFill>
                  <a:srgbClr val="2C2C2C"/>
                </a:solidFill>
                <a:latin typeface="Malgun Gothic"/>
                <a:ea typeface="Malgun Gothic"/>
              </a:rPr>
              <a:t>Allen에서 이미 많음</a:t>
            </a:r>
          </a:p>
          <a:p>
            <a:r>
              <a:rPr sz="1300">
                <a:solidFill>
                  <a:srgbClr val="2C2C2C"/>
                </a:solidFill>
                <a:latin typeface="Malgun Gothic"/>
                <a:ea typeface="Malgun Gothic"/>
              </a:rPr>
              <a:t/>
            </a:r>
          </a:p>
          <a:p>
            <a:r>
              <a:rPr sz="1300">
                <a:solidFill>
                  <a:srgbClr val="2C2C2C"/>
                </a:solidFill>
                <a:latin typeface="Malgun Gothic"/>
                <a:ea typeface="Malgun Gothic"/>
              </a:rPr>
              <a:t>Egr3   97%</a:t>
            </a:r>
          </a:p>
          <a:p>
            <a:r>
              <a:rPr sz="1300">
                <a:solidFill>
                  <a:srgbClr val="2C2C2C"/>
                </a:solidFill>
                <a:latin typeface="Malgun Gothic"/>
                <a:ea typeface="Malgun Gothic"/>
              </a:rPr>
              <a:t>Dusp1  54%</a:t>
            </a:r>
          </a:p>
          <a:p>
            <a:r>
              <a:rPr sz="1300">
                <a:solidFill>
                  <a:srgbClr val="2C2C2C"/>
                </a:solidFill>
                <a:latin typeface="Malgun Gothic"/>
                <a:ea typeface="Malgun Gothic"/>
              </a:rPr>
              <a:t>Crem   64%</a:t>
            </a:r>
          </a:p>
          <a:p>
            <a:r>
              <a:rPr sz="1300">
                <a:solidFill>
                  <a:srgbClr val="2C2C2C"/>
                </a:solidFill>
                <a:latin typeface="Malgun Gothic"/>
                <a:ea typeface="Malgun Gothic"/>
              </a:rPr>
              <a:t>Vgf    84%</a:t>
            </a:r>
          </a:p>
          <a:p>
            <a:r>
              <a:rPr sz="1300">
                <a:solidFill>
                  <a:srgbClr val="2C2C2C"/>
                </a:solidFill>
                <a:latin typeface="Malgun Gothic"/>
                <a:ea typeface="Malgun Gothic"/>
              </a:rPr>
              <a:t/>
            </a:r>
          </a:p>
          <a:p>
            <a:r>
              <a:rPr sz="1300">
                <a:solidFill>
                  <a:srgbClr val="2C2C2C"/>
                </a:solidFill>
                <a:latin typeface="Malgun Gothic"/>
                <a:ea typeface="Malgun Gothic"/>
              </a:rPr>
              <a:t>Xenium에서</a:t>
            </a:r>
          </a:p>
          <a:p>
            <a:r>
              <a:rPr sz="1300">
                <a:solidFill>
                  <a:srgbClr val="2C2C2C"/>
                </a:solidFill>
                <a:latin typeface="Malgun Gothic"/>
                <a:ea typeface="Malgun Gothic"/>
              </a:rPr>
              <a:t>잡힐 확률 높음.</a:t>
            </a:r>
          </a:p>
          <a:p>
            <a:r>
              <a:rPr sz="1300">
                <a:solidFill>
                  <a:srgbClr val="2C2C2C"/>
                </a:solidFill>
                <a:latin typeface="Malgun Gothic"/>
                <a:ea typeface="Malgun Gothic"/>
              </a:rPr>
              <a:t>3순위.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006840" y="1143000"/>
            <a:ext cx="2788920" cy="4937760"/>
          </a:xfrm>
          <a:prstGeom prst="roundRect">
            <a:avLst/>
          </a:prstGeom>
          <a:solidFill>
            <a:srgbClr val="FFFFFF"/>
          </a:solidFill>
          <a:ln>
            <a:solidFill>
              <a:srgbClr val="B0896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9006840" y="1143000"/>
            <a:ext cx="2788920" cy="384048"/>
          </a:xfrm>
          <a:prstGeom prst="rect">
            <a:avLst/>
          </a:prstGeom>
          <a:solidFill>
            <a:srgbClr val="B089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116567" y="1197864"/>
            <a:ext cx="2606039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>
                <a:solidFill>
                  <a:srgbClr val="FFFFFF"/>
                </a:solidFill>
                <a:latin typeface="Malgun Gothic"/>
                <a:ea typeface="Malgun Gothic"/>
              </a:rPr>
              <a:t>D. 넣지 말 것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134856" y="1618488"/>
            <a:ext cx="2532887" cy="437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>
                <a:solidFill>
                  <a:srgbClr val="2C2C2C"/>
                </a:solidFill>
                <a:latin typeface="Malgun Gothic"/>
                <a:ea typeface="Malgun Gothic"/>
              </a:rPr>
              <a:t>TF 179개 대부분</a:t>
            </a:r>
          </a:p>
          <a:p>
            <a:r>
              <a:rPr sz="1300">
                <a:solidFill>
                  <a:srgbClr val="2C2C2C"/>
                </a:solidFill>
                <a:latin typeface="Malgun Gothic"/>
                <a:ea typeface="Malgun Gothic"/>
              </a:rPr>
              <a:t/>
            </a:r>
          </a:p>
          <a:p>
            <a:r>
              <a:rPr sz="1300">
                <a:solidFill>
                  <a:srgbClr val="2C2C2C"/>
                </a:solidFill>
                <a:latin typeface="Malgun Gothic"/>
                <a:ea typeface="Malgun Gothic"/>
              </a:rPr>
              <a:t>Arid5b Banp</a:t>
            </a:r>
          </a:p>
          <a:p>
            <a:r>
              <a:rPr sz="1300">
                <a:solidFill>
                  <a:srgbClr val="2C2C2C"/>
                </a:solidFill>
                <a:latin typeface="Malgun Gothic"/>
                <a:ea typeface="Malgun Gothic"/>
              </a:rPr>
              <a:t>Chd2 아연핑거</a:t>
            </a:r>
          </a:p>
          <a:p>
            <a:r>
              <a:rPr sz="1300">
                <a:solidFill>
                  <a:srgbClr val="2C2C2C"/>
                </a:solidFill>
                <a:latin typeface="Malgun Gothic"/>
                <a:ea typeface="Malgun Gothic"/>
              </a:rPr>
              <a:t/>
            </a:r>
          </a:p>
          <a:p>
            <a:r>
              <a:rPr sz="1300">
                <a:solidFill>
                  <a:srgbClr val="2C2C2C"/>
                </a:solidFill>
                <a:latin typeface="Malgun Gothic"/>
                <a:ea typeface="Malgun Gothic"/>
              </a:rPr>
              <a:t>Jesse도</a:t>
            </a:r>
          </a:p>
          <a:p>
            <a:r>
              <a:rPr sz="1300">
                <a:solidFill>
                  <a:srgbClr val="2C2C2C"/>
                </a:solidFill>
                <a:latin typeface="Malgun Gothic"/>
                <a:ea typeface="Malgun Gothic"/>
              </a:rPr>
              <a:t>MERFISH 풍부함</a:t>
            </a:r>
          </a:p>
          <a:p>
            <a:r>
              <a:rPr sz="1300">
                <a:solidFill>
                  <a:srgbClr val="2C2C2C"/>
                </a:solidFill>
                <a:latin typeface="Malgun Gothic"/>
                <a:ea typeface="Malgun Gothic"/>
              </a:rPr>
              <a:t>먼저 보라고 함.</a:t>
            </a:r>
          </a:p>
          <a:p>
            <a:r>
              <a:rPr sz="1300">
                <a:solidFill>
                  <a:srgbClr val="2C2C2C"/>
                </a:solidFill>
                <a:latin typeface="Malgun Gothic"/>
                <a:ea typeface="Malgun Gothic"/>
              </a:rPr>
              <a:t>슬롯 낭비.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7200" y="6565392"/>
            <a:ext cx="1124712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0">
                <a:solidFill>
                  <a:srgbClr val="6B6B6B"/>
                </a:solidFill>
                <a:latin typeface="Malgun Gothic"/>
                <a:ea typeface="Malgun Gothic"/>
              </a:rPr>
              <a:t>Jesse Niehaus PL-ILA-ORB 모르핀 DEG  |  Xenium 추가 추천  |  6/16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D4E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37744"/>
            <a:ext cx="112471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1D4E89"/>
                </a:solidFill>
                <a:latin typeface="Malgun Gothic"/>
                <a:ea typeface="Malgun Gothic"/>
              </a:rPr>
              <a:t>중요 유전자를 넓게 보면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76656"/>
            <a:ext cx="1124712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0">
                <a:solidFill>
                  <a:srgbClr val="6B6B6B"/>
                </a:solidFill>
                <a:latin typeface="Malgun Gothic"/>
                <a:ea typeface="Malgun Gothic"/>
              </a:rPr>
              <a:t>n = Jesse DEG 서브클래스 수. ORBm = 우리 12개 앵커와 겹친 수.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11480" y="1051560"/>
          <a:ext cx="10424160" cy="5212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17320"/>
                <a:gridCol w="2880360"/>
                <a:gridCol w="1097280"/>
                <a:gridCol w="640080"/>
                <a:gridCol w="1234440"/>
                <a:gridCol w="1965960"/>
                <a:gridCol w="1188720"/>
              </a:tblGrid>
              <a:tr h="521208"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</a:rPr>
                        <a:t>유전자</a:t>
                      </a:r>
                    </a:p>
                  </a:txBody>
                  <a:tcPr>
                    <a:solidFill>
                      <a:srgbClr val="1D4E8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</a:rPr>
                        <a:t>Jesse가 말한 것</a:t>
                      </a:r>
                    </a:p>
                  </a:txBody>
                  <a:tcPr>
                    <a:solidFill>
                      <a:srgbClr val="1D4E8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</a:rPr>
                        <a:t>n / ORBm</a:t>
                      </a:r>
                    </a:p>
                  </a:txBody>
                  <a:tcPr>
                    <a:solidFill>
                      <a:srgbClr val="1D4E8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</a:rPr>
                        <a:t>방향</a:t>
                      </a:r>
                    </a:p>
                  </a:txBody>
                  <a:tcPr>
                    <a:solidFill>
                      <a:srgbClr val="1D4E8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</a:rPr>
                        <a:t>우리 패널</a:t>
                      </a:r>
                    </a:p>
                  </a:txBody>
                  <a:tcPr>
                    <a:solidFill>
                      <a:srgbClr val="1D4E8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</a:rPr>
                        <a:t>Allen ORBm</a:t>
                      </a:r>
                    </a:p>
                  </a:txBody>
                  <a:tcPr>
                    <a:solidFill>
                      <a:srgbClr val="1D4E8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</a:rPr>
                        <a:t>추천</a:t>
                      </a:r>
                    </a:p>
                  </a:txBody>
                  <a:tcPr>
                    <a:solidFill>
                      <a:srgbClr val="1D4E89"/>
                    </a:solidFill>
                  </a:tcPr>
                </a:tc>
              </a:tr>
              <a:tr h="521208"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2C2C2C"/>
                          </a:solidFill>
                          <a:latin typeface="Malgun Gothic"/>
                          <a:ea typeface="Malgun Gothic"/>
                        </a:rPr>
                        <a:t>Per2</a:t>
                      </a:r>
                    </a:p>
                  </a:txBody>
                  <a:tcPr>
                    <a:solidFill>
                      <a:srgbClr val="F4F1E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2C2C2C"/>
                          </a:solidFill>
                          <a:latin typeface="Malgun Gothic"/>
                          <a:ea typeface="Malgun Gothic"/>
                        </a:rPr>
                        <a:t>가장 넓은 IEG. 지연·일주기</a:t>
                      </a:r>
                    </a:p>
                  </a:txBody>
                  <a:tcPr>
                    <a:solidFill>
                      <a:srgbClr val="F4F1E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2C2C2C"/>
                          </a:solidFill>
                          <a:latin typeface="Malgun Gothic"/>
                          <a:ea typeface="Malgun Gothic"/>
                        </a:rPr>
                        <a:t>13 / 11</a:t>
                      </a:r>
                    </a:p>
                  </a:txBody>
                  <a:tcPr>
                    <a:solidFill>
                      <a:srgbClr val="F4F1E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2C2C2C"/>
                          </a:solidFill>
                          <a:latin typeface="Malgun Gothic"/>
                          <a:ea typeface="Malgun Gothic"/>
                        </a:rPr>
                        <a:t>Up</a:t>
                      </a:r>
                    </a:p>
                  </a:txBody>
                  <a:tcPr>
                    <a:solidFill>
                      <a:srgbClr val="F4F1E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2C2C2C"/>
                          </a:solidFill>
                          <a:latin typeface="Malgun Gothic"/>
                          <a:ea typeface="Malgun Gothic"/>
                        </a:rPr>
                        <a:t>없음</a:t>
                      </a:r>
                    </a:p>
                  </a:txBody>
                  <a:tcPr>
                    <a:solidFill>
                      <a:srgbClr val="F4F1E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2C2C2C"/>
                          </a:solidFill>
                          <a:latin typeface="Malgun Gothic"/>
                          <a:ea typeface="Malgun Gothic"/>
                        </a:rPr>
                        <a:t>우리 표에 없음</a:t>
                      </a:r>
                    </a:p>
                  </a:txBody>
                  <a:tcPr>
                    <a:solidFill>
                      <a:srgbClr val="F4F1E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2C2C2C"/>
                          </a:solidFill>
                          <a:latin typeface="Malgun Gothic"/>
                          <a:ea typeface="Malgun Gothic"/>
                        </a:rPr>
                        <a:t>반드시 검토</a:t>
                      </a:r>
                    </a:p>
                  </a:txBody>
                  <a:tcPr>
                    <a:solidFill>
                      <a:srgbClr val="F4F1EA"/>
                    </a:solidFill>
                  </a:tcPr>
                </a:tc>
              </a:tr>
              <a:tr h="521208"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2C2C2C"/>
                          </a:solidFill>
                          <a:latin typeface="Malgun Gothic"/>
                          <a:ea typeface="Malgun Gothic"/>
                        </a:rPr>
                        <a:t>Pcsk1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2C2C2C"/>
                          </a:solidFill>
                          <a:latin typeface="Malgun Gothic"/>
                          <a:ea typeface="Malgun Gothic"/>
                        </a:rPr>
                        <a:t>펩타이드 가공. 두 번째 IEG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2C2C2C"/>
                          </a:solidFill>
                          <a:latin typeface="Malgun Gothic"/>
                          <a:ea typeface="Malgun Gothic"/>
                        </a:rPr>
                        <a:t>11 / 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2C2C2C"/>
                          </a:solidFill>
                          <a:latin typeface="Malgun Gothic"/>
                          <a:ea typeface="Malgun Gothic"/>
                        </a:rPr>
                        <a:t>Up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2C2C2C"/>
                          </a:solidFill>
                          <a:latin typeface="Malgun Gothic"/>
                          <a:ea typeface="Malgun Gothic"/>
                        </a:rPr>
                        <a:t>없음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2C2C2C"/>
                          </a:solidFill>
                          <a:latin typeface="Malgun Gothic"/>
                          <a:ea typeface="Malgun Gothic"/>
                        </a:rPr>
                        <a:t>우리 표에 없음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2C2C2C"/>
                          </a:solidFill>
                          <a:latin typeface="Malgun Gothic"/>
                          <a:ea typeface="Malgun Gothic"/>
                        </a:rPr>
                        <a:t>강력 추천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21208"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2C2C2C"/>
                          </a:solidFill>
                          <a:latin typeface="Malgun Gothic"/>
                          <a:ea typeface="Malgun Gothic"/>
                        </a:rPr>
                        <a:t>Arc / Fos</a:t>
                      </a:r>
                    </a:p>
                  </a:txBody>
                  <a:tcPr>
                    <a:solidFill>
                      <a:srgbClr val="F4F1E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2C2C2C"/>
                          </a:solidFill>
                          <a:latin typeface="Malgun Gothic"/>
                          <a:ea typeface="Malgun Gothic"/>
                        </a:rPr>
                        <a:t>급성 활성 · TRAP</a:t>
                      </a:r>
                    </a:p>
                  </a:txBody>
                  <a:tcPr>
                    <a:solidFill>
                      <a:srgbClr val="F4F1E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2C2C2C"/>
                          </a:solidFill>
                          <a:latin typeface="Malgun Gothic"/>
                          <a:ea typeface="Malgun Gothic"/>
                        </a:rPr>
                        <a:t>10 / 10</a:t>
                      </a:r>
                    </a:p>
                  </a:txBody>
                  <a:tcPr>
                    <a:solidFill>
                      <a:srgbClr val="F4F1E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2C2C2C"/>
                          </a:solidFill>
                          <a:latin typeface="Malgun Gothic"/>
                          <a:ea typeface="Malgun Gothic"/>
                        </a:rPr>
                        <a:t>Up</a:t>
                      </a:r>
                    </a:p>
                  </a:txBody>
                  <a:tcPr>
                    <a:solidFill>
                      <a:srgbClr val="F4F1E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2C2C2C"/>
                          </a:solidFill>
                          <a:latin typeface="Malgun Gothic"/>
                          <a:ea typeface="Malgun Gothic"/>
                        </a:rPr>
                        <a:t>이미 있음</a:t>
                      </a:r>
                    </a:p>
                  </a:txBody>
                  <a:tcPr>
                    <a:solidFill>
                      <a:srgbClr val="F4F1E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2C2C2C"/>
                          </a:solidFill>
                          <a:latin typeface="Malgun Gothic"/>
                          <a:ea typeface="Malgun Gothic"/>
                        </a:rPr>
                        <a:t>높음</a:t>
                      </a:r>
                    </a:p>
                  </a:txBody>
                  <a:tcPr>
                    <a:solidFill>
                      <a:srgbClr val="F4F1E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2C2C2C"/>
                          </a:solidFill>
                          <a:latin typeface="Malgun Gothic"/>
                          <a:ea typeface="Malgun Gothic"/>
                        </a:rPr>
                        <a:t>유지</a:t>
                      </a:r>
                    </a:p>
                  </a:txBody>
                  <a:tcPr>
                    <a:solidFill>
                      <a:srgbClr val="F4F1EA"/>
                    </a:solidFill>
                  </a:tcPr>
                </a:tc>
              </a:tr>
              <a:tr h="521208"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2C2C2C"/>
                          </a:solidFill>
                          <a:latin typeface="Malgun Gothic"/>
                          <a:ea typeface="Malgun Gothic"/>
                        </a:rPr>
                        <a:t>Egr1 Junb Nr4a1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2C2C2C"/>
                          </a:solidFill>
                          <a:latin typeface="Malgun Gothic"/>
                          <a:ea typeface="Malgun Gothic"/>
                        </a:rPr>
                        <a:t>급성 IEG, Jesse도 상위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2C2C2C"/>
                          </a:solidFill>
                          <a:latin typeface="Malgun Gothic"/>
                          <a:ea typeface="Malgun Gothic"/>
                        </a:rPr>
                        <a:t>8 / 7–8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2C2C2C"/>
                          </a:solidFill>
                          <a:latin typeface="Malgun Gothic"/>
                          <a:ea typeface="Malgun Gothic"/>
                        </a:rPr>
                        <a:t>Up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2C2C2C"/>
                          </a:solidFill>
                          <a:latin typeface="Malgun Gothic"/>
                          <a:ea typeface="Malgun Gothic"/>
                        </a:rPr>
                        <a:t>이미 있음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2C2C2C"/>
                          </a:solidFill>
                          <a:latin typeface="Malgun Gothic"/>
                          <a:ea typeface="Malgun Gothic"/>
                        </a:rPr>
                        <a:t>높음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2C2C2C"/>
                          </a:solidFill>
                          <a:latin typeface="Malgun Gothic"/>
                          <a:ea typeface="Malgun Gothic"/>
                        </a:rPr>
                        <a:t>유지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21208"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2C2C2C"/>
                          </a:solidFill>
                          <a:latin typeface="Malgun Gothic"/>
                          <a:ea typeface="Malgun Gothic"/>
                        </a:rPr>
                        <a:t>Per1</a:t>
                      </a:r>
                    </a:p>
                  </a:txBody>
                  <a:tcPr>
                    <a:solidFill>
                      <a:srgbClr val="F4F1E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2C2C2C"/>
                          </a:solidFill>
                          <a:latin typeface="Malgun Gothic"/>
                          <a:ea typeface="Malgun Gothic"/>
                        </a:rPr>
                        <a:t>시계 유전자, Per2와 짝</a:t>
                      </a:r>
                    </a:p>
                  </a:txBody>
                  <a:tcPr>
                    <a:solidFill>
                      <a:srgbClr val="F4F1E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2C2C2C"/>
                          </a:solidFill>
                          <a:latin typeface="Malgun Gothic"/>
                          <a:ea typeface="Malgun Gothic"/>
                        </a:rPr>
                        <a:t>8 / 8</a:t>
                      </a:r>
                    </a:p>
                  </a:txBody>
                  <a:tcPr>
                    <a:solidFill>
                      <a:srgbClr val="F4F1E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2C2C2C"/>
                          </a:solidFill>
                          <a:latin typeface="Malgun Gothic"/>
                          <a:ea typeface="Malgun Gothic"/>
                        </a:rPr>
                        <a:t>Up</a:t>
                      </a:r>
                    </a:p>
                  </a:txBody>
                  <a:tcPr>
                    <a:solidFill>
                      <a:srgbClr val="F4F1E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2C2C2C"/>
                          </a:solidFill>
                          <a:latin typeface="Malgun Gothic"/>
                          <a:ea typeface="Malgun Gothic"/>
                        </a:rPr>
                        <a:t>없음</a:t>
                      </a:r>
                    </a:p>
                  </a:txBody>
                  <a:tcPr>
                    <a:solidFill>
                      <a:srgbClr val="F4F1E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2C2C2C"/>
                          </a:solidFill>
                          <a:latin typeface="Malgun Gothic"/>
                          <a:ea typeface="Malgun Gothic"/>
                        </a:rPr>
                        <a:t>63% L4/5 IT</a:t>
                      </a:r>
                    </a:p>
                  </a:txBody>
                  <a:tcPr>
                    <a:solidFill>
                      <a:srgbClr val="F4F1E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2C2C2C"/>
                          </a:solidFill>
                          <a:latin typeface="Malgun Gothic"/>
                          <a:ea typeface="Malgun Gothic"/>
                        </a:rPr>
                        <a:t>강력 추천</a:t>
                      </a:r>
                    </a:p>
                  </a:txBody>
                  <a:tcPr>
                    <a:solidFill>
                      <a:srgbClr val="F4F1EA"/>
                    </a:solidFill>
                  </a:tcPr>
                </a:tc>
              </a:tr>
              <a:tr h="521208"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2C2C2C"/>
                          </a:solidFill>
                          <a:latin typeface="Malgun Gothic"/>
                          <a:ea typeface="Malgun Gothic"/>
                        </a:rPr>
                        <a:t>Nr4a3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2C2C2C"/>
                          </a:solidFill>
                          <a:latin typeface="Malgun Gothic"/>
                          <a:ea typeface="Malgun Gothic"/>
                        </a:rPr>
                        <a:t>Nr4a1의 형제, 지연형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2C2C2C"/>
                          </a:solidFill>
                          <a:latin typeface="Malgun Gothic"/>
                          <a:ea typeface="Malgun Gothic"/>
                        </a:rPr>
                        <a:t>8 / 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2C2C2C"/>
                          </a:solidFill>
                          <a:latin typeface="Malgun Gothic"/>
                          <a:ea typeface="Malgun Gothic"/>
                        </a:rPr>
                        <a:t>Up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2C2C2C"/>
                          </a:solidFill>
                          <a:latin typeface="Malgun Gothic"/>
                          <a:ea typeface="Malgun Gothic"/>
                        </a:rPr>
                        <a:t>없음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2C2C2C"/>
                          </a:solidFill>
                          <a:latin typeface="Malgun Gothic"/>
                          <a:ea typeface="Malgun Gothic"/>
                        </a:rPr>
                        <a:t>63%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2C2C2C"/>
                          </a:solidFill>
                          <a:latin typeface="Malgun Gothic"/>
                          <a:ea typeface="Malgun Gothic"/>
                        </a:rPr>
                        <a:t>여유 시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21208"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2C2C2C"/>
                          </a:solidFill>
                          <a:latin typeface="Malgun Gothic"/>
                          <a:ea typeface="Malgun Gothic"/>
                        </a:rPr>
                        <a:t>Tiparp Maml3</a:t>
                      </a:r>
                    </a:p>
                  </a:txBody>
                  <a:tcPr>
                    <a:solidFill>
                      <a:srgbClr val="F4F1E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2C2C2C"/>
                          </a:solidFill>
                          <a:latin typeface="Malgun Gothic"/>
                          <a:ea typeface="Malgun Gothic"/>
                        </a:rPr>
                        <a:t>지연 IEG, 7–8 클러스터</a:t>
                      </a:r>
                    </a:p>
                  </a:txBody>
                  <a:tcPr>
                    <a:solidFill>
                      <a:srgbClr val="F4F1E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2C2C2C"/>
                          </a:solidFill>
                          <a:latin typeface="Malgun Gothic"/>
                          <a:ea typeface="Malgun Gothic"/>
                        </a:rPr>
                        <a:t>8 / 7</a:t>
                      </a:r>
                    </a:p>
                  </a:txBody>
                  <a:tcPr>
                    <a:solidFill>
                      <a:srgbClr val="F4F1E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2C2C2C"/>
                          </a:solidFill>
                          <a:latin typeface="Malgun Gothic"/>
                          <a:ea typeface="Malgun Gothic"/>
                        </a:rPr>
                        <a:t>Up</a:t>
                      </a:r>
                    </a:p>
                  </a:txBody>
                  <a:tcPr>
                    <a:solidFill>
                      <a:srgbClr val="F4F1E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2C2C2C"/>
                          </a:solidFill>
                          <a:latin typeface="Malgun Gothic"/>
                          <a:ea typeface="Malgun Gothic"/>
                        </a:rPr>
                        <a:t>없음</a:t>
                      </a:r>
                    </a:p>
                  </a:txBody>
                  <a:tcPr>
                    <a:solidFill>
                      <a:srgbClr val="F4F1E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2C2C2C"/>
                          </a:solidFill>
                          <a:latin typeface="Malgun Gothic"/>
                          <a:ea typeface="Malgun Gothic"/>
                        </a:rPr>
                        <a:t>미계산</a:t>
                      </a:r>
                    </a:p>
                  </a:txBody>
                  <a:tcPr>
                    <a:solidFill>
                      <a:srgbClr val="F4F1E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2C2C2C"/>
                          </a:solidFill>
                          <a:latin typeface="Malgun Gothic"/>
                          <a:ea typeface="Malgun Gothic"/>
                        </a:rPr>
                        <a:t>보류</a:t>
                      </a:r>
                    </a:p>
                  </a:txBody>
                  <a:tcPr>
                    <a:solidFill>
                      <a:srgbClr val="F4F1EA"/>
                    </a:solidFill>
                  </a:tcPr>
                </a:tc>
              </a:tr>
              <a:tr h="521208"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2C2C2C"/>
                          </a:solidFill>
                          <a:latin typeface="Malgun Gothic"/>
                          <a:ea typeface="Malgun Gothic"/>
                        </a:rPr>
                        <a:t>Dusp1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2C2C2C"/>
                          </a:solidFill>
                          <a:latin typeface="Malgun Gothic"/>
                          <a:ea typeface="Malgun Gothic"/>
                        </a:rPr>
                        <a:t>빠른 탈인산화 IEG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2C2C2C"/>
                          </a:solidFill>
                          <a:latin typeface="Malgun Gothic"/>
                          <a:ea typeface="Malgun Gothic"/>
                        </a:rPr>
                        <a:t>6 / 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2C2C2C"/>
                          </a:solidFill>
                          <a:latin typeface="Malgun Gothic"/>
                          <a:ea typeface="Malgun Gothic"/>
                        </a:rPr>
                        <a:t>Up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2C2C2C"/>
                          </a:solidFill>
                          <a:latin typeface="Malgun Gothic"/>
                          <a:ea typeface="Malgun Gothic"/>
                        </a:rPr>
                        <a:t>없음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2C2C2C"/>
                          </a:solidFill>
                          <a:latin typeface="Malgun Gothic"/>
                          <a:ea typeface="Malgun Gothic"/>
                        </a:rPr>
                        <a:t>54%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2C2C2C"/>
                          </a:solidFill>
                          <a:latin typeface="Malgun Gothic"/>
                          <a:ea typeface="Malgun Gothic"/>
                        </a:rPr>
                        <a:t>여유 시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21208"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2C2C2C"/>
                          </a:solidFill>
                          <a:latin typeface="Malgun Gothic"/>
                          <a:ea typeface="Malgun Gothic"/>
                        </a:rPr>
                        <a:t>Egr3</a:t>
                      </a:r>
                    </a:p>
                  </a:txBody>
                  <a:tcPr>
                    <a:solidFill>
                      <a:srgbClr val="F4F1E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2C2C2C"/>
                          </a:solidFill>
                          <a:latin typeface="Malgun Gothic"/>
                          <a:ea typeface="Malgun Gothic"/>
                        </a:rPr>
                        <a:t>Egr 패밀리, 매우 풍부</a:t>
                      </a:r>
                    </a:p>
                  </a:txBody>
                  <a:tcPr>
                    <a:solidFill>
                      <a:srgbClr val="F4F1E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2C2C2C"/>
                          </a:solidFill>
                          <a:latin typeface="Malgun Gothic"/>
                          <a:ea typeface="Malgun Gothic"/>
                        </a:rPr>
                        <a:t>5 / 5</a:t>
                      </a:r>
                    </a:p>
                  </a:txBody>
                  <a:tcPr>
                    <a:solidFill>
                      <a:srgbClr val="F4F1E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2C2C2C"/>
                          </a:solidFill>
                          <a:latin typeface="Malgun Gothic"/>
                          <a:ea typeface="Malgun Gothic"/>
                        </a:rPr>
                        <a:t>Up</a:t>
                      </a:r>
                    </a:p>
                  </a:txBody>
                  <a:tcPr>
                    <a:solidFill>
                      <a:srgbClr val="F4F1E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2C2C2C"/>
                          </a:solidFill>
                          <a:latin typeface="Malgun Gothic"/>
                          <a:ea typeface="Malgun Gothic"/>
                        </a:rPr>
                        <a:t>없음</a:t>
                      </a:r>
                    </a:p>
                  </a:txBody>
                  <a:tcPr>
                    <a:solidFill>
                      <a:srgbClr val="F4F1E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2C2C2C"/>
                          </a:solidFill>
                          <a:latin typeface="Malgun Gothic"/>
                          <a:ea typeface="Malgun Gothic"/>
                        </a:rPr>
                        <a:t>97%</a:t>
                      </a:r>
                    </a:p>
                  </a:txBody>
                  <a:tcPr>
                    <a:solidFill>
                      <a:srgbClr val="F4F1E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2C2C2C"/>
                          </a:solidFill>
                          <a:latin typeface="Malgun Gothic"/>
                          <a:ea typeface="Malgun Gothic"/>
                        </a:rPr>
                        <a:t>여유 시</a:t>
                      </a:r>
                    </a:p>
                  </a:txBody>
                  <a:tcPr>
                    <a:solidFill>
                      <a:srgbClr val="F4F1EA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457200" y="6565392"/>
            <a:ext cx="1124712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0">
                <a:solidFill>
                  <a:srgbClr val="6B6B6B"/>
                </a:solidFill>
                <a:latin typeface="Malgun Gothic"/>
                <a:ea typeface="Malgun Gothic"/>
              </a:rPr>
              <a:t>Jesse Niehaus PL-ILA-ORB 모르핀 DEG  |  Xenium 추가 추천  |  7/16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D4E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37744"/>
            <a:ext cx="112471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1D4E89"/>
                </a:solidFill>
                <a:latin typeface="Malgun Gothic"/>
                <a:ea typeface="Malgun Gothic"/>
              </a:rPr>
              <a:t>시냅스 가소성 — Jesse의 두 번째 축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76656"/>
            <a:ext cx="1124712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0">
                <a:solidFill>
                  <a:srgbClr val="6B6B6B"/>
                </a:solidFill>
                <a:latin typeface="Malgun Gothic"/>
                <a:ea typeface="Malgun Gothic"/>
              </a:rPr>
              <a:t>Arc/Egr1/Bdnf/Grm5는 이미 있다. 없는 것 중 넓은 것은 Camk2g(Down), Fxr1, Vps13a, Vgf.</a:t>
            </a:r>
          </a:p>
        </p:txBody>
      </p:sp>
      <p:pic>
        <p:nvPicPr>
          <p:cNvPr id="5" name="Picture 4" descr="KR_Fig3_plasticit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1051560"/>
            <a:ext cx="10972800" cy="521208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6565392"/>
            <a:ext cx="1124712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0">
                <a:solidFill>
                  <a:srgbClr val="6B6B6B"/>
                </a:solidFill>
                <a:latin typeface="Malgun Gothic"/>
                <a:ea typeface="Malgun Gothic"/>
              </a:rPr>
              <a:t>Jesse Niehaus PL-ILA-ORB 모르핀 DEG  |  Xenium 추가 추천  |  8/16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D4E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37744"/>
            <a:ext cx="112471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1D4E89"/>
                </a:solidFill>
                <a:latin typeface="Malgun Gothic"/>
                <a:ea typeface="Malgun Gothic"/>
              </a:rPr>
              <a:t>가소성 유전자, 무엇을 넣을까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76656"/>
            <a:ext cx="1124712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0">
                <a:solidFill>
                  <a:srgbClr val="6B6B6B"/>
                </a:solidFill>
                <a:latin typeface="Malgun Gothic"/>
                <a:ea typeface="Malgun Gothic"/>
              </a:rPr>
              <a:t>IEG 프로그램보다 우선순위는 낮다. 슬롯이 남을 때만.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11480" y="1143000"/>
            <a:ext cx="3703320" cy="4937760"/>
          </a:xfrm>
          <a:prstGeom prst="roundRect">
            <a:avLst/>
          </a:prstGeom>
          <a:solidFill>
            <a:srgbClr val="FFFFFF"/>
          </a:solidFill>
          <a:ln>
            <a:solidFill>
              <a:srgbClr val="6B7C6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11480" y="1143000"/>
            <a:ext cx="3703320" cy="384048"/>
          </a:xfrm>
          <a:prstGeom prst="rect">
            <a:avLst/>
          </a:prstGeom>
          <a:solidFill>
            <a:srgbClr val="6B7C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21208" y="1197864"/>
            <a:ext cx="3520439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>
                <a:solidFill>
                  <a:srgbClr val="FFFFFF"/>
                </a:solidFill>
                <a:latin typeface="Malgun Gothic"/>
                <a:ea typeface="Malgun Gothic"/>
              </a:rPr>
              <a:t>이미 커버됨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39496" y="1618488"/>
            <a:ext cx="3447287" cy="437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>
                <a:solidFill>
                  <a:srgbClr val="2C2C2C"/>
                </a:solidFill>
                <a:latin typeface="Malgun Gothic"/>
                <a:ea typeface="Malgun Gothic"/>
              </a:rPr>
              <a:t>Arc   Egr1   Bdnf</a:t>
            </a:r>
          </a:p>
          <a:p>
            <a:r>
              <a:rPr sz="1300">
                <a:solidFill>
                  <a:srgbClr val="2C2C2C"/>
                </a:solidFill>
                <a:latin typeface="Malgun Gothic"/>
                <a:ea typeface="Malgun Gothic"/>
              </a:rPr>
              <a:t>Grm5   Ntrk2 일부</a:t>
            </a:r>
          </a:p>
          <a:p>
            <a:r>
              <a:rPr sz="1300">
                <a:solidFill>
                  <a:srgbClr val="2C2C2C"/>
                </a:solidFill>
                <a:latin typeface="Malgun Gothic"/>
                <a:ea typeface="Malgun Gothic"/>
              </a:rPr>
              <a:t/>
            </a:r>
          </a:p>
          <a:p>
            <a:r>
              <a:rPr sz="1300">
                <a:solidFill>
                  <a:srgbClr val="2C2C2C"/>
                </a:solidFill>
                <a:latin typeface="Malgun Gothic"/>
                <a:ea typeface="Malgun Gothic"/>
              </a:rPr>
              <a:t>가소성 질문의 핵심은</a:t>
            </a:r>
          </a:p>
          <a:p>
            <a:r>
              <a:rPr sz="1300">
                <a:solidFill>
                  <a:srgbClr val="2C2C2C"/>
                </a:solidFill>
                <a:latin typeface="Malgun Gothic"/>
                <a:ea typeface="Malgun Gothic"/>
              </a:rPr>
              <a:t>이미 패널에 있다.</a:t>
            </a:r>
          </a:p>
          <a:p>
            <a:r>
              <a:rPr sz="1300">
                <a:solidFill>
                  <a:srgbClr val="2C2C2C"/>
                </a:solidFill>
                <a:latin typeface="Malgun Gothic"/>
                <a:ea typeface="Malgun Gothic"/>
              </a:rPr>
              <a:t>Jesse 리스트와 겹침.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251960" y="1143000"/>
            <a:ext cx="3703320" cy="4937760"/>
          </a:xfrm>
          <a:prstGeom prst="roundRect">
            <a:avLst/>
          </a:prstGeom>
          <a:solidFill>
            <a:srgbClr val="FFFFFF"/>
          </a:solidFill>
          <a:ln>
            <a:solidFill>
              <a:srgbClr val="B0896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251960" y="1143000"/>
            <a:ext cx="3703320" cy="384048"/>
          </a:xfrm>
          <a:prstGeom prst="rect">
            <a:avLst/>
          </a:prstGeom>
          <a:solidFill>
            <a:srgbClr val="B089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361688" y="1197864"/>
            <a:ext cx="3520439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>
                <a:solidFill>
                  <a:srgbClr val="FFFFFF"/>
                </a:solidFill>
                <a:latin typeface="Malgun Gothic"/>
                <a:ea typeface="Malgun Gothic"/>
              </a:rPr>
              <a:t>넓지만 Allen 미확인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379976" y="1618488"/>
            <a:ext cx="3447287" cy="437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>
                <a:solidFill>
                  <a:srgbClr val="2C2C2C"/>
                </a:solidFill>
                <a:latin typeface="Malgun Gothic"/>
                <a:ea typeface="Malgun Gothic"/>
              </a:rPr>
              <a:t>Camk2g  Down 7클러스터</a:t>
            </a:r>
          </a:p>
          <a:p>
            <a:r>
              <a:rPr sz="1300">
                <a:solidFill>
                  <a:srgbClr val="2C2C2C"/>
                </a:solidFill>
                <a:latin typeface="Malgun Gothic"/>
                <a:ea typeface="Malgun Gothic"/>
              </a:rPr>
              <a:t>Fxr1    Up 7</a:t>
            </a:r>
          </a:p>
          <a:p>
            <a:r>
              <a:rPr sz="1300">
                <a:solidFill>
                  <a:srgbClr val="2C2C2C"/>
                </a:solidFill>
                <a:latin typeface="Malgun Gothic"/>
                <a:ea typeface="Malgun Gothic"/>
              </a:rPr>
              <a:t>Vps13a  Up 7</a:t>
            </a:r>
          </a:p>
          <a:p>
            <a:r>
              <a:rPr sz="1300">
                <a:solidFill>
                  <a:srgbClr val="2C2C2C"/>
                </a:solidFill>
                <a:latin typeface="Malgun Gothic"/>
                <a:ea typeface="Malgun Gothic"/>
              </a:rPr>
              <a:t/>
            </a:r>
          </a:p>
          <a:p>
            <a:r>
              <a:rPr sz="1300">
                <a:solidFill>
                  <a:srgbClr val="2C2C2C"/>
                </a:solidFill>
                <a:latin typeface="Malgun Gothic"/>
                <a:ea typeface="Malgun Gothic"/>
              </a:rPr>
              <a:t>우리 A06 표에 없음.</a:t>
            </a:r>
          </a:p>
          <a:p>
            <a:r>
              <a:rPr sz="1300">
                <a:solidFill>
                  <a:srgbClr val="2C2C2C"/>
                </a:solidFill>
                <a:latin typeface="Malgun Gothic"/>
                <a:ea typeface="Malgun Gothic"/>
              </a:rPr>
              <a:t>Xenium에서 안 잡힐 수</a:t>
            </a:r>
          </a:p>
          <a:p>
            <a:r>
              <a:rPr sz="1300">
                <a:solidFill>
                  <a:srgbClr val="2C2C2C"/>
                </a:solidFill>
                <a:latin typeface="Malgun Gothic"/>
                <a:ea typeface="Malgun Gothic"/>
              </a:rPr>
              <a:t>있다. 지금은 보류.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092440" y="1143000"/>
            <a:ext cx="3703320" cy="4937760"/>
          </a:xfrm>
          <a:prstGeom prst="roundRect">
            <a:avLst/>
          </a:prstGeom>
          <a:solidFill>
            <a:srgbClr val="FFFFFF"/>
          </a:solidFill>
          <a:ln>
            <a:solidFill>
              <a:srgbClr val="2A6F9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8092440" y="1143000"/>
            <a:ext cx="3703320" cy="384048"/>
          </a:xfrm>
          <a:prstGeom prst="rect">
            <a:avLst/>
          </a:prstGeom>
          <a:solidFill>
            <a:srgbClr val="2A6F9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02167" y="1197864"/>
            <a:ext cx="3520439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>
                <a:solidFill>
                  <a:srgbClr val="FFFFFF"/>
                </a:solidFill>
                <a:latin typeface="Malgun Gothic"/>
                <a:ea typeface="Malgun Gothic"/>
              </a:rPr>
              <a:t>확인된 보조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20456" y="1618488"/>
            <a:ext cx="3447287" cy="437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>
                <a:solidFill>
                  <a:srgbClr val="2C2C2C"/>
                </a:solidFill>
                <a:latin typeface="Malgun Gothic"/>
                <a:ea typeface="Malgun Gothic"/>
              </a:rPr>
              <a:t>Vgf  Allen 84%</a:t>
            </a:r>
          </a:p>
          <a:p>
            <a:r>
              <a:rPr sz="1300">
                <a:solidFill>
                  <a:srgbClr val="2C2C2C"/>
                </a:solidFill>
                <a:latin typeface="Malgun Gothic"/>
                <a:ea typeface="Malgun Gothic"/>
              </a:rPr>
              <a:t>(Jesse 4 클러스터)</a:t>
            </a:r>
          </a:p>
          <a:p>
            <a:r>
              <a:rPr sz="1300">
                <a:solidFill>
                  <a:srgbClr val="2C2C2C"/>
                </a:solidFill>
                <a:latin typeface="Malgun Gothic"/>
                <a:ea typeface="Malgun Gothic"/>
              </a:rPr>
              <a:t/>
            </a:r>
          </a:p>
          <a:p>
            <a:r>
              <a:rPr sz="1300">
                <a:solidFill>
                  <a:srgbClr val="2C2C2C"/>
                </a:solidFill>
                <a:latin typeface="Malgun Gothic"/>
                <a:ea typeface="Malgun Gothic"/>
              </a:rPr>
              <a:t>Hrh1 는 GPCR DEG이기도</a:t>
            </a:r>
          </a:p>
          <a:p>
            <a:r>
              <a:rPr sz="1300">
                <a:solidFill>
                  <a:srgbClr val="2C2C2C"/>
                </a:solidFill>
                <a:latin typeface="Malgun Gothic"/>
                <a:ea typeface="Malgun Gothic"/>
              </a:rPr>
              <a:t>하지만 Allen 미확인.</a:t>
            </a:r>
          </a:p>
          <a:p>
            <a:r>
              <a:rPr sz="1300">
                <a:solidFill>
                  <a:srgbClr val="2C2C2C"/>
                </a:solidFill>
                <a:latin typeface="Malgun Gothic"/>
                <a:ea typeface="Malgun Gothic"/>
              </a:rPr>
              <a:t/>
            </a:r>
          </a:p>
          <a:p>
            <a:r>
              <a:rPr sz="1300">
                <a:solidFill>
                  <a:srgbClr val="2C2C2C"/>
                </a:solidFill>
                <a:latin typeface="Malgun Gothic"/>
                <a:ea typeface="Malgun Gothic"/>
              </a:rPr>
              <a:t>Vgf만 4순위로 고려.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" y="6565392"/>
            <a:ext cx="1124712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0">
                <a:solidFill>
                  <a:srgbClr val="6B6B6B"/>
                </a:solidFill>
                <a:latin typeface="Malgun Gothic"/>
                <a:ea typeface="Malgun Gothic"/>
              </a:rPr>
              <a:t>Jesse Niehaus PL-ILA-ORB 모르핀 DEG  |  Xenium 추가 추천  |  9/16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A6F9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37744"/>
            <a:ext cx="112471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1D4E89"/>
                </a:solidFill>
                <a:latin typeface="Malgun Gothic"/>
                <a:ea typeface="Malgun Gothic"/>
              </a:rPr>
              <a:t>GPCR은 두 종류다 — 섞지 말 것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76656"/>
            <a:ext cx="1124712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0">
                <a:solidFill>
                  <a:srgbClr val="6B6B6B"/>
                </a:solidFill>
                <a:latin typeface="Malgun Gothic"/>
                <a:ea typeface="Malgun Gothic"/>
              </a:rPr>
              <a:t>모르핀이 바꾼 GPCR ≠ ORB에 원래 많은 GPCR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11480" y="1143000"/>
            <a:ext cx="5623560" cy="4937760"/>
          </a:xfrm>
          <a:prstGeom prst="roundRect">
            <a:avLst/>
          </a:prstGeom>
          <a:solidFill>
            <a:srgbClr val="FFFFFF"/>
          </a:solidFill>
          <a:ln>
            <a:solidFill>
              <a:srgbClr val="1D4E8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11480" y="1143000"/>
            <a:ext cx="5623560" cy="384048"/>
          </a:xfrm>
          <a:prstGeom prst="rect">
            <a:avLst/>
          </a:prstGeom>
          <a:solidFill>
            <a:srgbClr val="1D4E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21208" y="1197864"/>
            <a:ext cx="54406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>
                <a:solidFill>
                  <a:srgbClr val="FFFFFF"/>
                </a:solidFill>
                <a:latin typeface="Malgun Gothic"/>
                <a:ea typeface="Malgun Gothic"/>
              </a:rPr>
              <a:t>모르핀 DEG GPCR (34개)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39496" y="1618488"/>
            <a:ext cx="5367528" cy="437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>
                <a:solidFill>
                  <a:srgbClr val="2C2C2C"/>
                </a:solidFill>
                <a:latin typeface="Malgun Gothic"/>
                <a:ea typeface="Malgun Gothic"/>
              </a:rPr>
              <a:t>가장 넓은 것: Hrh1 (4, Up)</a:t>
            </a:r>
          </a:p>
          <a:p>
            <a:r>
              <a:rPr sz="1300">
                <a:solidFill>
                  <a:srgbClr val="2C2C2C"/>
                </a:solidFill>
                <a:latin typeface="Malgun Gothic"/>
                <a:ea typeface="Malgun Gothic"/>
              </a:rPr>
              <a:t>그다음 Grm2 Down, Adra1a Down,</a:t>
            </a:r>
          </a:p>
          <a:p>
            <a:r>
              <a:rPr sz="1300">
                <a:solidFill>
                  <a:srgbClr val="2C2C2C"/>
                </a:solidFill>
                <a:latin typeface="Malgun Gothic"/>
                <a:ea typeface="Malgun Gothic"/>
              </a:rPr>
              <a:t>Grm5 Up, Hrh3 Up (각 3)</a:t>
            </a:r>
          </a:p>
          <a:p>
            <a:r>
              <a:rPr sz="1300">
                <a:solidFill>
                  <a:srgbClr val="2C2C2C"/>
                </a:solidFill>
                <a:latin typeface="Malgun Gothic"/>
                <a:ea typeface="Malgun Gothic"/>
              </a:rPr>
              <a:t/>
            </a:r>
          </a:p>
          <a:p>
            <a:r>
              <a:rPr sz="1300">
                <a:solidFill>
                  <a:srgbClr val="2C2C2C"/>
                </a:solidFill>
                <a:latin typeface="Malgun Gothic"/>
                <a:ea typeface="Malgun Gothic"/>
              </a:rPr>
              <a:t>이미 패널: Grm5, Chrm2, Htr1b,</a:t>
            </a:r>
          </a:p>
          <a:p>
            <a:r>
              <a:rPr sz="1300">
                <a:solidFill>
                  <a:srgbClr val="2C2C2C"/>
                </a:solidFill>
                <a:latin typeface="Malgun Gothic"/>
                <a:ea typeface="Malgun Gothic"/>
              </a:rPr>
              <a:t>Oprm1, Ntsr1, Htr1a, Oprd1,</a:t>
            </a:r>
          </a:p>
          <a:p>
            <a:r>
              <a:rPr sz="1300">
                <a:solidFill>
                  <a:srgbClr val="2C2C2C"/>
                </a:solidFill>
                <a:latin typeface="Malgun Gothic"/>
                <a:ea typeface="Malgun Gothic"/>
              </a:rPr>
              <a:t>Oprk1, Htr2c, Hcrtr2</a:t>
            </a:r>
          </a:p>
          <a:p>
            <a:r>
              <a:rPr sz="1300">
                <a:solidFill>
                  <a:srgbClr val="2C2C2C"/>
                </a:solidFill>
                <a:latin typeface="Malgun Gothic"/>
                <a:ea typeface="Malgun Gothic"/>
              </a:rPr>
              <a:t/>
            </a:r>
          </a:p>
          <a:p>
            <a:r>
              <a:rPr sz="1300">
                <a:solidFill>
                  <a:srgbClr val="2C2C2C"/>
                </a:solidFill>
                <a:latin typeface="Malgun Gothic"/>
                <a:ea typeface="Malgun Gothic"/>
              </a:rPr>
              <a:t>새 후보는 Hrh1, Grm2.</a:t>
            </a:r>
          </a:p>
          <a:p>
            <a:r>
              <a:rPr sz="1300">
                <a:solidFill>
                  <a:srgbClr val="2C2C2C"/>
                </a:solidFill>
                <a:latin typeface="Malgun Gothic"/>
                <a:ea typeface="Malgun Gothic"/>
              </a:rPr>
              <a:t>둘 다 우리 Allen 표에 없음.</a:t>
            </a:r>
          </a:p>
          <a:p>
            <a:r>
              <a:rPr sz="1300">
                <a:solidFill>
                  <a:srgbClr val="2C2C2C"/>
                </a:solidFill>
                <a:latin typeface="Malgun Gothic"/>
                <a:ea typeface="Malgun Gothic"/>
              </a:rPr>
              <a:t>IEG보다 약하다.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143000"/>
            <a:ext cx="5532120" cy="4937760"/>
          </a:xfrm>
          <a:prstGeom prst="roundRect">
            <a:avLst/>
          </a:prstGeom>
          <a:solidFill>
            <a:srgbClr val="FFFFFF"/>
          </a:solidFill>
          <a:ln>
            <a:solidFill>
              <a:srgbClr val="2A6F9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217920" y="1143000"/>
            <a:ext cx="5532120" cy="384048"/>
          </a:xfrm>
          <a:prstGeom prst="rect">
            <a:avLst/>
          </a:prstGeom>
          <a:solidFill>
            <a:srgbClr val="2A6F9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327648" y="1197864"/>
            <a:ext cx="534924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>
                <a:solidFill>
                  <a:srgbClr val="FFFFFF"/>
                </a:solidFill>
                <a:latin typeface="Malgun Gothic"/>
                <a:ea typeface="Malgun Gothic"/>
              </a:rPr>
              <a:t>ORB 농축 GPCR (해부)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345936" y="1618488"/>
            <a:ext cx="5276088" cy="437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>
                <a:solidFill>
                  <a:srgbClr val="2C2C2C"/>
                </a:solidFill>
                <a:latin typeface="Malgun Gothic"/>
                <a:ea typeface="Malgun Gothic"/>
              </a:rPr>
              <a:t>Rxfp1  19  ← 1등, 무료</a:t>
            </a:r>
          </a:p>
          <a:p>
            <a:r>
              <a:rPr sz="1300">
                <a:solidFill>
                  <a:srgbClr val="2C2C2C"/>
                </a:solidFill>
                <a:latin typeface="Malgun Gothic"/>
                <a:ea typeface="Malgun Gothic"/>
              </a:rPr>
              <a:t>Mas1   17  흥분성만</a:t>
            </a:r>
          </a:p>
          <a:p>
            <a:r>
              <a:rPr sz="1300">
                <a:solidFill>
                  <a:srgbClr val="2C2C2C"/>
                </a:solidFill>
                <a:latin typeface="Malgun Gothic"/>
                <a:ea typeface="Malgun Gothic"/>
              </a:rPr>
              <a:t>Mchr1  14</a:t>
            </a:r>
          </a:p>
          <a:p>
            <a:r>
              <a:rPr sz="1300">
                <a:solidFill>
                  <a:srgbClr val="2C2C2C"/>
                </a:solidFill>
                <a:latin typeface="Malgun Gothic"/>
                <a:ea typeface="Malgun Gothic"/>
              </a:rPr>
              <a:t>Adra1a 14</a:t>
            </a:r>
          </a:p>
          <a:p>
            <a:r>
              <a:rPr sz="1300">
                <a:solidFill>
                  <a:srgbClr val="2C2C2C"/>
                </a:solidFill>
                <a:latin typeface="Malgun Gothic"/>
                <a:ea typeface="Malgun Gothic"/>
              </a:rPr>
              <a:t>Gpr68  13</a:t>
            </a:r>
          </a:p>
          <a:p>
            <a:r>
              <a:rPr sz="1300">
                <a:solidFill>
                  <a:srgbClr val="2C2C2C"/>
                </a:solidFill>
                <a:latin typeface="Malgun Gothic"/>
                <a:ea typeface="Malgun Gothic"/>
              </a:rPr>
              <a:t/>
            </a:r>
          </a:p>
          <a:p>
            <a:r>
              <a:rPr sz="1300">
                <a:solidFill>
                  <a:srgbClr val="2C2C2C"/>
                </a:solidFill>
                <a:latin typeface="Malgun Gothic"/>
                <a:ea typeface="Malgun Gothic"/>
              </a:rPr>
              <a:t>이미 패널: Cnr1, Cckbr,</a:t>
            </a:r>
          </a:p>
          <a:p>
            <a:r>
              <a:rPr sz="1300">
                <a:solidFill>
                  <a:srgbClr val="2C2C2C"/>
                </a:solidFill>
                <a:latin typeface="Malgun Gothic"/>
                <a:ea typeface="Malgun Gothic"/>
              </a:rPr>
              <a:t>Hcrtr2, Drd1, Oprd1…</a:t>
            </a:r>
          </a:p>
          <a:p>
            <a:r>
              <a:rPr sz="1300">
                <a:solidFill>
                  <a:srgbClr val="2C2C2C"/>
                </a:solidFill>
                <a:latin typeface="Malgun Gothic"/>
                <a:ea typeface="Malgun Gothic"/>
              </a:rPr>
              <a:t/>
            </a:r>
          </a:p>
          <a:p>
            <a:r>
              <a:rPr sz="1300">
                <a:solidFill>
                  <a:srgbClr val="2C2C2C"/>
                </a:solidFill>
                <a:latin typeface="Malgun Gothic"/>
                <a:ea typeface="Malgun Gothic"/>
              </a:rPr>
              <a:t>Mas1/Gpr68/Mchr1는</a:t>
            </a:r>
          </a:p>
          <a:p>
            <a:r>
              <a:rPr sz="1300">
                <a:solidFill>
                  <a:srgbClr val="2C2C2C"/>
                </a:solidFill>
                <a:latin typeface="Malgun Gothic"/>
                <a:ea typeface="Malgun Gothic"/>
              </a:rPr>
              <a:t>Allen 40-GPCR 계산에</a:t>
            </a:r>
          </a:p>
          <a:p>
            <a:r>
              <a:rPr sz="1300">
                <a:solidFill>
                  <a:srgbClr val="2C2C2C"/>
                </a:solidFill>
                <a:latin typeface="Malgun Gothic"/>
                <a:ea typeface="Malgun Gothic"/>
              </a:rPr>
              <a:t>없어서 풍부함 미증명.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6565392"/>
            <a:ext cx="1124712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0">
                <a:solidFill>
                  <a:srgbClr val="6B6B6B"/>
                </a:solidFill>
                <a:latin typeface="Malgun Gothic"/>
                <a:ea typeface="Malgun Gothic"/>
              </a:rPr>
              <a:t>Jesse Niehaus PL-ILA-ORB 모르핀 DEG  |  Xenium 추가 추천  |  10/16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A6F9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37744"/>
            <a:ext cx="112471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1D4E89"/>
                </a:solidFill>
                <a:latin typeface="Malgun Gothic"/>
                <a:ea typeface="Malgun Gothic"/>
              </a:rPr>
              <a:t>ORB 농축 GPCR — Rxfp1이 1등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76656"/>
            <a:ext cx="1124712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0">
                <a:solidFill>
                  <a:srgbClr val="6B6B6B"/>
                </a:solidFill>
                <a:latin typeface="Malgun Gothic"/>
                <a:ea typeface="Malgun Gothic"/>
              </a:rPr>
              <a:t>이건 ‘모르핀이 바꿨다’가 아니라 ‘ORB 세포의 주소’다. Rxfp1만 무료 + Allen 확인.</a:t>
            </a:r>
          </a:p>
        </p:txBody>
      </p:sp>
      <p:pic>
        <p:nvPicPr>
          <p:cNvPr id="5" name="Picture 4" descr="KR_Fig2_ORB_GPC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1051560"/>
            <a:ext cx="10972800" cy="521208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6565392"/>
            <a:ext cx="1124712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0">
                <a:solidFill>
                  <a:srgbClr val="6B6B6B"/>
                </a:solidFill>
                <a:latin typeface="Malgun Gothic"/>
                <a:ea typeface="Malgun Gothic"/>
              </a:rPr>
              <a:t>Jesse Niehaus PL-ILA-ORB 모르핀 DEG  |  Xenium 추가 추천  |  11/16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B089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37744"/>
            <a:ext cx="112471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1D4E89"/>
                </a:solidFill>
                <a:latin typeface="Malgun Gothic"/>
                <a:ea typeface="Malgun Gothic"/>
              </a:rPr>
              <a:t>Rxfp1 을 리스트에 올리는 이유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76656"/>
            <a:ext cx="1124712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0">
                <a:solidFill>
                  <a:srgbClr val="6B6B6B"/>
                </a:solidFill>
                <a:latin typeface="Malgun Gothic"/>
                <a:ea typeface="Malgun Gothic"/>
              </a:rPr>
              <a:t>슬롯을 안 쓴다. Jesse의 해부 GPCR 1등이고, 우리 Allen ORBm에서도 보인다.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143000"/>
            <a:ext cx="1115568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700">
                <a:solidFill>
                  <a:srgbClr val="2C2C2C"/>
                </a:solidFill>
                <a:latin typeface="Malgun Gothic"/>
                <a:ea typeface="Malgun Gothic"/>
              </a:rPr>
              <a:t>•  Jesse: PL–ILA–ORB 19개 서브클래스에서 농축 (흥분 15 + 억제 4). 리스트 전체 1등.</a:t>
            </a:r>
          </a:p>
          <a:p>
            <a:pPr>
              <a:spcAft>
                <a:spcPts val="800"/>
              </a:spcAft>
            </a:pPr>
            <a:r>
              <a:rPr sz="1700">
                <a:solidFill>
                  <a:srgbClr val="2C2C2C"/>
                </a:solidFill>
                <a:latin typeface="Malgun Gothic"/>
                <a:ea typeface="Malgun Gothic"/>
              </a:rPr>
              <a:t>•  Xenium Mouse Brain v1 베이스에 이미 있음 → 주문 시트에 표시만 하면 된다.</a:t>
            </a:r>
          </a:p>
          <a:p>
            <a:pPr>
              <a:spcAft>
                <a:spcPts val="800"/>
              </a:spcAft>
            </a:pPr>
            <a:r>
              <a:rPr sz="1700">
                <a:solidFill>
                  <a:srgbClr val="2C2C2C"/>
                </a:solidFill>
                <a:latin typeface="Malgun Gothic"/>
                <a:ea typeface="Malgun Gothic"/>
              </a:rPr>
              <a:t>•  우리 Allen ORBm 앵커: 최대 34% (L5 ET), 11/12 앵커에서 ≥5%. 폭발적으로 많지는 않다.</a:t>
            </a:r>
          </a:p>
          <a:p>
            <a:pPr>
              <a:spcAft>
                <a:spcPts val="800"/>
              </a:spcAft>
            </a:pPr>
            <a:r>
              <a:rPr sz="1700">
                <a:solidFill>
                  <a:srgbClr val="2C2C2C"/>
                </a:solidFill>
                <a:latin typeface="Malgun Gothic"/>
                <a:ea typeface="Malgun Gothic"/>
              </a:rPr>
              <a:t>•  Hochgerner 논문에서도 BMA VGLUT2 아형 마커로 나오지만, Jesse 쪽 의미는 ORB 주소.</a:t>
            </a:r>
          </a:p>
          <a:p>
            <a:pPr>
              <a:spcAft>
                <a:spcPts val="800"/>
              </a:spcAft>
            </a:pPr>
            <a:r>
              <a:rPr sz="1700">
                <a:solidFill>
                  <a:srgbClr val="2C2C2C"/>
                </a:solidFill>
                <a:latin typeface="Malgun Gothic"/>
                <a:ea typeface="Malgun Gothic"/>
              </a:rPr>
              <a:t>•  Mas1(17)은 더 넓어 보이지만 우리 표에 없고, 보통 희귀하다. 지금은 넣지 말 것.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565392"/>
            <a:ext cx="1124712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0">
                <a:solidFill>
                  <a:srgbClr val="6B6B6B"/>
                </a:solidFill>
                <a:latin typeface="Malgun Gothic"/>
                <a:ea typeface="Malgun Gothic"/>
              </a:rPr>
              <a:t>Jesse Niehaus PL-ILA-ORB 모르핀 DEG  |  Xenium 추가 추천  |  12/16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D4E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37744"/>
            <a:ext cx="112471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1D4E89"/>
                </a:solidFill>
                <a:latin typeface="Malgun Gothic"/>
                <a:ea typeface="Malgun Gothic"/>
              </a:rPr>
              <a:t>우리 Allen ORBm으로 다시 본 풍부함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76656"/>
            <a:ext cx="1124712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0">
                <a:solidFill>
                  <a:srgbClr val="6B6B6B"/>
                </a:solidFill>
                <a:latin typeface="Malgun Gothic"/>
                <a:ea typeface="Malgun Gothic"/>
              </a:rPr>
              <a:t>Jesse가 넓다고 한 것과, Xenium에서 잡힐 것인지는 다른 질문이다.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11480" y="1051560"/>
          <a:ext cx="11338560" cy="5212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11680"/>
                <a:gridCol w="2926080"/>
                <a:gridCol w="3017520"/>
                <a:gridCol w="3383280"/>
              </a:tblGrid>
              <a:tr h="521208"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</a:rPr>
                        <a:t>유전자</a:t>
                      </a:r>
                    </a:p>
                  </a:txBody>
                  <a:tcPr>
                    <a:solidFill>
                      <a:srgbClr val="1D4E8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</a:rPr>
                        <a:t>Jesse</a:t>
                      </a:r>
                    </a:p>
                  </a:txBody>
                  <a:tcPr>
                    <a:solidFill>
                      <a:srgbClr val="1D4E8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</a:rPr>
                        <a:t>Allen ORBm 최대 %</a:t>
                      </a:r>
                    </a:p>
                  </a:txBody>
                  <a:tcPr>
                    <a:solidFill>
                      <a:srgbClr val="1D4E8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</a:rPr>
                        <a:t>해석</a:t>
                      </a:r>
                    </a:p>
                  </a:txBody>
                  <a:tcPr>
                    <a:solidFill>
                      <a:srgbClr val="1D4E89"/>
                    </a:solidFill>
                  </a:tcPr>
                </a:tc>
              </a:tr>
              <a:tr h="521208"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2C2C2C"/>
                          </a:solidFill>
                          <a:latin typeface="Malgun Gothic"/>
                          <a:ea typeface="Malgun Gothic"/>
                        </a:rPr>
                        <a:t>Egr3</a:t>
                      </a:r>
                    </a:p>
                  </a:txBody>
                  <a:tcPr>
                    <a:solidFill>
                      <a:srgbClr val="F4F1E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2C2C2C"/>
                          </a:solidFill>
                          <a:latin typeface="Malgun Gothic"/>
                          <a:ea typeface="Malgun Gothic"/>
                        </a:rPr>
                        <a:t>IEG DEG 5클러스터</a:t>
                      </a:r>
                    </a:p>
                  </a:txBody>
                  <a:tcPr>
                    <a:solidFill>
                      <a:srgbClr val="F4F1E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2C2C2C"/>
                          </a:solidFill>
                          <a:latin typeface="Malgun Gothic"/>
                          <a:ea typeface="Malgun Gothic"/>
                        </a:rPr>
                        <a:t>97%  (L4/5 IT)</a:t>
                      </a:r>
                    </a:p>
                  </a:txBody>
                  <a:tcPr>
                    <a:solidFill>
                      <a:srgbClr val="F4F1E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2C2C2C"/>
                          </a:solidFill>
                          <a:latin typeface="Malgun Gothic"/>
                          <a:ea typeface="Malgun Gothic"/>
                        </a:rPr>
                        <a:t>넣으면 거의 확실히 보임</a:t>
                      </a:r>
                    </a:p>
                  </a:txBody>
                  <a:tcPr>
                    <a:solidFill>
                      <a:srgbClr val="F4F1EA"/>
                    </a:solidFill>
                  </a:tcPr>
                </a:tc>
              </a:tr>
              <a:tr h="521208"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2C2C2C"/>
                          </a:solidFill>
                          <a:latin typeface="Malgun Gothic"/>
                          <a:ea typeface="Malgun Gothic"/>
                        </a:rPr>
                        <a:t>Vgf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2C2C2C"/>
                          </a:solidFill>
                          <a:latin typeface="Malgun Gothic"/>
                          <a:ea typeface="Malgun Gothic"/>
                        </a:rPr>
                        <a:t>가소성 4클러스터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2C2C2C"/>
                          </a:solidFill>
                          <a:latin typeface="Malgun Gothic"/>
                          <a:ea typeface="Malgun Gothic"/>
                        </a:rPr>
                        <a:t>84%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2C2C2C"/>
                          </a:solidFill>
                          <a:latin typeface="Malgun Gothic"/>
                          <a:ea typeface="Malgun Gothic"/>
                        </a:rPr>
                        <a:t>여유 있으면 좋음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21208"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2C2C2C"/>
                          </a:solidFill>
                          <a:latin typeface="Malgun Gothic"/>
                          <a:ea typeface="Malgun Gothic"/>
                        </a:rPr>
                        <a:t>Dusp1</a:t>
                      </a:r>
                    </a:p>
                  </a:txBody>
                  <a:tcPr>
                    <a:solidFill>
                      <a:srgbClr val="F4F1E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2C2C2C"/>
                          </a:solidFill>
                          <a:latin typeface="Malgun Gothic"/>
                          <a:ea typeface="Malgun Gothic"/>
                        </a:rPr>
                        <a:t>IEG DEG 6</a:t>
                      </a:r>
                    </a:p>
                  </a:txBody>
                  <a:tcPr>
                    <a:solidFill>
                      <a:srgbClr val="F4F1E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2C2C2C"/>
                          </a:solidFill>
                          <a:latin typeface="Malgun Gothic"/>
                          <a:ea typeface="Malgun Gothic"/>
                        </a:rPr>
                        <a:t>54%</a:t>
                      </a:r>
                    </a:p>
                  </a:txBody>
                  <a:tcPr>
                    <a:solidFill>
                      <a:srgbClr val="F4F1E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2C2C2C"/>
                          </a:solidFill>
                          <a:latin typeface="Malgun Gothic"/>
                          <a:ea typeface="Malgun Gothic"/>
                        </a:rPr>
                        <a:t>중간. 3순위로 충분</a:t>
                      </a:r>
                    </a:p>
                  </a:txBody>
                  <a:tcPr>
                    <a:solidFill>
                      <a:srgbClr val="F4F1EA"/>
                    </a:solidFill>
                  </a:tcPr>
                </a:tc>
              </a:tr>
              <a:tr h="521208"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2C2C2C"/>
                          </a:solidFill>
                          <a:latin typeface="Malgun Gothic"/>
                          <a:ea typeface="Malgun Gothic"/>
                        </a:rPr>
                        <a:t>Per1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2C2C2C"/>
                          </a:solidFill>
                          <a:latin typeface="Malgun Gothic"/>
                          <a:ea typeface="Malgun Gothic"/>
                        </a:rPr>
                        <a:t>IEG DEG 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2C2C2C"/>
                          </a:solidFill>
                          <a:latin typeface="Malgun Gothic"/>
                          <a:ea typeface="Malgun Gothic"/>
                        </a:rPr>
                        <a:t>63%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2C2C2C"/>
                          </a:solidFill>
                          <a:latin typeface="Malgun Gothic"/>
                          <a:ea typeface="Malgun Gothic"/>
                        </a:rPr>
                        <a:t>시계 짝. 2순위에 포함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21208"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2C2C2C"/>
                          </a:solidFill>
                          <a:latin typeface="Malgun Gothic"/>
                          <a:ea typeface="Malgun Gothic"/>
                        </a:rPr>
                        <a:t>Nr4a3</a:t>
                      </a:r>
                    </a:p>
                  </a:txBody>
                  <a:tcPr>
                    <a:solidFill>
                      <a:srgbClr val="F4F1E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2C2C2C"/>
                          </a:solidFill>
                          <a:latin typeface="Malgun Gothic"/>
                          <a:ea typeface="Malgun Gothic"/>
                        </a:rPr>
                        <a:t>IEG DEG 8</a:t>
                      </a:r>
                    </a:p>
                  </a:txBody>
                  <a:tcPr>
                    <a:solidFill>
                      <a:srgbClr val="F4F1E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2C2C2C"/>
                          </a:solidFill>
                          <a:latin typeface="Malgun Gothic"/>
                          <a:ea typeface="Malgun Gothic"/>
                        </a:rPr>
                        <a:t>63%</a:t>
                      </a:r>
                    </a:p>
                  </a:txBody>
                  <a:tcPr>
                    <a:solidFill>
                      <a:srgbClr val="F4F1E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2C2C2C"/>
                          </a:solidFill>
                          <a:latin typeface="Malgun Gothic"/>
                          <a:ea typeface="Malgun Gothic"/>
                        </a:rPr>
                        <a:t>Nr4a1이 이미 있음. 보조</a:t>
                      </a:r>
                    </a:p>
                  </a:txBody>
                  <a:tcPr>
                    <a:solidFill>
                      <a:srgbClr val="F4F1EA"/>
                    </a:solidFill>
                  </a:tcPr>
                </a:tc>
              </a:tr>
              <a:tr h="521208"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2C2C2C"/>
                          </a:solidFill>
                          <a:latin typeface="Malgun Gothic"/>
                          <a:ea typeface="Malgun Gothic"/>
                        </a:rPr>
                        <a:t>Crem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2C2C2C"/>
                          </a:solidFill>
                          <a:latin typeface="Malgun Gothic"/>
                          <a:ea typeface="Malgun Gothic"/>
                        </a:rPr>
                        <a:t>IEG DEG 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2C2C2C"/>
                          </a:solidFill>
                          <a:latin typeface="Malgun Gothic"/>
                          <a:ea typeface="Malgun Gothic"/>
                        </a:rPr>
                        <a:t>64%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2C2C2C"/>
                          </a:solidFill>
                          <a:latin typeface="Malgun Gothic"/>
                          <a:ea typeface="Malgun Gothic"/>
                        </a:rPr>
                        <a:t>3순위 끝자락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21208"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2C2C2C"/>
                          </a:solidFill>
                          <a:latin typeface="Malgun Gothic"/>
                          <a:ea typeface="Malgun Gothic"/>
                        </a:rPr>
                        <a:t>Rxfp1</a:t>
                      </a:r>
                    </a:p>
                  </a:txBody>
                  <a:tcPr>
                    <a:solidFill>
                      <a:srgbClr val="F4F1E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2C2C2C"/>
                          </a:solidFill>
                          <a:latin typeface="Malgun Gothic"/>
                          <a:ea typeface="Malgun Gothic"/>
                        </a:rPr>
                        <a:t>농축 19</a:t>
                      </a:r>
                    </a:p>
                  </a:txBody>
                  <a:tcPr>
                    <a:solidFill>
                      <a:srgbClr val="F4F1E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2C2C2C"/>
                          </a:solidFill>
                          <a:latin typeface="Malgun Gothic"/>
                          <a:ea typeface="Malgun Gothic"/>
                        </a:rPr>
                        <a:t>34%  (L5 ET)</a:t>
                      </a:r>
                    </a:p>
                  </a:txBody>
                  <a:tcPr>
                    <a:solidFill>
                      <a:srgbClr val="F4F1E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2C2C2C"/>
                          </a:solidFill>
                          <a:latin typeface="Malgun Gothic"/>
                          <a:ea typeface="Malgun Gothic"/>
                        </a:rPr>
                        <a:t>무료라서 올린다</a:t>
                      </a:r>
                    </a:p>
                  </a:txBody>
                  <a:tcPr>
                    <a:solidFill>
                      <a:srgbClr val="F4F1EA"/>
                    </a:solidFill>
                  </a:tcPr>
                </a:tc>
              </a:tr>
              <a:tr h="521208"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2C2C2C"/>
                          </a:solidFill>
                          <a:latin typeface="Malgun Gothic"/>
                          <a:ea typeface="Malgun Gothic"/>
                        </a:rPr>
                        <a:t>Per2 Pcsk1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2C2C2C"/>
                          </a:solidFill>
                          <a:latin typeface="Malgun Gothic"/>
                          <a:ea typeface="Malgun Gothic"/>
                        </a:rPr>
                        <a:t>가장 넓은 새 IEG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2C2C2C"/>
                          </a:solidFill>
                          <a:latin typeface="Malgun Gothic"/>
                          <a:ea typeface="Malgun Gothic"/>
                        </a:rPr>
                        <a:t>우리 A06에 없음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2C2C2C"/>
                          </a:solidFill>
                          <a:latin typeface="Malgun Gothic"/>
                          <a:ea typeface="Malgun Gothic"/>
                        </a:rPr>
                        <a:t>Jesse 근거로 넣는다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21208"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2C2C2C"/>
                          </a:solidFill>
                          <a:latin typeface="Malgun Gothic"/>
                          <a:ea typeface="Malgun Gothic"/>
                        </a:rPr>
                        <a:t>Mas1 Gpr68 Mchr1</a:t>
                      </a:r>
                    </a:p>
                  </a:txBody>
                  <a:tcPr>
                    <a:solidFill>
                      <a:srgbClr val="F4F1E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2C2C2C"/>
                          </a:solidFill>
                          <a:latin typeface="Malgun Gothic"/>
                          <a:ea typeface="Malgun Gothic"/>
                        </a:rPr>
                        <a:t>농축 13–17</a:t>
                      </a:r>
                    </a:p>
                  </a:txBody>
                  <a:tcPr>
                    <a:solidFill>
                      <a:srgbClr val="F4F1E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2C2C2C"/>
                          </a:solidFill>
                          <a:latin typeface="Malgun Gothic"/>
                          <a:ea typeface="Malgun Gothic"/>
                        </a:rPr>
                        <a:t>계산 안 함</a:t>
                      </a:r>
                    </a:p>
                  </a:txBody>
                  <a:tcPr>
                    <a:solidFill>
                      <a:srgbClr val="F4F1E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2C2C2C"/>
                          </a:solidFill>
                          <a:latin typeface="Malgun Gothic"/>
                          <a:ea typeface="Malgun Gothic"/>
                        </a:rPr>
                        <a:t>지금은 넣지 말 것</a:t>
                      </a:r>
                    </a:p>
                  </a:txBody>
                  <a:tcPr>
                    <a:solidFill>
                      <a:srgbClr val="F4F1EA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457200" y="6565392"/>
            <a:ext cx="1124712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0">
                <a:solidFill>
                  <a:srgbClr val="6B6B6B"/>
                </a:solidFill>
                <a:latin typeface="Malgun Gothic"/>
                <a:ea typeface="Malgun Gothic"/>
              </a:rPr>
              <a:t>Jesse Niehaus PL-ILA-ORB 모르핀 DEG  |  Xenium 추가 추천  |  13/16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B089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37744"/>
            <a:ext cx="112471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1D4E89"/>
                </a:solidFill>
                <a:latin typeface="Malgun Gothic"/>
                <a:ea typeface="Malgun Gothic"/>
              </a:rPr>
              <a:t>넣지 말 것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76656"/>
            <a:ext cx="1124712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0">
                <a:solidFill>
                  <a:srgbClr val="6B6B6B"/>
                </a:solidFill>
                <a:latin typeface="Malgun Gothic"/>
                <a:ea typeface="Malgun Gothic"/>
              </a:rPr>
              <a:t>Jesse 리스트가 크다고 해서 다 중요한 것이 아니다.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11480" y="1143000"/>
            <a:ext cx="3703320" cy="4937760"/>
          </a:xfrm>
          <a:prstGeom prst="roundRect">
            <a:avLst/>
          </a:prstGeom>
          <a:solidFill>
            <a:srgbClr val="FFFFFF"/>
          </a:solidFill>
          <a:ln>
            <a:solidFill>
              <a:srgbClr val="B0896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11480" y="1143000"/>
            <a:ext cx="3703320" cy="384048"/>
          </a:xfrm>
          <a:prstGeom prst="rect">
            <a:avLst/>
          </a:prstGeom>
          <a:solidFill>
            <a:srgbClr val="B089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21208" y="1197864"/>
            <a:ext cx="3520439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>
                <a:solidFill>
                  <a:srgbClr val="FFFFFF"/>
                </a:solidFill>
                <a:latin typeface="Malgun Gothic"/>
                <a:ea typeface="Malgun Gothic"/>
              </a:rPr>
              <a:t>TF 165개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39496" y="1618488"/>
            <a:ext cx="3447287" cy="437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>
                <a:solidFill>
                  <a:srgbClr val="2C2C2C"/>
                </a:solidFill>
                <a:latin typeface="Malgun Gothic"/>
                <a:ea typeface="Malgun Gothic"/>
              </a:rPr>
              <a:t>Arid5b(8) Banp(7)</a:t>
            </a:r>
          </a:p>
          <a:p>
            <a:r>
              <a:rPr sz="1300">
                <a:solidFill>
                  <a:srgbClr val="2C2C2C"/>
                </a:solidFill>
                <a:latin typeface="Malgun Gothic"/>
                <a:ea typeface="Malgun Gothic"/>
              </a:rPr>
              <a:t>Chd2 Klf10</a:t>
            </a:r>
          </a:p>
          <a:p>
            <a:r>
              <a:rPr sz="1300">
                <a:solidFill>
                  <a:srgbClr val="2C2C2C"/>
                </a:solidFill>
                <a:latin typeface="Malgun Gothic"/>
                <a:ea typeface="Malgun Gothic"/>
              </a:rPr>
              <a:t>아연핑거 여러 개</a:t>
            </a:r>
          </a:p>
          <a:p>
            <a:r>
              <a:rPr sz="1300">
                <a:solidFill>
                  <a:srgbClr val="2C2C2C"/>
                </a:solidFill>
                <a:latin typeface="Malgun Gothic"/>
                <a:ea typeface="Malgun Gothic"/>
              </a:rPr>
              <a:t/>
            </a:r>
          </a:p>
          <a:p>
            <a:r>
              <a:rPr sz="1300">
                <a:solidFill>
                  <a:srgbClr val="2C2C2C"/>
                </a:solidFill>
                <a:latin typeface="Malgun Gothic"/>
                <a:ea typeface="Malgun Gothic"/>
              </a:rPr>
              <a:t>염색질 반응이지</a:t>
            </a:r>
          </a:p>
          <a:p>
            <a:r>
              <a:rPr sz="1300">
                <a:solidFill>
                  <a:srgbClr val="2C2C2C"/>
                </a:solidFill>
                <a:latin typeface="Malgun Gothic"/>
                <a:ea typeface="Malgun Gothic"/>
              </a:rPr>
              <a:t>모르핀 특이 마커가 아님.</a:t>
            </a:r>
          </a:p>
          <a:p>
            <a:r>
              <a:rPr sz="1300">
                <a:solidFill>
                  <a:srgbClr val="2C2C2C"/>
                </a:solidFill>
                <a:latin typeface="Malgun Gothic"/>
                <a:ea typeface="Malgun Gothic"/>
              </a:rPr>
              <a:t>Jesse: MERFISH 먼저.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251960" y="1143000"/>
            <a:ext cx="3703320" cy="4937760"/>
          </a:xfrm>
          <a:prstGeom prst="roundRect">
            <a:avLst/>
          </a:prstGeom>
          <a:solidFill>
            <a:srgbClr val="FFFFFF"/>
          </a:solidFill>
          <a:ln>
            <a:solidFill>
              <a:srgbClr val="C445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251960" y="1143000"/>
            <a:ext cx="3703320" cy="384048"/>
          </a:xfrm>
          <a:prstGeom prst="rect">
            <a:avLst/>
          </a:prstGeom>
          <a:solidFill>
            <a:srgbClr val="C445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361688" y="1197864"/>
            <a:ext cx="3520439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>
                <a:solidFill>
                  <a:srgbClr val="FFFFFF"/>
                </a:solidFill>
                <a:latin typeface="Malgun Gothic"/>
                <a:ea typeface="Malgun Gothic"/>
              </a:rPr>
              <a:t>해부 GPCR 미확인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379976" y="1618488"/>
            <a:ext cx="3447287" cy="437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>
                <a:solidFill>
                  <a:srgbClr val="2C2C2C"/>
                </a:solidFill>
                <a:latin typeface="Malgun Gothic"/>
                <a:ea typeface="Malgun Gothic"/>
              </a:rPr>
              <a:t>Mas1  Gpr68</a:t>
            </a:r>
          </a:p>
          <a:p>
            <a:r>
              <a:rPr sz="1300">
                <a:solidFill>
                  <a:srgbClr val="2C2C2C"/>
                </a:solidFill>
                <a:latin typeface="Malgun Gothic"/>
                <a:ea typeface="Malgun Gothic"/>
              </a:rPr>
              <a:t>Mchr1  Grm8</a:t>
            </a:r>
          </a:p>
          <a:p>
            <a:r>
              <a:rPr sz="1300">
                <a:solidFill>
                  <a:srgbClr val="2C2C2C"/>
                </a:solidFill>
                <a:latin typeface="Malgun Gothic"/>
                <a:ea typeface="Malgun Gothic"/>
              </a:rPr>
              <a:t>Chrm1  Gpr26</a:t>
            </a:r>
          </a:p>
          <a:p>
            <a:r>
              <a:rPr sz="1300">
                <a:solidFill>
                  <a:srgbClr val="2C2C2C"/>
                </a:solidFill>
                <a:latin typeface="Malgun Gothic"/>
                <a:ea typeface="Malgun Gothic"/>
              </a:rPr>
              <a:t/>
            </a:r>
          </a:p>
          <a:p>
            <a:r>
              <a:rPr sz="1300">
                <a:solidFill>
                  <a:srgbClr val="2C2C2C"/>
                </a:solidFill>
                <a:latin typeface="Malgun Gothic"/>
                <a:ea typeface="Malgun Gothic"/>
              </a:rPr>
              <a:t>ORB vs 나머지 뇌.</a:t>
            </a:r>
          </a:p>
          <a:p>
            <a:r>
              <a:rPr sz="1300">
                <a:solidFill>
                  <a:srgbClr val="2C2C2C"/>
                </a:solidFill>
                <a:latin typeface="Malgun Gothic"/>
                <a:ea typeface="Malgun Gothic"/>
              </a:rPr>
              <a:t>의존 DEG가 아님.</a:t>
            </a:r>
          </a:p>
          <a:p>
            <a:r>
              <a:rPr sz="1300">
                <a:solidFill>
                  <a:srgbClr val="2C2C2C"/>
                </a:solidFill>
                <a:latin typeface="Malgun Gothic"/>
                <a:ea typeface="Malgun Gothic"/>
              </a:rPr>
              <a:t>우리 Allen 40-GPCR에</a:t>
            </a:r>
          </a:p>
          <a:p>
            <a:r>
              <a:rPr sz="1300">
                <a:solidFill>
                  <a:srgbClr val="2C2C2C"/>
                </a:solidFill>
                <a:latin typeface="Malgun Gothic"/>
                <a:ea typeface="Malgun Gothic"/>
              </a:rPr>
              <a:t>없어서 풍부함 모름.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092440" y="1143000"/>
            <a:ext cx="3703320" cy="4937760"/>
          </a:xfrm>
          <a:prstGeom prst="roundRect">
            <a:avLst/>
          </a:prstGeom>
          <a:solidFill>
            <a:srgbClr val="FFFFFF"/>
          </a:solidFill>
          <a:ln>
            <a:solidFill>
              <a:srgbClr val="6B7C6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8092440" y="1143000"/>
            <a:ext cx="3703320" cy="384048"/>
          </a:xfrm>
          <a:prstGeom prst="rect">
            <a:avLst/>
          </a:prstGeom>
          <a:solidFill>
            <a:srgbClr val="6B7C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02167" y="1197864"/>
            <a:ext cx="3520439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>
                <a:solidFill>
                  <a:srgbClr val="FFFFFF"/>
                </a:solidFill>
                <a:latin typeface="Malgun Gothic"/>
                <a:ea typeface="Malgun Gothic"/>
              </a:rPr>
              <a:t>이미 있는 것을 바꾸지 말 것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20456" y="1618488"/>
            <a:ext cx="3447287" cy="437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>
                <a:solidFill>
                  <a:srgbClr val="2C2C2C"/>
                </a:solidFill>
                <a:latin typeface="Malgun Gothic"/>
                <a:ea typeface="Malgun Gothic"/>
              </a:rPr>
              <a:t>Fos Arc Oprm1</a:t>
            </a:r>
          </a:p>
          <a:p>
            <a:r>
              <a:rPr sz="1300">
                <a:solidFill>
                  <a:srgbClr val="2C2C2C"/>
                </a:solidFill>
                <a:latin typeface="Malgun Gothic"/>
                <a:ea typeface="Malgun Gothic"/>
              </a:rPr>
              <a:t>Ntsr1 Egr1</a:t>
            </a:r>
          </a:p>
          <a:p>
            <a:r>
              <a:rPr sz="1300">
                <a:solidFill>
                  <a:srgbClr val="2C2C2C"/>
                </a:solidFill>
                <a:latin typeface="Malgun Gothic"/>
                <a:ea typeface="Malgun Gothic"/>
              </a:rPr>
              <a:t>를 Jesse TF로 교체 금지.</a:t>
            </a:r>
          </a:p>
          <a:p>
            <a:r>
              <a:rPr sz="1300">
                <a:solidFill>
                  <a:srgbClr val="2C2C2C"/>
                </a:solidFill>
                <a:latin typeface="Malgun Gothic"/>
                <a:ea typeface="Malgun Gothic"/>
              </a:rPr>
              <a:t/>
            </a:r>
          </a:p>
          <a:p>
            <a:r>
              <a:rPr sz="1300">
                <a:solidFill>
                  <a:srgbClr val="2C2C2C"/>
                </a:solidFill>
                <a:latin typeface="Malgun Gothic"/>
                <a:ea typeface="Malgun Gothic"/>
              </a:rPr>
              <a:t>TRAP 태그와 세포 타입</a:t>
            </a:r>
          </a:p>
          <a:p>
            <a:r>
              <a:rPr sz="1300">
                <a:solidFill>
                  <a:srgbClr val="2C2C2C"/>
                </a:solidFill>
                <a:latin typeface="Malgun Gothic"/>
                <a:ea typeface="Malgun Gothic"/>
              </a:rPr>
              <a:t>분리가 1순위이다.</a:t>
            </a:r>
          </a:p>
          <a:p>
            <a:r>
              <a:rPr sz="1300">
                <a:solidFill>
                  <a:srgbClr val="2C2C2C"/>
                </a:solidFill>
                <a:latin typeface="Malgun Gothic"/>
                <a:ea typeface="Malgun Gothic"/>
              </a:rPr>
              <a:t>상태 유전자는 그 위.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" y="6565392"/>
            <a:ext cx="1124712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0">
                <a:solidFill>
                  <a:srgbClr val="6B6B6B"/>
                </a:solidFill>
                <a:latin typeface="Malgun Gothic"/>
                <a:ea typeface="Malgun Gothic"/>
              </a:rPr>
              <a:t>Jesse Niehaus PL-ILA-ORB 모르핀 DEG  |  Xenium 추가 추천  |  14/16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D4E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37744"/>
            <a:ext cx="112471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1D4E89"/>
                </a:solidFill>
                <a:latin typeface="Malgun Gothic"/>
                <a:ea typeface="Malgun Gothic"/>
              </a:rPr>
              <a:t>추천 추가 리스트 (이 순서로)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76656"/>
            <a:ext cx="1124712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0">
                <a:solidFill>
                  <a:srgbClr val="6B6B6B"/>
                </a:solidFill>
                <a:latin typeface="Malgun Gothic"/>
                <a:ea typeface="Malgun Gothic"/>
              </a:rPr>
              <a:t>Dan 14개를 이미 넣으면 커스텀 114. 아래는 그 위에 쌓을지 결정.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11480" y="1051560"/>
          <a:ext cx="11338560" cy="5212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22960"/>
                <a:gridCol w="1463040"/>
                <a:gridCol w="822960"/>
                <a:gridCol w="5120640"/>
                <a:gridCol w="3108960"/>
              </a:tblGrid>
              <a:tr h="473825"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</a:rPr>
                        <a:t>순위</a:t>
                      </a:r>
                    </a:p>
                  </a:txBody>
                  <a:tcPr>
                    <a:solidFill>
                      <a:srgbClr val="1D4E8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</a:rPr>
                        <a:t>유전자</a:t>
                      </a:r>
                    </a:p>
                  </a:txBody>
                  <a:tcPr>
                    <a:solidFill>
                      <a:srgbClr val="1D4E8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</a:rPr>
                        <a:t>슬롯</a:t>
                      </a:r>
                    </a:p>
                  </a:txBody>
                  <a:tcPr>
                    <a:solidFill>
                      <a:srgbClr val="1D4E8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</a:rPr>
                        <a:t>이유</a:t>
                      </a:r>
                    </a:p>
                  </a:txBody>
                  <a:tcPr>
                    <a:solidFill>
                      <a:srgbClr val="1D4E8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</a:rPr>
                        <a:t>결정</a:t>
                      </a:r>
                    </a:p>
                  </a:txBody>
                  <a:tcPr>
                    <a:solidFill>
                      <a:srgbClr val="1D4E89"/>
                    </a:solidFill>
                  </a:tcPr>
                </a:tc>
              </a:tr>
              <a:tr h="473825"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2C2C2C"/>
                          </a:solidFill>
                          <a:latin typeface="Malgun Gothic"/>
                          <a:ea typeface="Malgun Gothic"/>
                        </a:rPr>
                        <a:t>1</a:t>
                      </a:r>
                    </a:p>
                  </a:txBody>
                  <a:tcPr>
                    <a:solidFill>
                      <a:srgbClr val="F4F1E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2C2C2C"/>
                          </a:solidFill>
                          <a:latin typeface="Malgun Gothic"/>
                          <a:ea typeface="Malgun Gothic"/>
                        </a:rPr>
                        <a:t>Rxfp1</a:t>
                      </a:r>
                    </a:p>
                  </a:txBody>
                  <a:tcPr>
                    <a:solidFill>
                      <a:srgbClr val="F4F1E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2C2C2C"/>
                          </a:solidFill>
                          <a:latin typeface="Malgun Gothic"/>
                          <a:ea typeface="Malgun Gothic"/>
                        </a:rPr>
                        <a:t>무료</a:t>
                      </a:r>
                    </a:p>
                  </a:txBody>
                  <a:tcPr>
                    <a:solidFill>
                      <a:srgbClr val="F4F1E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2C2C2C"/>
                          </a:solidFill>
                          <a:latin typeface="Malgun Gothic"/>
                          <a:ea typeface="Malgun Gothic"/>
                        </a:rPr>
                        <a:t>Jesse ORB GPCR 1등 + 베이스에 있음</a:t>
                      </a:r>
                    </a:p>
                  </a:txBody>
                  <a:tcPr>
                    <a:solidFill>
                      <a:srgbClr val="F4F1E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2C2C2C"/>
                          </a:solidFill>
                          <a:latin typeface="Malgun Gothic"/>
                          <a:ea typeface="Malgun Gothic"/>
                        </a:rPr>
                        <a:t>지금 올려라</a:t>
                      </a:r>
                    </a:p>
                  </a:txBody>
                  <a:tcPr>
                    <a:solidFill>
                      <a:srgbClr val="F4F1EA"/>
                    </a:solidFill>
                  </a:tcPr>
                </a:tc>
              </a:tr>
              <a:tr h="473825"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2C2C2C"/>
                          </a:solidFill>
                          <a:latin typeface="Malgun Gothic"/>
                          <a:ea typeface="Malgun Gothic"/>
                        </a:rPr>
                        <a:t>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2C2C2C"/>
                          </a:solidFill>
                          <a:latin typeface="Malgun Gothic"/>
                          <a:ea typeface="Malgun Gothic"/>
                        </a:rPr>
                        <a:t>Per2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2C2C2C"/>
                          </a:solidFill>
                          <a:latin typeface="Malgun Gothic"/>
                          <a:ea typeface="Malgun Gothic"/>
                        </a:rP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2C2C2C"/>
                          </a:solidFill>
                          <a:latin typeface="Malgun Gothic"/>
                          <a:ea typeface="Malgun Gothic"/>
                        </a:rPr>
                        <a:t>Jesse 최광역 IEG. Fos보다 넓다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2C2C2C"/>
                          </a:solidFill>
                          <a:latin typeface="Malgun Gothic"/>
                          <a:ea typeface="Malgun Gothic"/>
                        </a:rPr>
                        <a:t>모르핀 상태를 볼 거면 넣는다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73825"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2C2C2C"/>
                          </a:solidFill>
                          <a:latin typeface="Malgun Gothic"/>
                          <a:ea typeface="Malgun Gothic"/>
                        </a:rPr>
                        <a:t>3</a:t>
                      </a:r>
                    </a:p>
                  </a:txBody>
                  <a:tcPr>
                    <a:solidFill>
                      <a:srgbClr val="F4F1E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2C2C2C"/>
                          </a:solidFill>
                          <a:latin typeface="Malgun Gothic"/>
                          <a:ea typeface="Malgun Gothic"/>
                        </a:rPr>
                        <a:t>Pcsk1</a:t>
                      </a:r>
                    </a:p>
                  </a:txBody>
                  <a:tcPr>
                    <a:solidFill>
                      <a:srgbClr val="F4F1E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2C2C2C"/>
                          </a:solidFill>
                          <a:latin typeface="Malgun Gothic"/>
                          <a:ea typeface="Malgun Gothic"/>
                        </a:rPr>
                        <a:t>1</a:t>
                      </a:r>
                    </a:p>
                  </a:txBody>
                  <a:tcPr>
                    <a:solidFill>
                      <a:srgbClr val="F4F1E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2C2C2C"/>
                          </a:solidFill>
                          <a:latin typeface="Malgun Gothic"/>
                          <a:ea typeface="Malgun Gothic"/>
                        </a:rPr>
                        <a:t>두 번째 광역 IEG. 펩타이드 가공</a:t>
                      </a:r>
                    </a:p>
                  </a:txBody>
                  <a:tcPr>
                    <a:solidFill>
                      <a:srgbClr val="F4F1E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2C2C2C"/>
                          </a:solidFill>
                          <a:latin typeface="Malgun Gothic"/>
                          <a:ea typeface="Malgun Gothic"/>
                        </a:rPr>
                        <a:t>Per2와 세트로</a:t>
                      </a:r>
                    </a:p>
                  </a:txBody>
                  <a:tcPr>
                    <a:solidFill>
                      <a:srgbClr val="F4F1EA"/>
                    </a:solidFill>
                  </a:tcPr>
                </a:tc>
              </a:tr>
              <a:tr h="473825"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2C2C2C"/>
                          </a:solidFill>
                          <a:latin typeface="Malgun Gothic"/>
                          <a:ea typeface="Malgun Gothic"/>
                        </a:rPr>
                        <a:t>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2C2C2C"/>
                          </a:solidFill>
                          <a:latin typeface="Malgun Gothic"/>
                          <a:ea typeface="Malgun Gothic"/>
                        </a:rPr>
                        <a:t>Per1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2C2C2C"/>
                          </a:solidFill>
                          <a:latin typeface="Malgun Gothic"/>
                          <a:ea typeface="Malgun Gothic"/>
                        </a:rP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2C2C2C"/>
                          </a:solidFill>
                          <a:latin typeface="Malgun Gothic"/>
                          <a:ea typeface="Malgun Gothic"/>
                        </a:rPr>
                        <a:t>시계 짝. Allen 63%로 확인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2C2C2C"/>
                          </a:solidFill>
                          <a:latin typeface="Malgun Gothic"/>
                          <a:ea typeface="Malgun Gothic"/>
                        </a:rPr>
                        <a:t>Per2와 세트로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73825"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2C2C2C"/>
                          </a:solidFill>
                          <a:latin typeface="Malgun Gothic"/>
                          <a:ea typeface="Malgun Gothic"/>
                        </a:rPr>
                        <a:t>5</a:t>
                      </a:r>
                    </a:p>
                  </a:txBody>
                  <a:tcPr>
                    <a:solidFill>
                      <a:srgbClr val="F4F1E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2C2C2C"/>
                          </a:solidFill>
                          <a:latin typeface="Malgun Gothic"/>
                          <a:ea typeface="Malgun Gothic"/>
                        </a:rPr>
                        <a:t>Egr3</a:t>
                      </a:r>
                    </a:p>
                  </a:txBody>
                  <a:tcPr>
                    <a:solidFill>
                      <a:srgbClr val="F4F1E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2C2C2C"/>
                          </a:solidFill>
                          <a:latin typeface="Malgun Gothic"/>
                          <a:ea typeface="Malgun Gothic"/>
                        </a:rPr>
                        <a:t>1</a:t>
                      </a:r>
                    </a:p>
                  </a:txBody>
                  <a:tcPr>
                    <a:solidFill>
                      <a:srgbClr val="F4F1E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2C2C2C"/>
                          </a:solidFill>
                          <a:latin typeface="Malgun Gothic"/>
                          <a:ea typeface="Malgun Gothic"/>
                        </a:rPr>
                        <a:t>Allen 97%. Xenium에 잘 잡힘</a:t>
                      </a:r>
                    </a:p>
                  </a:txBody>
                  <a:tcPr>
                    <a:solidFill>
                      <a:srgbClr val="F4F1E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2C2C2C"/>
                          </a:solidFill>
                          <a:latin typeface="Malgun Gothic"/>
                          <a:ea typeface="Malgun Gothic"/>
                        </a:rPr>
                        <a:t>슬롯 남으면</a:t>
                      </a:r>
                    </a:p>
                  </a:txBody>
                  <a:tcPr>
                    <a:solidFill>
                      <a:srgbClr val="F4F1EA"/>
                    </a:solidFill>
                  </a:tcPr>
                </a:tc>
              </a:tr>
              <a:tr h="473825"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2C2C2C"/>
                          </a:solidFill>
                          <a:latin typeface="Malgun Gothic"/>
                          <a:ea typeface="Malgun Gothic"/>
                        </a:rPr>
                        <a:t>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2C2C2C"/>
                          </a:solidFill>
                          <a:latin typeface="Malgun Gothic"/>
                          <a:ea typeface="Malgun Gothic"/>
                        </a:rPr>
                        <a:t>Dusp1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2C2C2C"/>
                          </a:solidFill>
                          <a:latin typeface="Malgun Gothic"/>
                          <a:ea typeface="Malgun Gothic"/>
                        </a:rP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2C2C2C"/>
                          </a:solidFill>
                          <a:latin typeface="Malgun Gothic"/>
                          <a:ea typeface="Malgun Gothic"/>
                        </a:rPr>
                        <a:t>빠른 IEG, Allen 54%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2C2C2C"/>
                          </a:solidFill>
                          <a:latin typeface="Malgun Gothic"/>
                          <a:ea typeface="Malgun Gothic"/>
                        </a:rPr>
                        <a:t>슬롯 남으면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73825"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2C2C2C"/>
                          </a:solidFill>
                          <a:latin typeface="Malgun Gothic"/>
                          <a:ea typeface="Malgun Gothic"/>
                        </a:rPr>
                        <a:t>7</a:t>
                      </a:r>
                    </a:p>
                  </a:txBody>
                  <a:tcPr>
                    <a:solidFill>
                      <a:srgbClr val="F4F1E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2C2C2C"/>
                          </a:solidFill>
                          <a:latin typeface="Malgun Gothic"/>
                          <a:ea typeface="Malgun Gothic"/>
                        </a:rPr>
                        <a:t>Nr4a3</a:t>
                      </a:r>
                    </a:p>
                  </a:txBody>
                  <a:tcPr>
                    <a:solidFill>
                      <a:srgbClr val="F4F1E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2C2C2C"/>
                          </a:solidFill>
                          <a:latin typeface="Malgun Gothic"/>
                          <a:ea typeface="Malgun Gothic"/>
                        </a:rPr>
                        <a:t>1</a:t>
                      </a:r>
                    </a:p>
                  </a:txBody>
                  <a:tcPr>
                    <a:solidFill>
                      <a:srgbClr val="F4F1E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2C2C2C"/>
                          </a:solidFill>
                          <a:latin typeface="Malgun Gothic"/>
                          <a:ea typeface="Malgun Gothic"/>
                        </a:rPr>
                        <a:t>Nr4a1 형제, Allen 63%</a:t>
                      </a:r>
                    </a:p>
                  </a:txBody>
                  <a:tcPr>
                    <a:solidFill>
                      <a:srgbClr val="F4F1E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2C2C2C"/>
                          </a:solidFill>
                          <a:latin typeface="Malgun Gothic"/>
                          <a:ea typeface="Malgun Gothic"/>
                        </a:rPr>
                        <a:t>슬롯 남으면</a:t>
                      </a:r>
                    </a:p>
                  </a:txBody>
                  <a:tcPr>
                    <a:solidFill>
                      <a:srgbClr val="F4F1EA"/>
                    </a:solidFill>
                  </a:tcPr>
                </a:tc>
              </a:tr>
              <a:tr h="473825"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2C2C2C"/>
                          </a:solidFill>
                          <a:latin typeface="Malgun Gothic"/>
                          <a:ea typeface="Malgun Gothic"/>
                        </a:rPr>
                        <a:t>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2C2C2C"/>
                          </a:solidFill>
                          <a:latin typeface="Malgun Gothic"/>
                          <a:ea typeface="Malgun Gothic"/>
                        </a:rPr>
                        <a:t>Vgf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2C2C2C"/>
                          </a:solidFill>
                          <a:latin typeface="Malgun Gothic"/>
                          <a:ea typeface="Malgun Gothic"/>
                        </a:rP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2C2C2C"/>
                          </a:solidFill>
                          <a:latin typeface="Malgun Gothic"/>
                          <a:ea typeface="Malgun Gothic"/>
                        </a:rPr>
                        <a:t>가소성+분비, Allen 84%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2C2C2C"/>
                          </a:solidFill>
                          <a:latin typeface="Malgun Gothic"/>
                          <a:ea typeface="Malgun Gothic"/>
                        </a:rPr>
                        <a:t>더 남으면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73825"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2C2C2C"/>
                          </a:solidFill>
                          <a:latin typeface="Malgun Gothic"/>
                          <a:ea typeface="Malgun Gothic"/>
                        </a:rPr>
                        <a:t>—</a:t>
                      </a:r>
                    </a:p>
                  </a:txBody>
                  <a:tcPr>
                    <a:solidFill>
                      <a:srgbClr val="F4F1E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2C2C2C"/>
                          </a:solidFill>
                          <a:latin typeface="Malgun Gothic"/>
                          <a:ea typeface="Malgun Gothic"/>
                        </a:rPr>
                        <a:t>Mas1 등</a:t>
                      </a:r>
                    </a:p>
                  </a:txBody>
                  <a:tcPr>
                    <a:solidFill>
                      <a:srgbClr val="F4F1E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2C2C2C"/>
                          </a:solidFill>
                          <a:latin typeface="Malgun Gothic"/>
                          <a:ea typeface="Malgun Gothic"/>
                        </a:rPr>
                        <a:t>1+</a:t>
                      </a:r>
                    </a:p>
                  </a:txBody>
                  <a:tcPr>
                    <a:solidFill>
                      <a:srgbClr val="F4F1E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2C2C2C"/>
                          </a:solidFill>
                          <a:latin typeface="Malgun Gothic"/>
                          <a:ea typeface="Malgun Gothic"/>
                        </a:rPr>
                        <a:t>해부만, 풍부함 미증명</a:t>
                      </a:r>
                    </a:p>
                  </a:txBody>
                  <a:tcPr>
                    <a:solidFill>
                      <a:srgbClr val="F4F1E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2C2C2C"/>
                          </a:solidFill>
                          <a:latin typeface="Malgun Gothic"/>
                          <a:ea typeface="Malgun Gothic"/>
                        </a:rPr>
                        <a:t>넣지 말 것</a:t>
                      </a:r>
                    </a:p>
                  </a:txBody>
                  <a:tcPr>
                    <a:solidFill>
                      <a:srgbClr val="F4F1EA"/>
                    </a:solidFill>
                  </a:tcPr>
                </a:tc>
              </a:tr>
              <a:tr h="473830"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2C2C2C"/>
                          </a:solidFill>
                          <a:latin typeface="Malgun Gothic"/>
                          <a:ea typeface="Malgun Gothic"/>
                        </a:rPr>
                        <a:t>—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2C2C2C"/>
                          </a:solidFill>
                          <a:latin typeface="Malgun Gothic"/>
                          <a:ea typeface="Malgun Gothic"/>
                        </a:rPr>
                        <a:t>TF 다수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2C2C2C"/>
                          </a:solidFill>
                          <a:latin typeface="Malgun Gothic"/>
                          <a:ea typeface="Malgun Gothic"/>
                        </a:rPr>
                        <a:t>많음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2C2C2C"/>
                          </a:solidFill>
                          <a:latin typeface="Malgun Gothic"/>
                          <a:ea typeface="Malgun Gothic"/>
                        </a:rPr>
                        <a:t>염색질 반응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2C2C2C"/>
                          </a:solidFill>
                          <a:latin typeface="Malgun Gothic"/>
                          <a:ea typeface="Malgun Gothic"/>
                        </a:rPr>
                        <a:t>넣지 말 것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457200" y="6565392"/>
            <a:ext cx="1124712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0">
                <a:solidFill>
                  <a:srgbClr val="6B6B6B"/>
                </a:solidFill>
                <a:latin typeface="Malgun Gothic"/>
                <a:ea typeface="Malgun Gothic"/>
              </a:rPr>
              <a:t>Jesse Niehaus PL-ILA-ORB 모르핀 DEG  |  Xenium 추가 추천  |  15/16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D4E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37744"/>
            <a:ext cx="112471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1D4E89"/>
                </a:solidFill>
                <a:latin typeface="Malgun Gothic"/>
                <a:ea typeface="Malgun Gothic"/>
              </a:rPr>
              <a:t>세 가지 안 — 이렇게 결정하면 된다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76656"/>
            <a:ext cx="1124712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0">
                <a:solidFill>
                  <a:srgbClr val="6B6B6B"/>
                </a:solidFill>
                <a:latin typeface="Malgun Gothic"/>
                <a:ea typeface="Malgun Gothic"/>
              </a:rPr>
              <a:t>세포 타입 144는 건드리지 않는다. Dan 14는 이미 MSGS111에 있다.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65760" y="1143000"/>
            <a:ext cx="3749039" cy="4937760"/>
          </a:xfrm>
          <a:prstGeom prst="roundRect">
            <a:avLst/>
          </a:prstGeom>
          <a:solidFill>
            <a:srgbClr val="FFFFFF"/>
          </a:solidFill>
          <a:ln>
            <a:solidFill>
              <a:srgbClr val="C445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65760" y="1143000"/>
            <a:ext cx="3749039" cy="384048"/>
          </a:xfrm>
          <a:prstGeom prst="rect">
            <a:avLst/>
          </a:prstGeom>
          <a:solidFill>
            <a:srgbClr val="C445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75488" y="1197864"/>
            <a:ext cx="3566159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>
                <a:solidFill>
                  <a:srgbClr val="FFFFFF"/>
                </a:solidFill>
                <a:latin typeface="Malgun Gothic"/>
                <a:ea typeface="Malgun Gothic"/>
              </a:rPr>
              <a:t>A안  최소 (추천 기본)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93776" y="1618488"/>
            <a:ext cx="3493007" cy="437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>
                <a:solidFill>
                  <a:srgbClr val="2C2C2C"/>
                </a:solidFill>
                <a:latin typeface="Malgun Gothic"/>
                <a:ea typeface="Malgun Gothic"/>
              </a:rPr>
              <a:t>Rxfp1만 표시 (무료)</a:t>
            </a:r>
          </a:p>
          <a:p>
            <a:r>
              <a:rPr sz="1300">
                <a:solidFill>
                  <a:srgbClr val="2C2C2C"/>
                </a:solidFill>
                <a:latin typeface="Malgun Gothic"/>
                <a:ea typeface="Malgun Gothic"/>
              </a:rPr>
              <a:t>+ Per2 Pcsk1 Per1</a:t>
            </a:r>
          </a:p>
          <a:p>
            <a:r>
              <a:rPr sz="1300">
                <a:solidFill>
                  <a:srgbClr val="2C2C2C"/>
                </a:solidFill>
                <a:latin typeface="Malgun Gothic"/>
                <a:ea typeface="Malgun Gothic"/>
              </a:rPr>
              <a:t/>
            </a:r>
          </a:p>
          <a:p>
            <a:r>
              <a:rPr sz="1300">
                <a:solidFill>
                  <a:srgbClr val="2C2C2C"/>
                </a:solidFill>
                <a:latin typeface="Malgun Gothic"/>
                <a:ea typeface="Malgun Gothic"/>
              </a:rPr>
              <a:t>커스텀 +3</a:t>
            </a:r>
          </a:p>
          <a:p>
            <a:r>
              <a:rPr sz="1300">
                <a:solidFill>
                  <a:srgbClr val="2C2C2C"/>
                </a:solidFill>
                <a:latin typeface="Malgun Gothic"/>
                <a:ea typeface="Malgun Gothic"/>
              </a:rPr>
              <a:t>(Dan 유지 시 117)</a:t>
            </a:r>
          </a:p>
          <a:p>
            <a:r>
              <a:rPr sz="1300">
                <a:solidFill>
                  <a:srgbClr val="2C2C2C"/>
                </a:solidFill>
                <a:latin typeface="Malgun Gothic"/>
                <a:ea typeface="Malgun Gothic"/>
              </a:rPr>
              <a:t/>
            </a:r>
          </a:p>
          <a:p>
            <a:r>
              <a:rPr sz="1300">
                <a:solidFill>
                  <a:srgbClr val="2C2C2C"/>
                </a:solidFill>
                <a:latin typeface="Malgun Gothic"/>
                <a:ea typeface="Malgun Gothic"/>
              </a:rPr>
              <a:t>Jesse의 핵심 프로그램을</a:t>
            </a:r>
          </a:p>
          <a:p>
            <a:r>
              <a:rPr sz="1300">
                <a:solidFill>
                  <a:srgbClr val="2C2C2C"/>
                </a:solidFill>
                <a:latin typeface="Malgun Gothic"/>
                <a:ea typeface="Malgun Gothic"/>
              </a:rPr>
              <a:t>읽는다.</a:t>
            </a:r>
          </a:p>
          <a:p>
            <a:r>
              <a:rPr sz="1300">
                <a:solidFill>
                  <a:srgbClr val="2C2C2C"/>
                </a:solidFill>
                <a:latin typeface="Malgun Gothic"/>
                <a:ea typeface="Malgun Gothic"/>
              </a:rPr>
              <a:t/>
            </a:r>
          </a:p>
          <a:p>
            <a:r>
              <a:rPr sz="1300">
                <a:solidFill>
                  <a:srgbClr val="2C2C2C"/>
                </a:solidFill>
                <a:latin typeface="Malgun Gothic"/>
                <a:ea typeface="Malgun Gothic"/>
              </a:rPr>
              <a:t>내가 권하는 기본안.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251960" y="1143000"/>
            <a:ext cx="3749039" cy="4937760"/>
          </a:xfrm>
          <a:prstGeom prst="roundRect">
            <a:avLst/>
          </a:prstGeom>
          <a:solidFill>
            <a:srgbClr val="FFFFFF"/>
          </a:solidFill>
          <a:ln>
            <a:solidFill>
              <a:srgbClr val="2A6F9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251960" y="1143000"/>
            <a:ext cx="3749039" cy="384048"/>
          </a:xfrm>
          <a:prstGeom prst="rect">
            <a:avLst/>
          </a:prstGeom>
          <a:solidFill>
            <a:srgbClr val="2A6F9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361688" y="1197864"/>
            <a:ext cx="3566159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>
                <a:solidFill>
                  <a:srgbClr val="FFFFFF"/>
                </a:solidFill>
                <a:latin typeface="Malgun Gothic"/>
                <a:ea typeface="Malgun Gothic"/>
              </a:rPr>
              <a:t>B안  확장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379976" y="1618488"/>
            <a:ext cx="3493007" cy="437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>
                <a:solidFill>
                  <a:srgbClr val="2C2C2C"/>
                </a:solidFill>
                <a:latin typeface="Malgun Gothic"/>
                <a:ea typeface="Malgun Gothic"/>
              </a:rPr>
              <a:t>A안</a:t>
            </a:r>
          </a:p>
          <a:p>
            <a:r>
              <a:rPr sz="1300">
                <a:solidFill>
                  <a:srgbClr val="2C2C2C"/>
                </a:solidFill>
                <a:latin typeface="Malgun Gothic"/>
                <a:ea typeface="Malgun Gothic"/>
              </a:rPr>
              <a:t>+ Egr3 Dusp1 Nr4a3</a:t>
            </a:r>
          </a:p>
          <a:p>
            <a:r>
              <a:rPr sz="1300">
                <a:solidFill>
                  <a:srgbClr val="2C2C2C"/>
                </a:solidFill>
                <a:latin typeface="Malgun Gothic"/>
                <a:ea typeface="Malgun Gothic"/>
              </a:rPr>
              <a:t/>
            </a:r>
          </a:p>
          <a:p>
            <a:r>
              <a:rPr sz="1300">
                <a:solidFill>
                  <a:srgbClr val="2C2C2C"/>
                </a:solidFill>
                <a:latin typeface="Malgun Gothic"/>
                <a:ea typeface="Malgun Gothic"/>
              </a:rPr>
              <a:t>커스텀 +6</a:t>
            </a:r>
          </a:p>
          <a:p>
            <a:r>
              <a:rPr sz="1300">
                <a:solidFill>
                  <a:srgbClr val="2C2C2C"/>
                </a:solidFill>
                <a:latin typeface="Malgun Gothic"/>
                <a:ea typeface="Malgun Gothic"/>
              </a:rPr>
              <a:t/>
            </a:r>
          </a:p>
          <a:p>
            <a:r>
              <a:rPr sz="1300">
                <a:solidFill>
                  <a:srgbClr val="2C2C2C"/>
                </a:solidFill>
                <a:latin typeface="Malgun Gothic"/>
                <a:ea typeface="Malgun Gothic"/>
              </a:rPr>
              <a:t>Allen에서 잘 보이는</a:t>
            </a:r>
          </a:p>
          <a:p>
            <a:r>
              <a:rPr sz="1300">
                <a:solidFill>
                  <a:srgbClr val="2C2C2C"/>
                </a:solidFill>
                <a:latin typeface="Malgun Gothic"/>
                <a:ea typeface="Malgun Gothic"/>
              </a:rPr>
              <a:t>보조 IEG까지.</a:t>
            </a:r>
          </a:p>
          <a:p>
            <a:r>
              <a:rPr sz="1300">
                <a:solidFill>
                  <a:srgbClr val="2C2C2C"/>
                </a:solidFill>
                <a:latin typeface="Malgun Gothic"/>
                <a:ea typeface="Malgun Gothic"/>
              </a:rPr>
              <a:t>Xenium 신호가 확실.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138160" y="1143000"/>
            <a:ext cx="3749039" cy="4937760"/>
          </a:xfrm>
          <a:prstGeom prst="roundRect">
            <a:avLst/>
          </a:prstGeom>
          <a:solidFill>
            <a:srgbClr val="FFFFFF"/>
          </a:solidFill>
          <a:ln>
            <a:solidFill>
              <a:srgbClr val="B0896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8138160" y="1143000"/>
            <a:ext cx="3749039" cy="384048"/>
          </a:xfrm>
          <a:prstGeom prst="rect">
            <a:avLst/>
          </a:prstGeom>
          <a:solidFill>
            <a:srgbClr val="B089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47888" y="1197864"/>
            <a:ext cx="3566159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>
                <a:solidFill>
                  <a:srgbClr val="FFFFFF"/>
                </a:solidFill>
                <a:latin typeface="Malgun Gothic"/>
                <a:ea typeface="Malgun Gothic"/>
              </a:rPr>
              <a:t>C안  슬롯 고정 100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66176" y="1618488"/>
            <a:ext cx="3493007" cy="437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>
                <a:solidFill>
                  <a:srgbClr val="2C2C2C"/>
                </a:solidFill>
                <a:latin typeface="Malgun Gothic"/>
                <a:ea typeface="Malgun Gothic"/>
              </a:rPr>
              <a:t>세포타입 144 유지</a:t>
            </a:r>
          </a:p>
          <a:p>
            <a:r>
              <a:rPr sz="1300">
                <a:solidFill>
                  <a:srgbClr val="2C2C2C"/>
                </a:solidFill>
                <a:latin typeface="Malgun Gothic"/>
                <a:ea typeface="Malgun Gothic"/>
              </a:rPr>
              <a:t>Rxfp1만 추가 (무료)</a:t>
            </a:r>
          </a:p>
          <a:p>
            <a:r>
              <a:rPr sz="1300">
                <a:solidFill>
                  <a:srgbClr val="2C2C2C"/>
                </a:solidFill>
                <a:latin typeface="Malgun Gothic"/>
                <a:ea typeface="Malgun Gothic"/>
              </a:rPr>
              <a:t/>
            </a:r>
          </a:p>
          <a:p>
            <a:r>
              <a:rPr sz="1300">
                <a:solidFill>
                  <a:srgbClr val="2C2C2C"/>
                </a:solidFill>
                <a:latin typeface="Malgun Gothic"/>
                <a:ea typeface="Malgun Gothic"/>
              </a:rPr>
              <a:t>Dan 14와 Jesse DEG는</a:t>
            </a:r>
          </a:p>
          <a:p>
            <a:r>
              <a:rPr sz="1300">
                <a:solidFill>
                  <a:srgbClr val="2C2C2C"/>
                </a:solidFill>
                <a:latin typeface="Malgun Gothic"/>
                <a:ea typeface="Malgun Gothic"/>
              </a:rPr>
              <a:t>스왑 없이는 불가.</a:t>
            </a:r>
          </a:p>
          <a:p>
            <a:r>
              <a:rPr sz="1300">
                <a:solidFill>
                  <a:srgbClr val="2C2C2C"/>
                </a:solidFill>
                <a:latin typeface="Malgun Gothic"/>
                <a:ea typeface="Malgun Gothic"/>
              </a:rPr>
              <a:t/>
            </a:r>
          </a:p>
          <a:p>
            <a:r>
              <a:rPr sz="1300">
                <a:solidFill>
                  <a:srgbClr val="2C2C2C"/>
                </a:solidFill>
                <a:latin typeface="Malgun Gothic"/>
                <a:ea typeface="Malgun Gothic"/>
              </a:rPr>
              <a:t>모르핀 상태는</a:t>
            </a:r>
          </a:p>
          <a:p>
            <a:r>
              <a:rPr sz="1300">
                <a:solidFill>
                  <a:srgbClr val="2C2C2C"/>
                </a:solidFill>
                <a:latin typeface="Malgun Gothic"/>
                <a:ea typeface="Malgun Gothic"/>
              </a:rPr>
              <a:t>이번 슬라이드에서</a:t>
            </a:r>
          </a:p>
          <a:p>
            <a:r>
              <a:rPr sz="1300">
                <a:solidFill>
                  <a:srgbClr val="2C2C2C"/>
                </a:solidFill>
                <a:latin typeface="Malgun Gothic"/>
                <a:ea typeface="Malgun Gothic"/>
              </a:rPr>
              <a:t>포기하는 안.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" y="6565392"/>
            <a:ext cx="1124712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0">
                <a:solidFill>
                  <a:srgbClr val="6B6B6B"/>
                </a:solidFill>
                <a:latin typeface="Malgun Gothic"/>
                <a:ea typeface="Malgun Gothic"/>
              </a:rPr>
              <a:t>Jesse Niehaus PL-ILA-ORB 모르핀 DEG  |  Xenium 추가 추천  |  16/16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