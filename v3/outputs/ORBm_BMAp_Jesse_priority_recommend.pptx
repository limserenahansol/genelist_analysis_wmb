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D4E89"/>
                </a:solidFill>
                <a:latin typeface="Malgun Gothic"/>
              </a:rPr>
              <a:t>Jesse 모르핀 의존 DEG vs 우리 Xenium 패널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A4A"/>
                </a:solidFill>
                <a:latin typeface="Malgun Gothic"/>
              </a:rPr>
              <a:t>무엇이 가장 중요한 유전자이고, 무엇을 추가해야 하는가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A4A"/>
                </a:solidFill>
                <a:latin typeface="Malgun Gothic"/>
              </a:rPr>
              <a:t>5일 점증 모르핀 · DESeq2 subclass pseudobulk · padj ≤ 0.1 · PL-ILA-ORB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7A7A7A"/>
                </a:solidFill>
                <a:latin typeface="Malgun Gothic"/>
              </a:rPr>
              <a:t>Hansol Lim · 2026-09-09 · 주문서 FINAL_Xenium_panel_ORBm_BMAp_for_MSGS111.xlsx (shared 158)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Jesse가 보낸 것 —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PL-ILA-ORB, 5일 점증 모르핀, subclass별 pseudobulk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네 개의 DEG 리스트 (총 335행, unique 304개)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IEG 77 · 전사인자 179 · 시냅스 가소성 45 · GPCR 34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각 유전자마다 어느 subclass에서 DE인지 + 방향(Up/Down)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추가로 ORB 농축 GPCR 127개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Allen 4M-cell atlas 대비 PL-ILA-ORB에서 농축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Fisher, BH FDR ≤ 0.05, ≥5% 세포, enrichment ≥ 1.5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glut / GABA subclass 별로 따로 계산됨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생물학적으로 무엇을 말하는가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모르핀 의존은 ORBm의 한 세포타입 현상이 아님.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상위 유전자는 L2/3부터 L6b까지, 그리고 Pvalb/Sst/Vip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억제성 뉴런까지 12개 앵커 중 8~11개에서 같이 변함.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방향도 압도적으로 Up (상위 20개 중 15개).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즉 '광범위한 전사 상태 전환'이지, 소수 세포의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국소적 변화가 아님.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가장 강한 축은 circadian(Per1/Per2) + 펩타이드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처리(Pcsk1) + 즉시조기유전자/TF 계열.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핵심 결론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20440" cy="3931920"/>
          </a:xfrm>
          <a:prstGeom prst="rect">
            <a:avLst/>
          </a:prstGeom>
          <a:solidFill>
            <a:srgbClr val="F7F5F2"/>
          </a:solidFill>
          <a:ln w="2222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B7C6A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6B7C6A"/>
                </a:solidFill>
                <a:latin typeface="Malgun Gothic"/>
              </a:rPr>
              <a:t>활성 IEG 코어는 이미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30개가 이미 패널에 있음.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Fos, Arc, Egr1, Junb, Nr4a1/2,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Npas4, Bdnf — 8/12 앵커급 상위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유전자가 여기 포함됨.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20440" cy="3931920"/>
          </a:xfrm>
          <a:prstGeom prst="rect">
            <a:avLst/>
          </a:prstGeom>
          <a:solidFill>
            <a:srgbClr val="F7F5F2"/>
          </a:solidFill>
          <a:ln w="222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44536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44536"/>
                </a:solidFill>
                <a:latin typeface="Malgun Gothic"/>
              </a:rPr>
              <a:t>그런데 1등은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040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off-panel 상위: Per2(11), Pcsk1(9),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Arid5b(8), Per1(8), Tiparp(7).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전체 274개가 패널 밖.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가장 넓은 유전자가 빠져 있음.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54480"/>
            <a:ext cx="3520440" cy="3931920"/>
          </a:xfrm>
          <a:prstGeom prst="rect">
            <a:avLst/>
          </a:prstGeom>
          <a:solidFill>
            <a:srgbClr val="F7F5F2"/>
          </a:solidFill>
          <a:ln w="2222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6F97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6F97"/>
                </a:solidFill>
                <a:latin typeface="Malgun Gothic"/>
              </a:rPr>
              <a:t>공짜로 얻을 게 남았다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Bhlhe40(4앵커), Sema3e(3앵커)는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Xenium base에 이미 있어 슬롯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비용 0. 지금 안 넣을 이유가 없음.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패널 커버리지 — 리스트별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SHARED_PANEL_ORDER 158개 기준으로 실제 파일에서 재계산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1691640"/>
                <a:gridCol w="1280160"/>
                <a:gridCol w="512064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Jesse 리스트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n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패널에 있음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없지만 base 공짜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 — Sema3e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179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165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5 — Bhlhe40, Gadd45a, Id2…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SynPlast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4 — Shisa6, Sorcs3, Unc13c…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GPCR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 — Rxfp1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ORB 농축 GPCR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2 — Rxfp1, Ntsr2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06240"/>
            <a:ext cx="11201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읽는 법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IEG는 13/77로 낮아 보이지만, 빠진 64개는 대부분 1~2개 subclass에서만 DE인 잔가지.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반대로 TF는 14/179 — 넓은 TF(Arid5b, Banp, Klf10, Zbtb40)가 통째로 빠져 있어 실질 손실이 큼.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GPCR DEG 10/34은 오피오이드 수용체(Oprm1/d1/k1)와 세로토닌계를 이미 들고 있어서 나온 숫자.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가장 중요한 유전자 — 우리 ORBm 세포타입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'중요하다'의 기준 = 우리가 실제로 이미징하는 12개 ORBm 앵커 중 몇 개에서 DE인가</a:t>
            </a:r>
          </a:p>
        </p:txBody>
      </p:sp>
      <p:pic>
        <p:nvPicPr>
          <p:cNvPr id="5" name="Picture 4" descr="top_brea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5209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06840" y="1600200"/>
            <a:ext cx="2971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왜 이 기준인가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Jesse의 n_DE_clusters는 PL·ILA까지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포함한 수입니다. 우리 슬라이드에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실제로 찍히는 건 ORBm 앵커 12개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뿐이라, 그 교집합으로 다시 셌습니다.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초록 = 이미 패널에 있음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청록 = base 공짜, 아직 안 넣음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빨강 = 커스텀 슬롯 필요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제일 긴 막대 두 개가 빨강입니다.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가장 넓게 변하는 유전자를 지금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못 읽는다는 뜻입니다.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리스트별 커버리지 — 그림</a:t>
            </a:r>
          </a:p>
        </p:txBody>
      </p:sp>
      <p:pic>
        <p:nvPicPr>
          <p:cNvPr id="4" name="Picture 3" descr="lis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63040"/>
            <a:ext cx="856284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8076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초록만 우리가 지금 읽을 수 있는 부분입니다. 청록은 비용 0인데 아직 주문서에 없는 부분.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Tier 0 — 지금 넣으세요 (슬롯 비용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Xenium 마우스 뇌 base 패널에 이미 포함 → 커스텀 슬롯을 쓰지 않음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143000"/>
                <a:gridCol w="1280160"/>
                <a:gridCol w="914400"/>
                <a:gridCol w="1691640"/>
                <a:gridCol w="493776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리스트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ORBm 앵커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비용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Bhlhe40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 (base 공짜)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12개 앵커 중 4개 Up — Tier 0 중 가장 넓음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Sema3e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 (base 공짜)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3개 앵커 Up — 이전에도 '공짜인데 안 넣음'으로 지적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GPCR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 (base 공짜)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ORBm 앵커 DE 0개. ORB 농축 GPCR 19 subclass로만 정당화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Gadd45a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 (base 공짜)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1개 앵커 Up — IEG 인접 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840480"/>
            <a:ext cx="11201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왜 이게 먼저인가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Bhlhe40 은 12개 앵커 중 4개에서 Up. 대사·circadian 연결 TF로 Per1/Per2 축과 같은 방향을 봅니다.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Sema3e 는 3개 앵커에서 Up. 이전 보고에서 '공짜인데 안 넣음'으로 이미 지적된 유전자.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Rxfp1 은 DEG로는 ORBm 앵커 0개입니다 — 모르핀 상태 마커로는 근거가 약합니다.</a:t>
            </a:r>
          </a:p>
          <a:p>
            <a:pPr algn="l" lvl="2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다만 PL-ILA-ORB 19개 subclass(glut 15/GABA 4)에 농축된 GPCR이고 공짜라, 회로 표지로만 넣을 값어치가 있습니다.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결정: 이 4개는 슬롯 예산과 무관하므로 주문서에 넣는 것이 순손실이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Tier 1 — 핵심 추가 (커스텀 슬롯 필요)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ORBm 앵커 12개 중 8개 이상에서 DE · 전부 Up · 전부 패널 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234440"/>
                <a:gridCol w="1234440"/>
                <a:gridCol w="868680"/>
                <a:gridCol w="557784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리스트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ORBm 앵커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Glut/GABA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무엇을 보는가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8/3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circadian clock — 만성 오피오이드/금단에서 반복 보고되는 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Pcsk1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8/1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prohormone convertase — proenkephalin/POMC 절단, 오피오이드 펩타이드 처리에 직결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Arid5b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넓은 TF, 억제성 뉴런까지 커버 (glut 6 / GABA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7/1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Per2와 같은 clock 축, 독립 확인용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14800"/>
            <a:ext cx="11201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이전 '4개 모르핀 레이어'와 무엇이 다른가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이전 목록은 Rxfp1, Per2, Pcsk1, Per1 이었습니다. Rxfp1은 ORBm 앵커 DE가 0이라 이 표에서 빠지고,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대신 Arid5b (앵커 8개, Per1과 동급)가 들어옵니다. 눈으로 고른 4개가 아니라 폭으로 정렬한 결과입니다.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비용: 커스텀 슬롯 4개. Tier 0의 공짜 4개와 합치면 8개 추가에 슬롯은 4개만 소모.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Tier 2 — 여력이 있으면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ORBm 앵커 6~7개 · 폭은 충분하지만 Tier 1보다 해석이 덜 직접적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188720"/>
                <a:gridCol w="1234440"/>
                <a:gridCol w="914400"/>
                <a:gridCol w="662940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리스트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ORBm 앵커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메모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Tiparp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IEG, 7개 앵커 전부 Glut — AHR 경로 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Banp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넓은 TF, 7개 앵커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Fxr1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SynPlast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가소성, RNA 결합 — 7개 앵커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Maml3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IEG, Notch 보조활성인자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Vps13a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SynPlast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가소성, glut 5 + GABA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Camk2g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SynPlast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Down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가장 강한 Down 유전자 (6개 앵커) — 방향이 반대라 대조군으로 유용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Chd2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크로마틴 리모델러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Dusp1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MAPK 음성 피드백, 전형 IEG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Down, 6개 앵커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Klf10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TGF-beta 연결 TF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94960"/>
            <a:ext cx="11201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Camk2g 를 한 개라도 넣는 것을 권합니다. 상위권이 거의 다 Up이라, Down 유전자 하나가 있으면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'전체적으로 발현이 올라간 것'이 아니라 '방향성 있는 상태 전환'임을 슬라이드에서 직접 보일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추천 유전자가 흥분성·억제성 둘 다에서 작동하는가</a:t>
            </a:r>
          </a:p>
        </p:txBody>
      </p:sp>
      <p:pic>
        <p:nvPicPr>
          <p:cNvPr id="4" name="Picture 3" descr="glut_vs_ga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17320"/>
            <a:ext cx="7227147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201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억제성 뉴런까지 닿는 것은 Per2 (glut 8 / GABA 3), Arid5b (6/2), Vps13a (5/2) 뿐입니다.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Tiparp·Camk2g·Chd2·Dusp1·Hunk·Klf10 은 GABA 앵커 0 — Glut 전용입니다.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따라서 인터뉴런에서도 의존 상태를 보려면 Per2 와 Arid5b 가 사실상 필수입니다.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최종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algun Gothic"/>
              </a:rPr>
              <a:t>주문서에 아직 반영 안 됨 — 결정 필요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029200"/>
                <a:gridCol w="1371600"/>
                <a:gridCol w="306324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비용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권고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Tier 0 (공짜)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Bhlhe40, Sema3e, Rxfp1, Gadd45a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 슬롯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넣기 — 비용이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Tier 1 (핵심)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Per2, Pcsk1, Arid5b, Per1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4 슬롯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넣기 — 모르핀 상태 레이어의 실체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Tier 2 (선택)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Camk2g, Tiparp, Banp, Fxr1, Maml3, Vps13a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최대 6 슬롯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Camk2g만이라도 (Down 대조)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Tier 3 (보류)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Egr3, Egr4, Crem, Nr4a3, Hrh1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5 슬롯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IEG+TF 이중 근거지만 앵커 5개 이하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840480"/>
            <a:ext cx="11201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제가 권하는 최소안: Tier 0 전부 + Tier 1 전부 + Camk2g = 커스텀 슬롯 5개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이것만으로 '이 ORBm 세포가 모르핀 의존처럼 보이는가'를 흥분성·억제성 양쪽에서 묻고,</a:t>
            </a:r>
          </a:p>
          <a:p>
            <a:pPr algn="l" lvl="1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Down 유전자 하나로 방향성까지 확인할 수 있습니다.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주의: 이 유전자들은 세포타입 마커가 아닙니다. 지금 패널로도 20개 세포타입 분리는 그대로 유지됩니다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(ANCHOR_COVERAGE 확인). 추가하면 같은 L5 IT 안에서 '의존 시그니처 켜진 세포 vs 안 켜진 세포'를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가를 수 있게 됩니다. 안 넣으면 세포타입 ID와 TRAP 비교는 되지만 모르핀 상태는 공간적으로 못 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D4E89"/>
                </a:solidFill>
                <a:latin typeface="Malgun Gothic"/>
              </a:rPr>
              <a:t>현재 상태 /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주문서 (변경 없음)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FINAL_Xenium_panel_ORBm_BMAp_for_MSGS111.xlsx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shared 158 = 144 curated + 14 (Dan GSE283418)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Jesse 유전자는 아직 한 개도 안 들어감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20개 세포타입 분리 전부 유지 확인됨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재현 방법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python v3/E_Planning/rank_jesse_priority_deck.py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입력은 전부 repo 경로 (Downloads 아님)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4630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결정해야 할 것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1. Tier 0 네 개를 넣을까 (비용 0)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2. Tier 1 네 개에 슬롯 4개를 쓸까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3. Camk2g 를 Down 대조로 넣을까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결정하면 반영되는 곳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SHARED_PANEL_ORDER · ORBm_ORDER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(BMAp_ORDER는 그대로 — Jesse 데이터는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PL-ILA-ORB, 즉 ORBm 쪽만 해당)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