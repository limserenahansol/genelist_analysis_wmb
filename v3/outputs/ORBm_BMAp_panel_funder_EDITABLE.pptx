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What the 245 genes do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1D4E89"/>
              </a:solidFill>
            </c:spPr>
          </c:dPt>
          <c:dPt>
            <c:idx val="1"/>
            <c:spPr>
              <a:solidFill>
                <a:srgbClr val="B08968"/>
              </a:solidFill>
            </c:spPr>
          </c:dPt>
          <c:dPt>
            <c:idx val="2"/>
            <c:spPr>
              <a:solidFill>
                <a:srgbClr val="2A6F97"/>
              </a:solidFill>
            </c:spPr>
          </c:dPt>
          <c:dPt>
            <c:idx val="3"/>
            <c:spPr>
              <a:solidFill>
                <a:srgbClr val="6B7C6A"/>
              </a:solidFill>
            </c:spPr>
          </c:dPt>
          <c:dPt>
            <c:idx val="4"/>
            <c:spPr>
              <a:solidFill>
                <a:srgbClr val="C44536"/>
              </a:solidFill>
            </c:spPr>
          </c:dPt>
          <c:dPt>
            <c:idx val="5"/>
            <c:spPr>
              <a:solidFill>
                <a:srgbClr val="B8B2A8"/>
              </a:solidFill>
            </c:spPr>
          </c:dPt>
          <c:cat>
            <c:strRef>
              <c:f>Sheet1!$A$2:$A$7</c:f>
              <c:strCache>
                <c:ptCount val="6"/>
                <c:pt idx="0">
                  <c:v>Cell identity and region</c:v>
                </c:pt>
                <c:pt idx="1">
                  <c:v>Amygdala extras (Dan)</c:v>
                </c:pt>
                <c:pt idx="2">
                  <c:v>Druggable receptor map</c:v>
                </c:pt>
                <c:pt idx="3">
                  <c:v>Activity and plasticity</c:v>
                </c:pt>
                <c:pt idx="4">
                  <c:v>Morphine-dependence state</c:v>
                </c:pt>
                <c:pt idx="5">
                  <c:v>TRAP genetic tag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26</c:v>
                </c:pt>
                <c:pt idx="2">
                  <c:v>46</c:v>
                </c:pt>
                <c:pt idx="3">
                  <c:v>20</c:v>
                </c:pt>
                <c:pt idx="4">
                  <c:v>54</c:v>
                </c:pt>
                <c:pt idx="5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ORBm  -  12 populations, 83,406 cells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1D4E89"/>
              </a:solidFill>
            </c:spPr>
          </c:dPt>
          <c:dPt>
            <c:idx val="1"/>
            <c:spPr>
              <a:solidFill>
                <a:srgbClr val="1D4E89"/>
              </a:solidFill>
            </c:spPr>
          </c:dPt>
          <c:dPt>
            <c:idx val="2"/>
            <c:spPr>
              <a:solidFill>
                <a:srgbClr val="1D4E89"/>
              </a:solidFill>
            </c:spPr>
          </c:dPt>
          <c:dPt>
            <c:idx val="3"/>
            <c:spPr>
              <a:solidFill>
                <a:srgbClr val="1D4E89"/>
              </a:solidFill>
            </c:spPr>
          </c:dPt>
          <c:dPt>
            <c:idx val="4"/>
            <c:spPr>
              <a:solidFill>
                <a:srgbClr val="1D4E89"/>
              </a:solidFill>
            </c:spPr>
          </c:dPt>
          <c:dPt>
            <c:idx val="5"/>
            <c:spPr>
              <a:solidFill>
                <a:srgbClr val="1D4E89"/>
              </a:solidFill>
            </c:spPr>
          </c:dPt>
          <c:dPt>
            <c:idx val="6"/>
            <c:spPr>
              <a:solidFill>
                <a:srgbClr val="1D4E89"/>
              </a:solidFill>
            </c:spPr>
          </c:dPt>
          <c:dPt>
            <c:idx val="7"/>
            <c:spPr>
              <a:solidFill>
                <a:srgbClr val="1D4E89"/>
              </a:solidFill>
            </c:spPr>
          </c:dPt>
          <c:dPt>
            <c:idx val="8"/>
            <c:spPr>
              <a:solidFill>
                <a:srgbClr val="1D4E89"/>
              </a:solidFill>
            </c:spPr>
          </c:dPt>
          <c:dPt>
            <c:idx val="9"/>
            <c:spPr>
              <a:solidFill>
                <a:srgbClr val="1D4E89"/>
              </a:solidFill>
            </c:spPr>
          </c:dPt>
          <c:dPt>
            <c:idx val="10"/>
            <c:spPr>
              <a:solidFill>
                <a:srgbClr val="1D4E89"/>
              </a:solidFill>
            </c:spPr>
          </c:dPt>
          <c:dPt>
            <c:idx val="11"/>
            <c:spPr>
              <a:solidFill>
                <a:srgbClr val="1D4E89"/>
              </a:solidFill>
            </c:spPr>
          </c:dPt>
          <c:cat>
            <c:strRef>
              <c:f>Sheet1!$A$2:$A$13</c:f>
              <c:strCache>
                <c:ptCount val="12"/>
                <c:pt idx="0">
                  <c:v>L2/3 IT CTX Glut</c:v>
                </c:pt>
                <c:pt idx="1">
                  <c:v>L4/5 IT CTX Glut</c:v>
                </c:pt>
                <c:pt idx="2">
                  <c:v>L5 IT CTX Glut</c:v>
                </c:pt>
                <c:pt idx="3">
                  <c:v>L5 ET CTX Glut</c:v>
                </c:pt>
                <c:pt idx="4">
                  <c:v>L5 NP CTX Glut</c:v>
                </c:pt>
                <c:pt idx="5">
                  <c:v>L6 CT CTX Glut</c:v>
                </c:pt>
                <c:pt idx="6">
                  <c:v>L6b CTX Glut</c:v>
                </c:pt>
                <c:pt idx="7">
                  <c:v>L6 IT CTX Glut</c:v>
                </c:pt>
                <c:pt idx="8">
                  <c:v>Pvalb Gaba</c:v>
                </c:pt>
                <c:pt idx="9">
                  <c:v>Sst Gaba</c:v>
                </c:pt>
                <c:pt idx="10">
                  <c:v>Vip Gaba</c:v>
                </c:pt>
                <c:pt idx="11">
                  <c:v>Lamp5 Gaba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8869</c:v>
                </c:pt>
                <c:pt idx="1">
                  <c:v>14152</c:v>
                </c:pt>
                <c:pt idx="2">
                  <c:v>4419</c:v>
                </c:pt>
                <c:pt idx="3">
                  <c:v>3739</c:v>
                </c:pt>
                <c:pt idx="4">
                  <c:v>3988</c:v>
                </c:pt>
                <c:pt idx="5">
                  <c:v>21453</c:v>
                </c:pt>
                <c:pt idx="6">
                  <c:v>1586</c:v>
                </c:pt>
                <c:pt idx="7">
                  <c:v>11338</c:v>
                </c:pt>
                <c:pt idx="8">
                  <c:v>2869</c:v>
                </c:pt>
                <c:pt idx="9">
                  <c:v>5377</c:v>
                </c:pt>
                <c:pt idx="10">
                  <c:v>3277</c:v>
                </c:pt>
                <c:pt idx="11">
                  <c:v>2339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BMAp  -  8 populations, 40,709 cells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2A6F97"/>
              </a:solidFill>
            </c:spPr>
          </c:dPt>
          <c:dPt>
            <c:idx val="1"/>
            <c:spPr>
              <a:solidFill>
                <a:srgbClr val="2A6F97"/>
              </a:solidFill>
            </c:spPr>
          </c:dPt>
          <c:dPt>
            <c:idx val="2"/>
            <c:spPr>
              <a:solidFill>
                <a:srgbClr val="2A6F97"/>
              </a:solidFill>
            </c:spPr>
          </c:dPt>
          <c:dPt>
            <c:idx val="3"/>
            <c:spPr>
              <a:solidFill>
                <a:srgbClr val="2A6F97"/>
              </a:solidFill>
            </c:spPr>
          </c:dPt>
          <c:dPt>
            <c:idx val="4"/>
            <c:spPr>
              <a:solidFill>
                <a:srgbClr val="2A6F97"/>
              </a:solidFill>
            </c:spPr>
          </c:dPt>
          <c:dPt>
            <c:idx val="5"/>
            <c:spPr>
              <a:solidFill>
                <a:srgbClr val="2A6F97"/>
              </a:solidFill>
            </c:spPr>
          </c:dPt>
          <c:dPt>
            <c:idx val="6"/>
            <c:spPr>
              <a:solidFill>
                <a:srgbClr val="2A6F97"/>
              </a:solidFill>
            </c:spPr>
          </c:dPt>
          <c:dPt>
            <c:idx val="7"/>
            <c:spPr>
              <a:solidFill>
                <a:srgbClr val="2A6F97"/>
              </a:solidFill>
            </c:spPr>
          </c:dPt>
          <c:cat>
            <c:strRef>
              <c:f>Sheet1!$A$2:$A$9</c:f>
              <c:strCache>
                <c:ptCount val="8"/>
                <c:pt idx="0">
                  <c:v>MEA Slc17a7 Glut</c:v>
                </c:pt>
                <c:pt idx="1">
                  <c:v>MEA-COA-BMA Ccdc42 Glut</c:v>
                </c:pt>
                <c:pt idx="2">
                  <c:v>MEA Otp Foxp2 Glut</c:v>
                </c:pt>
                <c:pt idx="3">
                  <c:v>MEA-BST Otp Zic2 Glut</c:v>
                </c:pt>
                <c:pt idx="4">
                  <c:v>SI-MA-LPO-LHA Skor1 Glut</c:v>
                </c:pt>
                <c:pt idx="5">
                  <c:v>MEA-BST Sox6 Gaba</c:v>
                </c:pt>
                <c:pt idx="6">
                  <c:v>MEA-BST Lhx6 Sp9 Gaba</c:v>
                </c:pt>
                <c:pt idx="7">
                  <c:v>CEA-BST Ebf1 Pdyn Gaba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3984</c:v>
                </c:pt>
                <c:pt idx="1">
                  <c:v>9654</c:v>
                </c:pt>
                <c:pt idx="2">
                  <c:v>1504</c:v>
                </c:pt>
                <c:pt idx="3">
                  <c:v>1255</c:v>
                </c:pt>
                <c:pt idx="4">
                  <c:v>2180</c:v>
                </c:pt>
                <c:pt idx="5">
                  <c:v>8705</c:v>
                </c:pt>
                <c:pt idx="6">
                  <c:v>6461</c:v>
                </c:pt>
                <c:pt idx="7">
                  <c:v>6966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D4E89"/>
                </a:solidFill>
                <a:latin typeface="Calibri"/>
              </a:rPr>
              <a:t>How the gene panel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Standalone custom Xenium panel  -  no 100-gene add-on cap.  A gene still has to earn its place: detectable here, and informative for cell type, activity, state, or a receptor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custom Xenium panel  |  Allen WMB-10X  |  1/6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961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D4E89"/>
                </a:solidFill>
                <a:latin typeface="Calibri"/>
              </a:rPr>
              <a:t>WHERE THE CANDIDATES CAME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89611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D4E89"/>
                </a:solidFill>
                <a:latin typeface="Calibri"/>
              </a:rPr>
              <a:t>FOUR DECISION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8961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D4E89"/>
                </a:solidFill>
                <a:latin typeface="Calibri"/>
              </a:rPr>
              <a:t>WHAT WE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88720"/>
            <a:ext cx="3017520" cy="1353312"/>
          </a:xfrm>
          <a:prstGeom prst="roundRect">
            <a:avLst/>
          </a:prstGeom>
          <a:solidFill>
            <a:srgbClr val="F4F1EA"/>
          </a:solidFill>
          <a:ln w="2032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88720"/>
            <a:ext cx="3017520" cy="3108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ALLEN + PUBLISHED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536192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Yao 2023 atlas + 13 documented sources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Cell-type markers, IEGs, receptors,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published OFC / amygdala genes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26771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re-scored in 226,886 cells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01568" y="1865376"/>
            <a:ext cx="5486400" cy="1289304"/>
          </a:xfrm>
          <a:prstGeom prst="line">
            <a:avLst/>
          </a:prstGeom>
          <a:ln w="1905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56432" y="173736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148 kept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688336"/>
            <a:ext cx="3017520" cy="1353312"/>
          </a:xfrm>
          <a:prstGeom prst="roundRect">
            <a:avLst/>
          </a:prstGeom>
          <a:solidFill>
            <a:srgbClr val="F4F1EA"/>
          </a:solidFill>
          <a:ln w="2032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688336"/>
            <a:ext cx="3017520" cy="310896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JESSE NIEHAUS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035808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Morphine-dependence transcriptomics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in orbitofrontal / prefrontal cortex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304 unique DEGs + enriched GPCRs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6732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44536"/>
                </a:solidFill>
                <a:latin typeface="Calibri"/>
              </a:rPr>
              <a:t>keep if DE in ≥4 of 12 types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401568" y="3154680"/>
            <a:ext cx="5486400" cy="210311"/>
          </a:xfrm>
          <a:prstGeom prst="line">
            <a:avLst/>
          </a:prstGeom>
          <a:ln w="190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56432" y="3236975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71 kept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187952"/>
            <a:ext cx="3017520" cy="1353312"/>
          </a:xfrm>
          <a:prstGeom prst="roundRect">
            <a:avLst/>
          </a:prstGeom>
          <a:solidFill>
            <a:srgbClr val="F4F1EA"/>
          </a:solidFill>
          <a:ln w="2032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187952"/>
            <a:ext cx="3017520" cy="31089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BERG &amp; SCHERRER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535424"/>
            <a:ext cx="2761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Published amygdala spatial panel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GSE283418  ·  98 genes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52 already sat in the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26694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A6F97"/>
                </a:solidFill>
                <a:latin typeface="Calibri"/>
              </a:rPr>
              <a:t>keep if informative in BMAp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401568" y="3154680"/>
            <a:ext cx="5486400" cy="1709928"/>
          </a:xfrm>
          <a:prstGeom prst="line">
            <a:avLst/>
          </a:prstGeom>
          <a:ln w="1905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56432" y="473659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A6F97"/>
                </a:solidFill>
                <a:latin typeface="Calibri"/>
              </a:rPr>
              <a:t>26 extras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1188720"/>
            <a:ext cx="41605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1444752"/>
            <a:ext cx="292608" cy="292608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1298448"/>
            <a:ext cx="3566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Does it identify one of the 20 cell types?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103120"/>
            <a:ext cx="41605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2359152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2212848"/>
            <a:ext cx="3566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A6F97"/>
                </a:solidFill>
                <a:latin typeface="Calibri"/>
              </a:rPr>
              <a:t>Is it a druggable receptor we cannot already see?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017520"/>
            <a:ext cx="41605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90288" y="3273552"/>
            <a:ext cx="292608" cy="292608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3127248"/>
            <a:ext cx="3566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931920"/>
            <a:ext cx="416052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90288" y="4187952"/>
            <a:ext cx="292608" cy="292608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041648"/>
            <a:ext cx="3566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C6A"/>
                </a:solidFill>
                <a:latin typeface="Calibri"/>
              </a:rPr>
              <a:t>Will Xenium actually detect it in these regions?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91947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Every rule is measured in the Allen atlas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5138928"/>
            <a:ext cx="4160520" cy="804672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0288" y="5212080"/>
            <a:ext cx="394106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226,886 cells   ·   82 subclasses</a:t>
            </a:r>
          </a:p>
          <a:p>
            <a:pPr algn="ctr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28,184 measurements   ·   3,901 pairwise tests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7968" y="1188720"/>
            <a:ext cx="2926080" cy="4754880"/>
          </a:xfrm>
          <a:prstGeom prst="roundRect">
            <a:avLst/>
          </a:prstGeom>
          <a:solidFill>
            <a:srgbClr val="EAF2F8"/>
          </a:solidFill>
          <a:ln w="279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97696" y="1298448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1D4E89"/>
                </a:solidFill>
                <a:latin typeface="Calibri"/>
              </a:rPr>
              <a:t>FINAL DECISION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7696" y="1572768"/>
            <a:ext cx="27066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D4E89"/>
                </a:solidFill>
                <a:latin typeface="Calibri"/>
              </a:rPr>
              <a:t>245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7696" y="224942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genes on one section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70848" y="2578608"/>
            <a:ext cx="2560320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997696" y="2670048"/>
            <a:ext cx="27066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148 Allen + published markers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26 Berg &amp; Scherrer extras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71 Jesse Niehaus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70848" y="3822191"/>
            <a:ext cx="2560320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97696" y="3913632"/>
            <a:ext cx="27066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standalone custom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no 100-gene add-on cap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all 245 are designed probes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70848" y="4828032"/>
            <a:ext cx="2560320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997696" y="4919472"/>
            <a:ext cx="27066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2 brain regions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20 cell populations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1 section, 1 animal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C44536"/>
                </a:solidFill>
                <a:latin typeface="Calibri"/>
              </a:rPr>
              <a:t>Why a gene is in  -  and why a similar one is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cutoff.  We did not copy collaborator tables, and we did not dump the Allen transcriptome.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custom Xenium panel  |  Allen WMB-10X  |  2/6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32688"/>
            <a:ext cx="5632704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2064" y="1042416"/>
            <a:ext cx="292608" cy="292608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024128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Must mark one of our 20 populations more specifically than genes already on the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3736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C6A"/>
                </a:solidFill>
                <a:latin typeface="Calibri"/>
              </a:rPr>
              <a:t>IN      Col23a1   3.7x more specific  -  no equal BMAp marker existed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482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44536"/>
                </a:solidFill>
                <a:latin typeface="Calibri"/>
              </a:rPr>
              <a:t>OUT    Nfix   another unique for a type that already has Slc17a7 / Nfib / Rorb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932688"/>
            <a:ext cx="5632704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72783" y="1042416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1024128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Is it a druggable receptor we cannot see?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353312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ORB-enriched, and it fills a receptor family the panel does not already 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37360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C6A"/>
                </a:solidFill>
                <a:latin typeface="Calibri"/>
              </a:rPr>
              <a:t>IN      Chrm1   M1 muscarinic  -  we could only see M2 (Chrm2)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048256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44536"/>
                </a:solidFill>
                <a:latin typeface="Calibri"/>
              </a:rPr>
              <a:t>OUT    Adgrd1   enriched in 7 subclasses  -  below the ≥8 cutoff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560320"/>
            <a:ext cx="5632704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2670048"/>
            <a:ext cx="292608" cy="292608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651760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98094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Differential expression counted only in the 12 ORBm populations we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364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C6A"/>
                </a:solidFill>
                <a:latin typeface="Calibri"/>
              </a:rPr>
              <a:t>IN      Per2   changes in 11 of 12 populations  (broadest gene in the dataset)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7588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44536"/>
                </a:solidFill>
                <a:latin typeface="Calibri"/>
              </a:rPr>
              <a:t>OUT    Hes1   a TF that changes in only 3 of our 12 populations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560320"/>
            <a:ext cx="5632704" cy="15179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72783" y="2670048"/>
            <a:ext cx="292608" cy="292608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2651760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980944"/>
            <a:ext cx="5358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Fraction of cells expressing it in Allen ORBm / BMAp; sparse probes give empty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364991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C6A"/>
                </a:solidFill>
                <a:latin typeface="Calibri"/>
              </a:rPr>
              <a:t>IN      Grm8   99% of cells, ≥50% in 8 of 12 populations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675887"/>
            <a:ext cx="5358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44536"/>
                </a:solidFill>
                <a:latin typeface="Calibri"/>
              </a:rPr>
              <a:t>OUT    Htr3a   Dan leftover at 5% of BMAp cells  -  Xenium would barely see 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97680"/>
            <a:ext cx="11430000" cy="201168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40740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What we did  -  and what we refused to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718304"/>
            <a:ext cx="5440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Allen, published OFC/amygdala markers, Jesse's morphine DEGs, and Dan's 98-gene spatial panel were all screened.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Every surviving gene was re-scored in these two regions (226,886 cells). A paper or a DEG table was never enough on its 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18304"/>
            <a:ext cx="5440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We are not cutting to a 100-gene vendor cap. The limit is scientific.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Jesse: 304 DEGs  →  71 kept.  Dan: 98  →  26 extras.  The rest would turn this panel into a transcriptome.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2A6F97"/>
                </a:solidFill>
                <a:latin typeface="Calibri"/>
              </a:rPr>
              <a:t>Final panel  -  245 genes, one section, two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Standalone custom panel.  Jesse and Dan included.  All 20 target cell populations remain separable.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custom Xenium panel  |  Allen WMB-10X  |  3/6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no 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standalone custom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all 245 are probes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01168" y="2084831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903720" y="212140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871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72491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Which of the 20 populations it is  -  cortical layer, interneuron class, amygdala subtype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32841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5661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Whether it was recently active  -  Fos, Arc, and the TRAP2 tag (iCre / tdTomato)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696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407408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Whether it carries the morphine-dependence signature  -  Per2, Pcsk1, Per1, Camk2g and 50 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0109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248656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Which druggable receptors sit on it  -  opioid, muscarinic, mGlu, Rxfp1 and 42 others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D4E89"/>
                </a:solidFill>
                <a:latin typeface="Calibri"/>
              </a:rPr>
              <a:t>The 245 genes  ·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Cell identity, activity / plasticity, and the TRAP tag.  Every name is on the order 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custom Xenium panel  |  Allen WMB-10X  |  4/6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877824"/>
            <a:ext cx="11475720" cy="3246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877824"/>
            <a:ext cx="11475720" cy="329184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Cell identity and region     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56264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Vip    Tshz2    Sst    Slc17a7    Lhx6    Sim1    Pvalb    Ebf1    Nxph4    Pou3f1    Syt6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Foxp2    Skor1    Otof    Rorb    Oprk1    Ccdc42    Lamp5    Sox6    Bdnf    Tac1    Nfib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Cbln1    Tcf7l2    Sp9    Ndnf    Trhr    Calb2    Ccn2    Npr3    Prox1    Penk    Baiap3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Pdyn    Rspo2    Cux2    Coch    Otp    Slc17a6    Gad2    Gad1    Slc32a1    Isl1    Dlx1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Bcl11b    Satb2    Fezf2    Zic2    Cartpt    Htr2c    Pld5    Fezf1    Ackr3    Crh    Neurod2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Sox5    Tac2    Npy    Zic1    Trh    Rprm    Lratd2    Nr2e1    Matn2    Drd1    Nptx2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Krt9    Rgs9    Cnih3    Snap25    Rbfox3    Mbp    Chat    Th    Cx3cr1    Etv1    Meis2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Tle4    Foxp1    Tbr1    Neurod6    Emx1    Synpr    Rbp4    Mpped1    Calb1    Scn5a    Cd44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Bhlhe22    Nts    Slc6a3    Maf    Ptpru    Rai14    Sema5a    Sema5b    Thsd7b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4224528"/>
            <a:ext cx="7818120" cy="2084831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4224528"/>
            <a:ext cx="7818120" cy="329184"/>
          </a:xfrm>
          <a:prstGeom prst="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Activity and plasticity    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26864"/>
            <a:ext cx="759866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Homer1    Egr1    Arc    Fos    Fosb    Npas4    Gria1    Gria2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Camk2a    Grin1    Ppp1r1b    Nr4a1    Junb    Nr4a2    Grin2b    Grin2a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Ntrk2    Rgs4    Dlg4    Cbln2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4224528"/>
            <a:ext cx="3520440" cy="2084831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4224528"/>
            <a:ext cx="3520440" cy="329184"/>
          </a:xfrm>
          <a:prstGeom prst="rect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TRAP genetic tag    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626864"/>
            <a:ext cx="3300984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iCre    tdTomato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D4E89"/>
                </a:solidFill>
                <a:latin typeface="Calibri"/>
              </a:rPr>
              <a:t>The 245 genes  ·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Druggable receptors, morphine-dependence state, and Dan / Scherrer amygdala extras.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custom Xenium panel  |  Allen WMB-10X  |  5/6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877824"/>
            <a:ext cx="114757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877824"/>
            <a:ext cx="11475720" cy="32918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Druggable receptor map     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56264" cy="1380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Npy2r    Oxtr    Drd2    Mc4r    Gpr88    Galr1    Hcrtr1    Ntsr1    Hcrtr2    Tacr1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Oprm1    Chrm2    Cnr1    Htr2a    Oprd1    Sstr2    Htr1f    Npy1r    Grm1    Gpr101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Crhr1    Grm5    Tacr3    Adcyap1r1    Gabbr2    Htr1b    Htr1a    Gabbr1    Cckbr    Chrm1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Grm8    Gpr26    Rxfp1    Mas1    Mchr1    Adra1a    Gpr68    Gpr3    Chrm3    Hrh3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Gpr22    Adra1b    Htr6    Sstr4    S1pr3    Gpr12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2852928"/>
            <a:ext cx="11475720" cy="2011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2852928"/>
            <a:ext cx="11475720" cy="329184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Morphine-dependence state  (Jesse)     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55264"/>
            <a:ext cx="11256264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Per2    Pcsk1    Per1    Camk2g    Bhlhe40    Sema3e    Arid5b    Tiparp    Banp    Fxr1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Maml3    Vps13a    Chd2    Dusp1    Hunk    Klf10    Zbtb25    Zbtb40    Zfp46    Zfp641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Nr4a3    Crem    Egr3    Egr4    Chrd    Etv5    Hsf5    Omg    Sox8    Stk40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Zfp580    Zkscan16    Fosl2    Hrh1    Mbnl2    Kitl    Acsl4    Ahctf1    Dusp4    Dusp5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E2f6    Ep300    Fhl2    Gabpa    Gpr63    Hivep1    Hsd17b12    Hspa5    Smad5    Sox12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Zdbf2    Zfp933    Zhx2    Zkscan2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4956048"/>
            <a:ext cx="11475720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08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4956048"/>
            <a:ext cx="11475720" cy="32918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Amygdala extras  (Dan / GSE283418)     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58384"/>
            <a:ext cx="1125626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Col23a1    Slc29a4    Cck    Gfra1    Sp8    Abca8a    Calcrl    Lamb3    Syndig1l    Tspan18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Gabre    Nos1    Oprl1    Dnah5    Vipr2    Sfrp1    Glipr1    Vdr    Mgp    Ctxn3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Rasa4    Upk1b    C1ql1    C1ql2    Rbms3    Pnoc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D4E89"/>
                </a:solidFill>
                <a:latin typeface="Calibri"/>
              </a:rPr>
              <a:t>The 20 populations we must tell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Target list from the Allen Brain Cell Atlas taxonomy.  All 20 remain separable on the 245-gene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BACKUP  ·  ORBm + BMAp custom Xenium panel  |  Allen WMB-10X  |  6/6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83,406 Allen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BMAp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40,709 Allen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124,115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cells in the 20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target populations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1440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950976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20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26464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have a dedicated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marker on the panel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56032" y="2084831"/>
          <a:ext cx="5760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144768" y="2084831"/>
          <a:ext cx="5760720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