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df95ed647c4110" /><Relationship Type="http://schemas.openxmlformats.org/officeDocument/2006/relationships/extended-properties" Target="/docProps/app.xml" Id="Rd66ff3dc3e594519" /><Relationship Type="http://schemas.openxmlformats.org/officeDocument/2006/relationships/officeDocument" Target="/ppt/presentation.xml" Id="Rd8075a763da645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8478e6bf4c42c4"/>
  </p:sldMasterIdLst>
  <p:notesMasterIdLst>
    <p:notesMasterId xmlns:r="http://schemas.openxmlformats.org/officeDocument/2006/relationships" r:id="Rd986b1f2f1074f95"/>
  </p:notesMasterIdLst>
  <p:sldIdLst>
    <p:sldId xmlns:r="http://schemas.openxmlformats.org/officeDocument/2006/relationships" id="256" r:id="Rf57f3a9c84e04a50"/>
    <p:sldId xmlns:r="http://schemas.openxmlformats.org/officeDocument/2006/relationships" id="257" r:id="Rc2975d79d22d4b5f"/>
    <p:sldId xmlns:r="http://schemas.openxmlformats.org/officeDocument/2006/relationships" id="258" r:id="R0a633ea696a74194"/>
    <p:sldId xmlns:r="http://schemas.openxmlformats.org/officeDocument/2006/relationships" id="259" r:id="R03bf03db6a6244ad"/>
    <p:sldId xmlns:r="http://schemas.openxmlformats.org/officeDocument/2006/relationships" id="260" r:id="R97c7997ff0a84fe7"/>
    <p:sldId xmlns:r="http://schemas.openxmlformats.org/officeDocument/2006/relationships" id="261" r:id="Ra2f7c9d2e0984bf1"/>
    <p:sldId xmlns:r="http://schemas.openxmlformats.org/officeDocument/2006/relationships" id="262" r:id="Rcb0fdb0e1e994938"/>
    <p:sldId xmlns:r="http://schemas.openxmlformats.org/officeDocument/2006/relationships" id="263" r:id="Rc9d9318056e14c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f043bab6e848b9" /><Relationship Type="http://schemas.openxmlformats.org/officeDocument/2006/relationships/slideMaster" Target="/ppt/slideMasters/slideMaster1.xml" Id="R5d8478e6bf4c42c4" /><Relationship Type="http://schemas.openxmlformats.org/officeDocument/2006/relationships/notesMaster" Target="/ppt/notesMasters/notesMaster1.xml" Id="Rd986b1f2f1074f95" /><Relationship Type="http://schemas.openxmlformats.org/officeDocument/2006/relationships/presProps" Target="/ppt/presProps.xml" Id="Rb9ba2808a2b64bbb" /><Relationship Type="http://schemas.openxmlformats.org/officeDocument/2006/relationships/viewProps" Target="/ppt/viewProps.xml" Id="Rb4eb0927d023469d" /><Relationship Type="http://schemas.openxmlformats.org/officeDocument/2006/relationships/tableStyles" Target="/ppt/tableStyles.xml" Id="R0afe38d5927f4298" /><Relationship Type="http://schemas.openxmlformats.org/officeDocument/2006/relationships/slide" Target="/ppt/slides/slide1.xml" Id="Rf57f3a9c84e04a50" /><Relationship Type="http://schemas.openxmlformats.org/officeDocument/2006/relationships/slide" Target="/ppt/slides/slide2.xml" Id="Rc2975d79d22d4b5f" /><Relationship Type="http://schemas.openxmlformats.org/officeDocument/2006/relationships/slide" Target="/ppt/slides/slide3.xml" Id="R0a633ea696a74194" /><Relationship Type="http://schemas.openxmlformats.org/officeDocument/2006/relationships/slide" Target="/ppt/slides/slide4.xml" Id="R03bf03db6a6244ad" /><Relationship Type="http://schemas.openxmlformats.org/officeDocument/2006/relationships/slide" Target="/ppt/slides/slide5.xml" Id="R97c7997ff0a84fe7" /><Relationship Type="http://schemas.openxmlformats.org/officeDocument/2006/relationships/slide" Target="/ppt/slides/slide6.xml" Id="Ra2f7c9d2e0984bf1" /><Relationship Type="http://schemas.openxmlformats.org/officeDocument/2006/relationships/slide" Target="/ppt/slides/slide7.xml" Id="Rcb0fdb0e1e994938" /><Relationship Type="http://schemas.openxmlformats.org/officeDocument/2006/relationships/slide" Target="/ppt/slides/slide8.xml" Id="Rc9d9318056e14c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247a82bb0c47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8059614f78440b" /><Relationship Type="http://schemas.openxmlformats.org/officeDocument/2006/relationships/notesMaster" Target="/ppt/notesMasters/notesMaster1.xml" Id="R4b55e9f0b7de40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63b3bfe9bb4076" /><Relationship Type="http://schemas.openxmlformats.org/officeDocument/2006/relationships/notesMaster" Target="/ppt/notesMasters/notesMaster1.xml" Id="Rce8f313427264b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722e5f250a4705" /><Relationship Type="http://schemas.openxmlformats.org/officeDocument/2006/relationships/notesMaster" Target="/ppt/notesMasters/notesMaster1.xml" Id="Rbfff3c0bc2c74a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de4c89f178476a" /><Relationship Type="http://schemas.openxmlformats.org/officeDocument/2006/relationships/notesMaster" Target="/ppt/notesMasters/notesMaster1.xml" Id="Raf834f2d03404c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ea59c8e84b48ce" /><Relationship Type="http://schemas.openxmlformats.org/officeDocument/2006/relationships/notesMaster" Target="/ppt/notesMasters/notesMaster1.xml" Id="R08c84da000954c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24651762424aac" /><Relationship Type="http://schemas.openxmlformats.org/officeDocument/2006/relationships/notesMaster" Target="/ppt/notesMasters/notesMaster1.xml" Id="Rd79b4274e68f47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2b91b6611e4704" /><Relationship Type="http://schemas.openxmlformats.org/officeDocument/2006/relationships/notesMaster" Target="/ppt/notesMasters/notesMaster1.xml" Id="R02eb26c3516b4d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e36f55226e494a" /><Relationship Type="http://schemas.openxmlformats.org/officeDocument/2006/relationships/notesMaster" Target="/ppt/notesMasters/notesMaster1.xml" Id="Rdbfa7f2a5f704a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8c76a22aa4d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89d44d3314d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4a0a8813794f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d5763bc7148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43e859d3b4e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2d1dbd9a0468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9d012344a04c2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f5e1d159e4f2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a28b2530754f8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4373dc2e4447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6176f47a7451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D18E7E-AA35-4A77-AD94-965A475DF08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2443B9F-2EBA-46A0-8FBA-67BA9B3DB9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F2AD37-00FC-4EF2-B3E7-98554EEF1E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E3751D-A606-4E62-895D-6792BA7E9E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2655BB9-50C0-46F7-A409-62EEEFD68E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FBADD9-229D-4B57-B1D3-55791D6A1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957B61D-6629-4CF9-B618-4A6AEF451AF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2C616C2-13AA-4C0C-8ACF-63E8414CE9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AE81E1-488E-4D61-BAB3-10A112024E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67429F-73DF-46C7-B7DB-E1119C60C0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9F45B7-57A3-4979-B99B-940EA35F5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2E540C-4657-496C-ACD8-B1AB0C74E7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FD38841-84DF-49D4-9D33-86D0AEEEC9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258EDF7-6C11-44EB-8DB4-8EB8A1B649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178155-28A4-4FB4-A6CF-BC9FD815C9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1E23ED-B1F7-434B-9939-A44AF48A97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3086D0-6EEE-447C-9D39-DF7BC50572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DEEF15-77D2-4B25-9C19-5986BC1E476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C313474-B7A8-48EF-95AC-BD09CFFDCA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7A65D96-ABD0-4F06-A1EF-7E48D51794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69D0517-0AB1-47C2-9CDC-786BF41863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4F8695-6683-4E57-AE16-6241C22F05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55B0244-F8BC-40AE-8F92-85540B9854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5402F07-E64D-4F2F-B1AC-FF51E3FC2A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EA5A8A-A272-4630-A23F-9A27735B07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EA4A40E-1850-40A6-996E-ECB9EC5913A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84770C8-8016-430D-B5BB-6622B264C9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9/21/2026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19FB688-5AA5-43C0-8981-7F36D3FCC9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4F1B3F6-04FF-4B55-B443-5E7DFAA09C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9F772B-8467-45DB-B57D-3148AD7EB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62A69BD-1028-4073-81E5-237EC18780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9/21/2026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27254EC-DD7E-4868-BC77-CA5E788C97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F9A698E-188C-4123-A610-3E8CAB9B4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56E2DF2-47D8-420D-98D5-3C936A6F90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9/21/2026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8E4E541-4081-4518-BC3D-17B6132C47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90E172C-6DA8-4F34-AC0D-D92D537C10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4FBC0D-9840-478D-9034-7C4CB049F3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A351988-EF76-4F14-95D7-170DF6D3D46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CB783C7-6F58-4510-8603-51A141917E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94D85F1-C9E5-48E7-9BFA-7862D7690D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46D650E-552C-4762-A6BC-C606F47F2C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5FD3A74-96EF-4C2E-913F-D13F746493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96927E-D256-41C1-9171-14D2A85707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0748087-4F67-486A-AF80-254CA61FAC9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DCAD3BD-E833-420F-858D-C9D8E70BCF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3FF24BF-D6FC-437B-BB00-9145E0B2E3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D7EF1DB-7912-4E64-BE3D-EB0070E59E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20EE009-ABD2-41F6-A664-03E76ADC51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2C0619-1E3E-4AD2-83C1-CC0AE7E70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400DC29-3ECD-4ED6-B068-0C46DFCE3E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6CE165C-F719-45EC-BE1E-61AF4F827F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E46B37C-ADB1-4D76-AFE9-9D27FC2DC3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CC4CE5-C534-48F7-84A6-0CD8BF5FC8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D3D5AC5-CCC6-4C14-8E7D-959407D741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2FE146B-4E2B-4455-8EB4-686256D6DA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0C3671-B07D-461E-B3A9-2F146DDEBE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41DFE6-D431-49E7-8917-24CFB06057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19DC33-CED9-4022-95A4-BEECB27DDC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f0e67391dd45f7" /><Relationship Type="http://schemas.openxmlformats.org/officeDocument/2006/relationships/slideLayout" Target="/ppt/slideLayouts/slideLayout1.xml" Id="R55388896c69d4e5a" /><Relationship Type="http://schemas.openxmlformats.org/officeDocument/2006/relationships/slideLayout" Target="/ppt/slideLayouts/slideLayout2.xml" Id="R882fdef6fa7f4681" /><Relationship Type="http://schemas.openxmlformats.org/officeDocument/2006/relationships/slideLayout" Target="/ppt/slideLayouts/slideLayout3.xml" Id="Rc38e736bf8da437d" /><Relationship Type="http://schemas.openxmlformats.org/officeDocument/2006/relationships/slideLayout" Target="/ppt/slideLayouts/slideLayout4.xml" Id="Re4b226a462704cb8" /><Relationship Type="http://schemas.openxmlformats.org/officeDocument/2006/relationships/slideLayout" Target="/ppt/slideLayouts/slideLayout5.xml" Id="Rd8cdbf52bca44863" /><Relationship Type="http://schemas.openxmlformats.org/officeDocument/2006/relationships/slideLayout" Target="/ppt/slideLayouts/slideLayout6.xml" Id="R715a06a4b3884a42" /><Relationship Type="http://schemas.openxmlformats.org/officeDocument/2006/relationships/slideLayout" Target="/ppt/slideLayouts/slideLayout7.xml" Id="Rcbde775598924ad1" /><Relationship Type="http://schemas.openxmlformats.org/officeDocument/2006/relationships/slideLayout" Target="/ppt/slideLayouts/slideLayout8.xml" Id="Ra9fab0a6deec4d38" /><Relationship Type="http://schemas.openxmlformats.org/officeDocument/2006/relationships/slideLayout" Target="/ppt/slideLayouts/slideLayout9.xml" Id="Rb34e629791c84188" /><Relationship Type="http://schemas.openxmlformats.org/officeDocument/2006/relationships/slideLayout" Target="/ppt/slideLayouts/slideLayout10.xml" Id="Rf1dac794e75f4cbc" /><Relationship Type="http://schemas.openxmlformats.org/officeDocument/2006/relationships/slideLayout" Target="/ppt/slideLayouts/slideLayout11.xml" Id="Ra7d2e6bb9829451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E98F4DB-16CC-465A-BD59-75A876347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6D4134C-F753-4944-8BEE-D5A2E67732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E00C1D-8D07-4182-9835-AC5E390B6C8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CCBD11-2882-4678-8D93-2077A6BD139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CBA4B6-4B8B-4A4A-9E92-365ACCAACB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388896c69d4e5a"/>
    <p:sldLayoutId xmlns:r="http://schemas.openxmlformats.org/officeDocument/2006/relationships" id="2147483650" r:id="R882fdef6fa7f4681"/>
    <p:sldLayoutId xmlns:r="http://schemas.openxmlformats.org/officeDocument/2006/relationships" id="2147483651" r:id="Rc38e736bf8da437d"/>
    <p:sldLayoutId xmlns:r="http://schemas.openxmlformats.org/officeDocument/2006/relationships" id="2147483652" r:id="Re4b226a462704cb8"/>
    <p:sldLayoutId xmlns:r="http://schemas.openxmlformats.org/officeDocument/2006/relationships" id="2147483653" r:id="Rd8cdbf52bca44863"/>
    <p:sldLayoutId xmlns:r="http://schemas.openxmlformats.org/officeDocument/2006/relationships" id="2147483654" r:id="R715a06a4b3884a42"/>
    <p:sldLayoutId xmlns:r="http://schemas.openxmlformats.org/officeDocument/2006/relationships" id="2147483655" r:id="Rcbde775598924ad1"/>
    <p:sldLayoutId xmlns:r="http://schemas.openxmlformats.org/officeDocument/2006/relationships" id="2147483656" r:id="Ra9fab0a6deec4d38"/>
    <p:sldLayoutId xmlns:r="http://schemas.openxmlformats.org/officeDocument/2006/relationships" id="2147483657" r:id="Rb34e629791c84188"/>
    <p:sldLayoutId xmlns:r="http://schemas.openxmlformats.org/officeDocument/2006/relationships" id="2147483658" r:id="Rf1dac794e75f4cbc"/>
    <p:sldLayoutId xmlns:r="http://schemas.openxmlformats.org/officeDocument/2006/relationships" id="2147483659" r:id="Ra7d2e6bb9829451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4dae92079842e4" /><Relationship Type="http://schemas.openxmlformats.org/officeDocument/2006/relationships/notesSlide" Target="/ppt/notesSlides/notesSlide1.xml" Id="Raac6c1a3484d49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f827270c5e4b46" /><Relationship Type="http://schemas.openxmlformats.org/officeDocument/2006/relationships/notesSlide" Target="/ppt/notesSlides/notesSlide2.xml" Id="Rad3e4ec9637346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d0bd27faf74886" /><Relationship Type="http://schemas.openxmlformats.org/officeDocument/2006/relationships/notesSlide" Target="/ppt/notesSlides/notesSlide3.xml" Id="Rc5f8ab8a9e1546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37fda7d35346ac" /><Relationship Type="http://schemas.openxmlformats.org/officeDocument/2006/relationships/notesSlide" Target="/ppt/notesSlides/notesSlide4.xml" Id="R21667537e76d46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caef1b12514b7f" /><Relationship Type="http://schemas.openxmlformats.org/officeDocument/2006/relationships/notesSlide" Target="/ppt/notesSlides/notesSlide5.xml" Id="R166479c5653a49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ae302f94344ab6" /><Relationship Type="http://schemas.openxmlformats.org/officeDocument/2006/relationships/image" Target="/ppt/media/image.png" Id="R41354ad880e84479" /><Relationship Type="http://schemas.openxmlformats.org/officeDocument/2006/relationships/notesSlide" Target="/ppt/notesSlides/notesSlide6.xml" Id="R5ef7e182d7ff41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8fd5a97c5f4c31" /><Relationship Type="http://schemas.openxmlformats.org/officeDocument/2006/relationships/image" Target="/ppt/media/image2.png" Id="R76f837c9bca240e4" /><Relationship Type="http://schemas.openxmlformats.org/officeDocument/2006/relationships/image" Target="/ppt/media/image3.png" Id="Ra89f84d82c0d4418" /><Relationship Type="http://schemas.openxmlformats.org/officeDocument/2006/relationships/image" Target="/ppt/media/image4.png" Id="R6108c7eeb96b417b" /><Relationship Type="http://schemas.openxmlformats.org/officeDocument/2006/relationships/image" Target="/ppt/media/image5.png" Id="Rc80330dd6d5c4b07" /><Relationship Type="http://schemas.openxmlformats.org/officeDocument/2006/relationships/image" Target="/ppt/media/image6.png" Id="R3ff7b60447d741f9" /><Relationship Type="http://schemas.openxmlformats.org/officeDocument/2006/relationships/image" Target="/ppt/media/image7.png" Id="R89463fd8282c4f65" /><Relationship Type="http://schemas.openxmlformats.org/officeDocument/2006/relationships/image" Target="/ppt/media/image8.png" Id="R70aa9ed8c4154679" /><Relationship Type="http://schemas.openxmlformats.org/officeDocument/2006/relationships/image" Target="/ppt/media/image9.png" Id="Rd12f17723f77442d" /><Relationship Type="http://schemas.openxmlformats.org/officeDocument/2006/relationships/image" Target="/ppt/media/image10.png" Id="R461281810e894919" /><Relationship Type="http://schemas.openxmlformats.org/officeDocument/2006/relationships/image" Target="/ppt/media/image11.png" Id="Rfcbe00da1b5542aa" /><Relationship Type="http://schemas.openxmlformats.org/officeDocument/2006/relationships/notesSlide" Target="/ppt/notesSlides/notesSlide7.xml" Id="R2a879480cf864d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a6e53961094ca3" /><Relationship Type="http://schemas.openxmlformats.org/officeDocument/2006/relationships/notesSlide" Target="/ppt/notesSlides/notesSlide8.xml" Id="Ree7f2b44297646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F1F5603-757A-44D3-8AE7-A654FF9E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4592"/>
            <a:ext cx="1143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How the gene panel was selected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0326B35-4588-4FA7-877D-23EA3F29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30352"/>
            <a:ext cx="11430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Every slot had to be earned against measured data. Four rules decided which genes earned one, and a genome-wide sweep confirmed nothing was missed.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5F95E74-7C91-46AF-B715-F263BA9C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14400"/>
            <a:ext cx="3291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WHERE THE CANDIDATES CAME FROM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EFC67AA-B8BF-4BF8-9C7E-FDDC011C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914400"/>
            <a:ext cx="3840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FOUR DECISION RULES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0279C75-65A7-4C29-B7C4-525531F0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914400"/>
            <a:ext cx="32278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WHAT WE ORDER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26E0A17-B790-40E2-8AC6-2B74E1C5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225296"/>
            <a:ext cx="3291840" cy="8778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1D4E8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8A8ACA0-3B51-4D2E-80E7-4B3076AD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225296"/>
            <a:ext cx="329184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A5A612A-B967-406E-B43A-6B3110A7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252728"/>
            <a:ext cx="30723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OUR MARKER SCREEN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1B7CA30-3049-45A4-AE58-A22793EE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517904"/>
            <a:ext cx="307238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Allen Brain Cell Atlas, re-scored in these two regions only. Cell-type and subtype markers.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628F4F9-ED53-428F-BBDE-3401F3BC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847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32,285 screened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6641227-9FE4-4171-944B-EE2B4B88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47088"/>
            <a:ext cx="14447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179 kept</a:t>
            </a:r>
          </a:p>
        </p:txBody>
      </p:sp>
      <p:cxnSp>
        <p:nvCxnSpPr>
          <p:cNvPr id="93" name="Connector 13"/>
          <p:cNvCxnSpPr/>
          <p:nvPr/>
        </p:nvCxnSpPr>
        <p:spPr>
          <a:xfrm xmlns:a="http://schemas.openxmlformats.org/drawingml/2006/main">
            <a:off x="3657600" y="1664208"/>
            <a:ext cx="548640" cy="438912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1D4E8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13A2EC9-D8A0-4173-A940-27D76536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94560"/>
            <a:ext cx="3291840" cy="8778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2A6F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532EFEC-0A29-4D9C-BEA5-261FD35A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94560"/>
            <a:ext cx="329184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4A9D972-113F-4960-AADC-9EBD20F0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221992"/>
            <a:ext cx="30723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GENOME-WIDE GPCR + TF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83BC964-1527-4F6C-83B8-D8F67671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487168"/>
            <a:ext cx="307238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Every curated mouse receptor and transcription factor, scored here to prove the set is complete.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67F990F-6519-42C7-BB2F-E921F7F7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816352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1,747 screened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3E01E21-6443-43E0-B970-C7300B1B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816352"/>
            <a:ext cx="14447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58 kept</a:t>
            </a:r>
          </a:p>
        </p:txBody>
      </p:sp>
      <p:cxnSp>
        <p:nvCxnSpPr>
          <p:cNvPr id="100" name="Connector 20"/>
          <p:cNvCxnSpPr/>
          <p:nvPr/>
        </p:nvCxnSpPr>
        <p:spPr>
          <a:xfrm xmlns:a="http://schemas.openxmlformats.org/drawingml/2006/main" flipV="1">
            <a:off x="3657600" y="2121408"/>
            <a:ext cx="548640" cy="512064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2A6F9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E06100EA-E06C-4A31-908C-18F54368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63824"/>
            <a:ext cx="3291840" cy="8778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C445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BE7E729-029D-48CD-8D91-5C2AA894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63824"/>
            <a:ext cx="329184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45D0C1E-A1AF-426B-AF4B-433CEC88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91256"/>
            <a:ext cx="30723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JESSE NIEHAUS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B57C561-87A0-47B0-9023-7727F10B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456432"/>
            <a:ext cx="307238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Morphine-dependence gene expression in orbitofrontal / prefrontal cortex.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D87F8F4-6901-4DD7-92A9-E0FF2697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785615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431 screened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DE05CA6-AF65-4E51-A1FD-9EF111CB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785615"/>
            <a:ext cx="14447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50 kept</a:t>
            </a:r>
          </a:p>
        </p:txBody>
      </p:sp>
      <p:cxnSp>
        <p:nvCxnSpPr>
          <p:cNvPr id="107" name="Connector 27"/>
          <p:cNvCxnSpPr/>
          <p:nvPr/>
        </p:nvCxnSpPr>
        <p:spPr>
          <a:xfrm xmlns:a="http://schemas.openxmlformats.org/drawingml/2006/main" flipV="1">
            <a:off x="3657600" y="2139696"/>
            <a:ext cx="548640" cy="146304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C4453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362A5168-4EA7-44D3-9B73-509FF7BE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133088"/>
            <a:ext cx="3291840" cy="8778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6B7C6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FC5DDB5-7766-4D5A-974C-4525E9F9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133088"/>
            <a:ext cx="329184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6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43869AB-7F4E-44CB-9BE0-65F22060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160520"/>
            <a:ext cx="30723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BERG &amp; SCHERRER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B6995F71-1DEA-4726-9316-2CDA4010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425696"/>
            <a:ext cx="307238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Published amygdala spatial panel (GSE283418).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C4A91632-A87F-474A-BAD9-C5374996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754880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6B7C6A"/>
                </a:solidFill>
                <a:latin typeface="Calibri"/>
                <a:ea typeface="Calibri"/>
                <a:cs typeface="Calibri"/>
              </a:rPr>
              <a:t>98 screened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9861877-963B-4563-B4A8-DF08492A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4754880"/>
            <a:ext cx="14447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10 kept</a:t>
            </a:r>
          </a:p>
        </p:txBody>
      </p:sp>
      <p:cxnSp>
        <p:nvCxnSpPr>
          <p:cNvPr id="114" name="Connector 34"/>
          <p:cNvCxnSpPr/>
          <p:nvPr/>
        </p:nvCxnSpPr>
        <p:spPr>
          <a:xfrm xmlns:a="http://schemas.openxmlformats.org/drawingml/2006/main" flipV="1">
            <a:off x="3657600" y="2157984"/>
            <a:ext cx="548640" cy="2414016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6B7C6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73B1AEF3-5783-4E49-9F5C-BCBEE254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1225296"/>
            <a:ext cx="384048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8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A0FC30C4-E83F-404E-9B0B-FDB40BB7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142646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ACB54281-3E19-4F33-8789-A9E84846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463040"/>
            <a:ext cx="301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0F87904-7E89-476F-B3B9-6B8760FD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9" y="1225296"/>
            <a:ext cx="3145536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Does it identify the cell type?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132EDF15-90F6-46E0-AD70-C389A843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066544"/>
            <a:ext cx="384048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A6F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A07820A1-0230-41BB-A182-84B77C57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226771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7E50C07-6837-4DFC-A0AB-AFF64061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304288"/>
            <a:ext cx="301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F3544C17-045D-4B6A-8DC8-12AB5DB0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9" y="2066544"/>
            <a:ext cx="3145536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Is the receptor or factor really expressed here?</a:t>
            </a:r>
          </a:p>
        </p:txBody>
      </p:sp>
      <p:sp>
        <p:nvSpPr>
          <p:cNvPr id="44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90CB0351-778F-470A-95F5-3273A914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907792"/>
            <a:ext cx="384048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445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683C7F57-B58A-4B1D-8C30-AE69BBDD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31089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3C35F3D5-6699-4371-80B4-7415D641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3145536"/>
            <a:ext cx="301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C9026708-4639-42B0-ADA2-995E48B5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9" y="2907792"/>
            <a:ext cx="3145536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Does it report the morphine-dependent state?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393A6BA6-1C00-46D6-87AD-3BE61FAE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749040"/>
            <a:ext cx="384048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B7C6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E43EE5E9-EB16-48BE-8AA9-067A8D22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395020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6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D53C533B-F3E0-45CB-B726-E21EABA9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3986784"/>
            <a:ext cx="301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DF0246AC-888D-4967-AAA9-AB6669AD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9" y="3749040"/>
            <a:ext cx="3145536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6B7C6A"/>
                </a:solidFill>
                <a:latin typeface="Calibri"/>
                <a:ea typeface="Calibri"/>
                <a:cs typeface="Calibri"/>
              </a:rPr>
              <a:t>Will the instrument actually detect it?</a:t>
            </a:r>
          </a:p>
        </p:txBody>
      </p:sp>
      <p:cxnSp>
        <p:nvCxnSpPr>
          <p:cNvPr id="131" name="Connector 51"/>
          <p:cNvCxnSpPr/>
          <p:nvPr/>
        </p:nvCxnSpPr>
        <p:spPr>
          <a:xfrm xmlns:a="http://schemas.openxmlformats.org/drawingml/2006/main">
            <a:off x="8046720" y="2468880"/>
            <a:ext cx="548640" cy="365760"/>
          </a:xfrm>
          <a:prstGeom xmlns:a="http://schemas.openxmlformats.org/drawingml/2006/main" prst="bentConnector3">
            <a:avLst/>
          </a:prstGeom>
          <a:ln xmlns:a="http://schemas.openxmlformats.org/drawingml/2006/main" w="15875">
            <a:solidFill>
              <a:srgbClr val="1D4E8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3" name="Rounded Rectangle 52">
            <a:extLst xmlns:a="http://schemas.openxmlformats.org/drawingml/2006/main">
              <a:ext uri="{FF2B5EF4-FFF2-40B4-BE49-F238E27FC236}">
                <a16:creationId xmlns:a16="http://schemas.microsoft.com/office/drawing/2014/main" id="{7DAB0375-B155-47BF-9382-92390910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225296"/>
            <a:ext cx="3227832" cy="371246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22225">
            <a:solidFill>
              <a:srgbClr val="1D4E8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D5E75C41-8AA4-475B-9A64-8C919367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1353312"/>
            <a:ext cx="30083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FINAL PANEL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7BC4CD18-44BB-4066-A517-FC2A4E22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1645920"/>
            <a:ext cx="300837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299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C64C1F9C-E656-42C9-B766-24A3E0DF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2487168"/>
            <a:ext cx="30083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genes on one section</a:t>
            </a:r>
          </a:p>
        </p:txBody>
      </p:sp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1FB6B318-3D12-42CA-A502-1293EFDE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98064"/>
            <a:ext cx="2679192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2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9D171509-C666-4285-B564-521E2FAA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2926080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Cell identity, subtype and region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22E5F42E-8F4A-4B01-B3A6-841B1181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2926080"/>
            <a:ext cx="640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135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92E84D1F-3B90-4ED6-BBBB-1C2BCD1C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3200400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Morphine-dependence state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56AA36BF-15AC-4F26-888D-B12CC169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3200400"/>
            <a:ext cx="640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D42F2C1E-3E45-490E-8ADD-946E0818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3474720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Druggable receptor map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81C319A0-2FDE-47C6-AC1D-045A8677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3474720"/>
            <a:ext cx="640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781B3612-BEF5-4CB3-A2CE-7A533788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3749039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Neuronal plasticity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B2CC485D-AD7E-4EDB-B1DB-5286DCAD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3749039"/>
            <a:ext cx="640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>
                <a:solidFill>
                  <a:srgbClr val="6B7C6A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F25FB6F9-0DCC-4FAA-AED3-5B5D833D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4023360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Activity and immediate-early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27B39CF7-205F-458B-88F8-DF66EA82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4023360"/>
            <a:ext cx="640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68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708027CE-6223-4766-9865-AF459F07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352544"/>
            <a:ext cx="2679192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2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28FF5455-5372-46FA-BCD8-ECE06D06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4462272"/>
            <a:ext cx="300837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Standalone panel - every gene</a:t>
            </a:r>
          </a:p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is a probe we order</a:t>
            </a:r>
          </a:p>
        </p:txBody>
      </p:sp>
      <p:sp>
        <p:nvSpPr>
          <p:cNvPr id="70" name="Rounded Rectangle 69">
            <a:extLst xmlns:a="http://schemas.openxmlformats.org/drawingml/2006/main">
              <a:ext uri="{FF2B5EF4-FFF2-40B4-BE49-F238E27FC236}">
                <a16:creationId xmlns:a16="http://schemas.microsoft.com/office/drawing/2014/main" id="{F59AC3CB-6728-411B-B0F5-159410CA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157216"/>
            <a:ext cx="11457432" cy="11521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1D4E8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D022556B-6355-4B2E-8E38-D0B1AF48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48656"/>
            <a:ext cx="11064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Every rule is a measurement in the Allen Brain Cell Atlas, restricted to these two regions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DCA85AE7-4644-4CC4-9C9D-9D50DDB1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4126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226,886</a:t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A8E4734C-6935-4584-BD94-A90B7918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07024"/>
            <a:ext cx="2103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cells re-analysed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64C3F417-7B6E-4957-A622-29596273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1" y="554126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79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7C8BA715-E084-4DB0-9363-24F18556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1" y="5907024"/>
            <a:ext cx="2103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cell types present</a:t>
            </a: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137B93F9-4B01-44CB-AB26-A3A93E8A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554126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77" name="TextBox 76">
            <a:extLst xmlns:a="http://schemas.openxmlformats.org/drawingml/2006/main">
              <a:ext uri="{FF2B5EF4-FFF2-40B4-BE49-F238E27FC236}">
                <a16:creationId xmlns:a16="http://schemas.microsoft.com/office/drawing/2014/main" id="{FEC1380B-8184-499C-A3B0-E6EEE21B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5907024"/>
            <a:ext cx="2103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target populations</a:t>
            </a: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6D92FAE5-2353-404E-A294-DB4AB9D6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215" y="554126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1,747</a:t>
            </a:r>
          </a:p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F12880B9-FAE3-44CA-8FAD-1888A533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215" y="5907024"/>
            <a:ext cx="2103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GPCRs + TFs swept</a:t>
            </a: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D67A9C5F-3798-421E-98E5-1A0BC328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554126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0.922</a:t>
            </a:r>
          </a:p>
        </p:txBody>
      </p:sp>
      <p:sp>
        <p:nvSpPr>
          <p:cNvPr id="81" name="TextBox 80">
            <a:extLst xmlns:a="http://schemas.openxmlformats.org/drawingml/2006/main">
              <a:ext uri="{FF2B5EF4-FFF2-40B4-BE49-F238E27FC236}">
                <a16:creationId xmlns:a16="http://schemas.microsoft.com/office/drawing/2014/main" id="{7FDD468E-81FE-4BD8-A56B-24892923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5907024"/>
            <a:ext cx="2103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mean recall, 20 types</a:t>
            </a:r>
          </a:p>
        </p:txBody>
      </p:sp>
    </p:spTree>
    <p:extLst>
      <p:ext uri="{BB962C8B-B14F-4D97-AF65-F5344CB8AC3E}">
        <p14:creationId xmlns:p14="http://schemas.microsoft.com/office/powerpoint/2010/main" val="19818773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417DCD1-8992-496E-A98E-1349C686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13678"/>
            <a:ext cx="1143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Why a gene is in - and why a similar one is out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688298C-0070-4C8B-B76F-E05331C2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379438"/>
            <a:ext cx="11430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Each rule is a measurement with a cutoff. For every rule there is a gene that passed and a better-known gene that failed.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5FA5D7A-7F51-43B9-8EEE-6A4CAC3D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781774"/>
            <a:ext cx="5641848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8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7B07E1D1-E274-41B8-8E91-F8FFC0AD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189150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67CF67C-FB4A-4EE7-BD18-EE66035B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8078"/>
            <a:ext cx="301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1251321-7DC3-4B92-8D4C-27B7C1CC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891502"/>
            <a:ext cx="5001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Does it identify the cell type?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D6C4818-81F5-49F6-9FC2-3D89E03D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238974"/>
            <a:ext cx="53675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50% of its own population, and a clear margin over the other target types.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4601AB4-B9C7-49CE-87EF-43EAB279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568158"/>
            <a:ext cx="5367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6B7C6A"/>
                </a:solidFill>
                <a:latin typeface="Calibri"/>
                <a:ea typeface="Calibri"/>
                <a:cs typeface="Calibri"/>
              </a:rPr>
              <a:t>IN     Tnnc1   53% of L4/5 IT, +22pp - the best marker for that type anywhere in the transcriptome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E206622-F465-4BE7-917C-ADF18DA6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897342"/>
            <a:ext cx="5367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OUT   Scnn1a   the classic L4 marker, but 1.8% here; it is really an ependymal gene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E618CF3-1D3C-48DA-AA3A-230A58EA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781774"/>
            <a:ext cx="5641848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A6F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E2D56B52-8518-4BC2-BE0A-69E93AD0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9150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B9F64C5-7FF6-40A2-AAEB-56D17011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928078"/>
            <a:ext cx="301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9D8AA87-BE36-4419-B3DA-2EB4E822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1891502"/>
            <a:ext cx="5001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Is the receptor really expressed here?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552FDA3-95AC-4E67-B098-A496C175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238974"/>
            <a:ext cx="53675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50% of cells somewhere in these two regions.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B38A1DC-2AFA-419E-A33F-56FB7220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568158"/>
            <a:ext cx="5367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6B7C6A"/>
                </a:solidFill>
                <a:latin typeface="Calibri"/>
                <a:ea typeface="Calibri"/>
                <a:cs typeface="Calibri"/>
              </a:rPr>
              <a:t>IN     Chrm1   M1 muscarinic, 98% of cells - previously only M2 was visible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2300741-206C-49BC-A1D9-B3BBA71D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897342"/>
            <a:ext cx="5367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OUT   Adrb2   50.7%, and its peak is in macrophages rather than neurons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A60C1EF-CD2A-4842-9EF9-C5BD31FF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354542"/>
            <a:ext cx="5641848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445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86BD796-29CB-4CA2-8432-F1A639A1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346427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9F6E1AA-1072-405A-808E-863DE10D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0846"/>
            <a:ext cx="301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DEC69CF-CDB6-4F89-A977-81A30A46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464270"/>
            <a:ext cx="5001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Does it report the morphine-dependent state?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48EDB00-D0DC-4DE5-AC03-72533977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3811742"/>
            <a:ext cx="53675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Differential expression counted only in our 12 ORBm populations.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97AECB9-4C9B-423D-A859-AB558923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140926"/>
            <a:ext cx="5367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6B7C6A"/>
                </a:solidFill>
                <a:latin typeface="Calibri"/>
                <a:ea typeface="Calibri"/>
                <a:cs typeface="Calibri"/>
              </a:rPr>
              <a:t>IN     Per2   changes in 11 of 12 populations - the broadest gene in Jesse's data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AA90040-D93E-45EB-BF21-AE5D66CB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470110"/>
            <a:ext cx="5367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OUT   Hspa5   an ER-stress gene in 71 of 75 cell types; it can only report a global shift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62766B33-CED5-402B-8A41-C5DD09B8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354542"/>
            <a:ext cx="5641848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B7C6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4989F53C-517D-4EBB-AF73-83B4C10E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46427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6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C7F541E-4210-4F10-854C-9086430D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3500846"/>
            <a:ext cx="301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91A72E0-188C-416C-92C2-3A9EE87E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464270"/>
            <a:ext cx="5001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6B7C6A"/>
                </a:solidFill>
                <a:latin typeface="Calibri"/>
                <a:ea typeface="Calibri"/>
                <a:cs typeface="Calibri"/>
              </a:rPr>
              <a:t>Will the instrument detect it?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4AD5600-EFB5-455A-996D-B4CDE223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811742"/>
            <a:ext cx="53675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Sparse probes give sparse maps. Activity genes are exempt.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A497886-EB52-4D36-A05E-76B4DF86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140926"/>
            <a:ext cx="5367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6B7C6A"/>
                </a:solidFill>
                <a:latin typeface="Calibri"/>
                <a:ea typeface="Calibri"/>
                <a:cs typeface="Calibri"/>
              </a:rPr>
              <a:t>IN     Cux2   95% of L2/3 IT - the paralog that actually works in this tissue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65E0D7F-7C2D-4B02-A4F2-6D14D163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470110"/>
            <a:ext cx="5367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OUT   Tcf4   expressed in all 75 cell types, never below 37%; separates nothing</a:t>
            </a:r>
          </a:p>
        </p:txBody>
      </p:sp>
    </p:spTree>
    <p:extLst>
      <p:ext uri="{BB962C8B-B14F-4D97-AF65-F5344CB8AC3E}">
        <p14:creationId xmlns:p14="http://schemas.microsoft.com/office/powerpoint/2010/main" val="21341311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F944DB1-1A74-4538-B4B8-E947BDF0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4592"/>
            <a:ext cx="1143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Final panel  -  </a:t>
            </a:r>
            <a:r>
              <a:rPr sz="240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299</a:t>
            </a:r>
            <a:r>
              <a:rPr sz="240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 genes, one section, two regions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34E7EC0-D7E4-45FE-86A1-19D2F7CE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30352"/>
            <a:ext cx="11430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One shared standalone panel read from the same mouse on the same slide, so ORBm and BMAp are compared with no batch difference between them.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D7E777B-C32C-4D5A-9C02-E098A127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32688"/>
            <a:ext cx="269748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1D4E8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8ABB318-248E-47C5-AE28-AA7257B4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969264"/>
            <a:ext cx="2496312" cy="4710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299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C04F7EF-2DDB-48C2-92BE-556C410C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444752"/>
            <a:ext cx="2496312" cy="4710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genes on the</a:t>
            </a:r>
          </a:p>
          <a:p xmlns:a="http://schemas.openxmlformats.org/drawingml/2006/main">
            <a:pPr algn="l">
              <a:buNone/>
            </a:pPr>
            <a:r>
              <a:rPr sz="11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shared panel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B86BBC6-4689-43F3-AB21-FE6010E9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932688"/>
            <a:ext cx="269748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2A6F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CC3B6FF-133B-4FD7-823A-BEDFE454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969264"/>
            <a:ext cx="2496312" cy="4710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20 / 20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C74FF42-AA0A-4EC3-A48A-656F53B9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44752"/>
            <a:ext cx="2496312" cy="4710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target cell types</a:t>
            </a:r>
          </a:p>
          <a:p xmlns:a="http://schemas.openxmlformats.org/drawingml/2006/main">
            <a:pPr algn="l">
              <a:buNone/>
            </a:pPr>
            <a:r>
              <a:rPr sz="11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identified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172A35D-C480-4632-8A95-A5EF5E5F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932688"/>
            <a:ext cx="269748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6B7C6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C883EE1-A434-45D5-B439-2F61B955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969264"/>
            <a:ext cx="2496312" cy="4710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6B7C6A"/>
                </a:solidFill>
                <a:latin typeface="Calibri"/>
                <a:ea typeface="Calibri"/>
                <a:cs typeface="Calibri"/>
              </a:rPr>
              <a:t>0.922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9EA1F2-B8D9-4BA6-84D9-26878554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444752"/>
            <a:ext cx="2496312" cy="4710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mean recall across</a:t>
            </a:r>
          </a:p>
          <a:p xmlns:a="http://schemas.openxmlformats.org/drawingml/2006/main">
            <a:pPr algn="l">
              <a:buNone/>
            </a:pPr>
            <a:r>
              <a:rPr sz="11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those 20 types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48E41A6-7543-4B10-A21A-B0FA4D01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932688"/>
            <a:ext cx="269748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C445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99F3F3C-F505-4F67-9126-124B3DD4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9264"/>
            <a:ext cx="2496312" cy="4710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12 + 8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5442D4B-1208-4240-B2F7-61679064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44752"/>
            <a:ext cx="2496312" cy="4710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populations in</a:t>
            </a:r>
          </a:p>
          <a:p xmlns:a="http://schemas.openxmlformats.org/drawingml/2006/main">
            <a:pPr algn="l">
              <a:buNone/>
            </a:pPr>
            <a:r>
              <a:rPr sz="11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ORBm  +  BMAp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5C17368-14B8-470C-AABF-D60B541D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21408"/>
            <a:ext cx="6446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What the </a:t>
            </a:r>
            <a:r>
              <a:rPr sz="13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299</a:t>
            </a:r>
            <a:r>
              <a:rPr sz="13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 genes do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F0C50B1-12AE-423B-8B03-AC35944E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50592"/>
            <a:ext cx="26151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Cell identity, subtype and region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C1566C9-CB3B-46BE-8F7C-748E7CD8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096" y="2487168"/>
            <a:ext cx="283464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73F0DF4-28B6-49F1-AB1B-99EEF5AC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2441448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135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FC66BC5-9CE5-42DD-8B7B-2A35CE86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16352"/>
            <a:ext cx="26151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Morphine-dependence state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C05DA12-8898-454A-BC4F-F4DE4B2E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096" y="2852928"/>
            <a:ext cx="965877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52E52FA-C9C7-4897-BFF5-E61FC6D8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125" y="2807208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91058B9-3789-4226-B3B7-4C7B8B15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82112"/>
            <a:ext cx="26151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Druggable receptor map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EA80DEC-4A1F-43B4-AAE0-D1A17536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096" y="3218688"/>
            <a:ext cx="923925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87CDC8F-A4EE-45EB-9794-C6C3ABC5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135" y="3172968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8C1199D-1859-4EEE-9615-DAD4E831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547872"/>
            <a:ext cx="26151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Neuronal plasticity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D310E07-38B1-4A46-9504-52502FC9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096" y="3584448"/>
            <a:ext cx="6299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6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36056E8-AC63-4065-91BC-9E990A2E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168" y="3538728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6B7C6A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C23BAF2-D40D-43DC-A01B-1E8DB0A0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913632"/>
            <a:ext cx="26151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Activity and immediate-early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15F85AEE-3515-4E6D-96B8-B0CDDB5A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096" y="3950208"/>
            <a:ext cx="398949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B6D672E-087A-43C7-8AFF-6604B54E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197" y="3904488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C6041089-9A4B-4890-A6BA-63E15270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279392"/>
            <a:ext cx="26151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Transcription factors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8D27E94D-9E0E-4EAB-A811-04ACE297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096" y="4315968"/>
            <a:ext cx="272965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04F5A2CD-9163-4D53-9CD2-108A40D2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213" y="4270248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BE382870-DA1C-4CA7-ADD8-1A1D5081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645152"/>
            <a:ext cx="26151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Circadian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E77497EE-B3A8-4AD9-8549-EF28C5EC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096" y="4681728"/>
            <a:ext cx="209973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B64C008D-798C-48A6-9C13-52EB0E33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221" y="4636008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ECE02AA-7B46-4119-BB89-B67417B3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010912"/>
            <a:ext cx="26151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Genetic-tag reporters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CF56A8BC-BDC5-4807-97D2-8F01B405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096" y="5047488"/>
            <a:ext cx="54864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6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99B5974A-49A2-45B5-B75F-AE81CBD5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5001768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6B7C6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F7380B2E-8862-4EA6-A2B1-432E0498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21408"/>
            <a:ext cx="4736592" cy="32552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2700">
            <a:solidFill>
              <a:srgbClr val="B8B2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36307900-F493-4B00-8048-871AE0B9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31136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What each cell will tell us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2CE36AD8-05D9-4BEA-87B6-DB8DC291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560320"/>
            <a:ext cx="4389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Identity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3893A289-0B6A-4D19-BEE7-889B791A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98063"/>
            <a:ext cx="43891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Which of the 20 populations it is - cortical layer, interneuron class, or amygdala subtype.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C74BBE11-CEAE-4A0A-BFEF-736DB79D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255263"/>
            <a:ext cx="4389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6B7C6A"/>
                </a:solidFill>
                <a:latin typeface="Calibri"/>
                <a:ea typeface="Calibri"/>
                <a:cs typeface="Calibri"/>
              </a:rPr>
              <a:t>TRAP label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B072874E-0552-4444-9A75-8A3922CA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93007"/>
            <a:ext cx="43891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Whether it was active during the morphine window. tdTomato and iCre read the genetic tag directly.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D456DE11-E83D-4BDB-AD9F-A499B76D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950208"/>
            <a:ext cx="4389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Activity now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475D8B00-0329-486E-9BB3-86CBCAA3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187952"/>
            <a:ext cx="43891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Whether it is active at fixation - Fos, Arc, Npas4 and the wider immediate-early set.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C592E02F-9282-424E-B048-E2755933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645152"/>
            <a:ext cx="4389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Molecular state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CEAD1917-5ABB-4CEA-94FA-CA7A3CA6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882896"/>
            <a:ext cx="43891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Its receptors, transcription factors, plasticity genes and morphine-response genes.</a:t>
            </a:r>
          </a:p>
        </p:txBody>
      </p:sp>
      <p:sp>
        <p:nvSpPr>
          <p:cNvPr id="52" name="Rounded Rectangle 51">
            <a:extLst xmlns:a="http://schemas.openxmlformats.org/drawingml/2006/main">
              <a:ext uri="{FF2B5EF4-FFF2-40B4-BE49-F238E27FC236}">
                <a16:creationId xmlns:a16="http://schemas.microsoft.com/office/drawing/2014/main" id="{430AE942-7ACF-43D1-BA0A-F0F7EE54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468112"/>
            <a:ext cx="11457432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22225">
            <a:solidFill>
              <a:srgbClr val="C445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0E9BD542-281D-4657-AE77-24A153A2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59552"/>
            <a:ext cx="1106424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it is the complete list for these two regions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63B2D632-A341-4B13-AA4C-02F5D603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833872"/>
            <a:ext cx="11064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Every mouse GPCR (426) and every mouse transcription factor (1,321) was scored here; none is missing from the 20 atlas target types. A drug-target cross-check added Adora2a. The 247-gene Xenium pilot added Opn3, the only 247-only neuronal GPCR marking the ORBm Leiden 5 L4/5 IT split. The pilot used one cassette/animal, so this fine-subtype evidence remains provisional.</a:t>
            </a:r>
          </a:p>
        </p:txBody>
      </p:sp>
    </p:spTree>
    <p:extLst>
      <p:ext uri="{BB962C8B-B14F-4D97-AF65-F5344CB8AC3E}">
        <p14:creationId xmlns:p14="http://schemas.microsoft.com/office/powerpoint/2010/main" val="6262470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9CD74AB-34F8-4BF9-8065-743B660E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4592"/>
            <a:ext cx="1143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The 20 populations we must tell apart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C3C8C3B-A38F-4540-8CF9-251BBC0A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30352"/>
            <a:ext cx="11430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The target list comes from the Allen Brain Cell Atlas taxonomy: 12 populations in orbitofrontal cortex, 8 in posterior basomedial amygdala.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D9C3805-B3DC-4CF3-B9F9-41D95AD3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32688"/>
            <a:ext cx="269748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1D4E8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39D8345-A946-4D41-9DAF-EE71E031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969264"/>
            <a:ext cx="2496312" cy="4710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FF385F3-1484-43A2-B857-2B9E05AC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444752"/>
            <a:ext cx="2496312" cy="4710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ORBm populations</a:t>
            </a:r>
          </a:p>
          <a:p xmlns:a="http://schemas.openxmlformats.org/drawingml/2006/main">
            <a:pPr algn="l">
              <a:buNone/>
            </a:pPr>
            <a:r>
              <a:rPr sz="11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84,604 Allen cells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6FA3C5D-9875-4812-923D-91FC71A8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932688"/>
            <a:ext cx="269748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2A6F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9989367-7A90-44E7-B583-BD7CAA38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969264"/>
            <a:ext cx="2496312" cy="4710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8EE6DF7-3B54-4438-8646-CAED9EDB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44752"/>
            <a:ext cx="2496312" cy="4710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BMAp populations</a:t>
            </a:r>
          </a:p>
          <a:p xmlns:a="http://schemas.openxmlformats.org/drawingml/2006/main">
            <a:pPr algn="l">
              <a:buNone/>
            </a:pPr>
            <a:r>
              <a:rPr sz="11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40,709 Allen cells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AA914BA-214B-4BF0-9FA2-53ACA13D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932688"/>
            <a:ext cx="269748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6B7C6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9C23149-19D8-4D30-BDEB-33817831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969264"/>
            <a:ext cx="2496312" cy="4710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6B7C6A"/>
                </a:solidFill>
                <a:latin typeface="Calibri"/>
                <a:ea typeface="Calibri"/>
                <a:cs typeface="Calibri"/>
              </a:rPr>
              <a:t>125,313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BDA1E9D-0664-49E8-811E-0391FF02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444752"/>
            <a:ext cx="2496312" cy="4710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cells in the 20</a:t>
            </a:r>
          </a:p>
          <a:p xmlns:a="http://schemas.openxmlformats.org/drawingml/2006/main">
            <a:pPr algn="l">
              <a:buNone/>
            </a:pPr>
            <a:r>
              <a:rPr sz="11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target populations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CBB950F-8019-47A4-B8AD-2F33A18E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932688"/>
            <a:ext cx="269748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C445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300EA1E-1C63-4A52-94C7-EC0D4F4D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9264"/>
            <a:ext cx="2496312" cy="4710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3 - 28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FDEF196-DDE8-4072-A589-244D4B18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44752"/>
            <a:ext cx="2496312" cy="4710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dedicated markers per</a:t>
            </a:r>
          </a:p>
          <a:p xmlns:a="http://schemas.openxmlformats.org/drawingml/2006/main">
            <a:pPr algn="l">
              <a:buNone/>
            </a:pPr>
            <a:r>
              <a:rPr sz="11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type, median 6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94BFF26-9783-4D8C-83FE-6168D5AF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21408"/>
            <a:ext cx="5577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A.  ORBm  -  orbitofrontal cortex, medial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E4AA823-AC1D-4766-87A5-DCCB4200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59152"/>
            <a:ext cx="55778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12 populations,  84,604 cells   |   bar = cells, label = dedicated markers and recall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AD5F245-AE96-41B4-9674-ABC6B65B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615184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L2/3 IT CTX Glut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BA35A98-A7DA-4F65-9DE1-34CA1E29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2647188"/>
            <a:ext cx="869462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D863B2E-0FAC-4CC5-ADB5-C71D4DA1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046" y="2615184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8.9k   7 markers   r=0.93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8861732-25BA-4224-AD9B-9AB006EA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75788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L4/5 IT CTX Glut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E6ED3F5-BE5D-4E1B-A7EF-39125E45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2907792"/>
            <a:ext cx="1387374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BA28B42-64CC-49A4-BF8A-B377FD7E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958" y="2875788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14.2k   4 markers   r=0.88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F2F4403-4090-4D78-B5F8-143C403F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36391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L5 IT CTX Glut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C7877D0-E697-4284-8116-D7B49594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3168396"/>
            <a:ext cx="433211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DDD948B-1F47-4B35-9C19-548FB910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795" y="3136391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4.4k   6 markers   r=0.69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48931CA-F19B-4AC9-933C-54294014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396996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L5 ET CTX Glut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2034BA3-D49F-4068-9BD2-5EE13545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3429000"/>
            <a:ext cx="366548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4685151C-68FB-4735-AA70-4400C954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132" y="3396996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3.7k   7 markers   r=0.96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91446AE5-559F-4E7D-A351-66411172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0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L5 NP CTX Glut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804EDCEB-9F65-4E08-BE04-B21C434E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3689604"/>
            <a:ext cx="390958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CA7F036-E8A9-471D-AFC6-5E558CCB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542" y="3657600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4.0k   8 markers   r=0.99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0121A0C-41B2-4165-AED9-12C80483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918204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L6 CT CTX Glut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4B0FE6A3-A641-41EA-A940-2A39975D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3950208"/>
            <a:ext cx="21031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42FAE45D-0158-4D19-8090-2D5BA137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918204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21.5k   6 markers   r=0.93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ED5C32F-9BB9-4F89-A566-A8EB21A9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178808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L6b CTX Glut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6F4D700D-30F8-4862-9096-BD537B53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4210812"/>
            <a:ext cx="155481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9B92E69-01F5-4355-A7F0-3E4ED726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65" y="4178808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1.6k   6 markers   r=0.93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C9DB5667-A9A7-4538-88BE-881485FC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39412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L6 IT CTX Glut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D8E794B5-9412-4C2A-ABD3-B1208DA3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4471416"/>
            <a:ext cx="1111507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F832AAE-97D9-4920-A1AE-A01A27D2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091" y="4439412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11.3k   6 markers   r=0.71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36BC1F0B-56C2-4E68-8B1F-E8F20721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700016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Pvalb Gaba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CD01BE6C-1E3B-4501-A89F-E43E0FA5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4732020"/>
            <a:ext cx="287337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E9A2B1D7-9FC0-4B34-AB82-0AE1FC18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921" y="4700016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2.9k   6 markers   r=0.96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478BA9-23EC-43F1-9548-AB350BDA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960620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Sst Gaba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1C63801A-A71F-476C-826A-9C715B26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4992624"/>
            <a:ext cx="544283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FDC5655-2793-4217-8A8B-0DD8797B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867" y="4960620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5.6k   5 markers   r=0.94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C8D60D69-E3DF-406D-8DFF-46206E81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221223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Vip Gaba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8A834C4C-70E0-422F-9CAD-8D30335F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5253227"/>
            <a:ext cx="364097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FF9D4795-DA30-4387-85F1-1E1A5884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681" y="5221223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3.7k   6 markers   r=0.95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23EEC4B4-FFA5-4E2C-A1CD-3C1AD69E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481827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Lamp5 Gaba</a:t>
            </a: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4B233685-2748-41E1-8B3F-3F105D6A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5513831"/>
            <a:ext cx="28067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4ECAA5D8-E580-4AFD-8409-227E7F68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254" y="5481827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2.9k   6 markers   r=0.96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1B40244-4D37-4628-B06A-D2307E8D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121408"/>
            <a:ext cx="5577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B.  BMAp  -  basomedial amygdala, posterior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BB6A9C36-F827-4039-930E-EA9898BF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359152"/>
            <a:ext cx="55778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8 populations,  40,709 cells   |   bar = cells, label = dedicated markers and recall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67324D61-8E48-495D-BEEE-00325873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615184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MEA Slc17a7 Glut</a:t>
            </a:r>
          </a:p>
        </p:txBody>
      </p:sp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877E3BE8-70D1-4862-99FB-64DB7381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188"/>
            <a:ext cx="867912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14A17174-7546-402E-B282-FA25DC05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520" y="2615184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4.0k   28 markers   r=0.99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5A19274B-C3DF-477A-8AC4-07FAEB65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875788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MEA-COA-BMA Ccdc42 Glut</a:t>
            </a:r>
          </a:p>
        </p:txBody>
      </p:sp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00A1AC67-C733-4A82-B4C4-78F347BA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07792"/>
            <a:ext cx="21031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332327EF-A71B-4363-8884-CF47B0B8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875788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9.7k   5 markers   r=0.94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3C1FAA92-49D0-47AF-B327-0BE8BF46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136391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MEA Otp Foxp2 Glut</a:t>
            </a:r>
          </a:p>
        </p:txBody>
      </p:sp>
      <p:sp>
        <p:nvSpPr>
          <p:cNvPr id="64" name="Rectangle 63">
            <a:extLst xmlns:a="http://schemas.openxmlformats.org/drawingml/2006/main">
              <a:ext uri="{FF2B5EF4-FFF2-40B4-BE49-F238E27FC236}">
                <a16:creationId xmlns:a16="http://schemas.microsoft.com/office/drawing/2014/main" id="{3015EE4A-1FC1-4BB8-B173-DC10117C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8396"/>
            <a:ext cx="327645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8DA3E3C3-6598-4FF9-9A2F-09F6D0E2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1253" y="3136391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1.5k   8 markers   r=0.99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7FC757D1-FE63-4EDC-B47C-4850183A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396996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MEA-BST Otp Zic2 Glut</a:t>
            </a:r>
          </a:p>
        </p:txBody>
      </p:sp>
      <p:sp>
        <p:nvSpPr>
          <p:cNvPr id="67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9C4E0FB6-8549-4FF6-BF46-341B73A3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29000"/>
            <a:ext cx="273401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663A4218-0E9B-4D3C-ACC5-E1E8D8D4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009" y="3396996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1.3k   5 markers   r=0.93</a:t>
            </a: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1F9DEC06-9D27-4E22-B2FC-FFA66ABF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657600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SI-MA-LPO-LHA Skor1 Glut</a:t>
            </a:r>
          </a:p>
        </p:txBody>
      </p:sp>
      <p:sp>
        <p:nvSpPr>
          <p:cNvPr id="70" name="Rectangle 69">
            <a:extLst xmlns:a="http://schemas.openxmlformats.org/drawingml/2006/main">
              <a:ext uri="{FF2B5EF4-FFF2-40B4-BE49-F238E27FC236}">
                <a16:creationId xmlns:a16="http://schemas.microsoft.com/office/drawing/2014/main" id="{92A0CF19-3C6A-406B-9420-66D44913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89604"/>
            <a:ext cx="474912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03AD7740-7924-4102-9571-11057FA2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8520" y="3657600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2.2k   12 markers   r=0.98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17EB4E54-86DE-4730-8E22-D5CD259D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918204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MEA-BST Sox6 Gaba</a:t>
            </a:r>
          </a:p>
        </p:txBody>
      </p:sp>
      <p:sp>
        <p:nvSpPr>
          <p:cNvPr id="73" name="Rectangle 72">
            <a:extLst xmlns:a="http://schemas.openxmlformats.org/drawingml/2006/main">
              <a:ext uri="{FF2B5EF4-FFF2-40B4-BE49-F238E27FC236}">
                <a16:creationId xmlns:a16="http://schemas.microsoft.com/office/drawing/2014/main" id="{ECEEB363-99D6-479E-ADD8-331DA1B7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0208"/>
            <a:ext cx="189638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D0D5751D-66F8-481E-87C0-A3DA150D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988" y="3918204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8.7k   3 markers   r=0.91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94943B1C-4150-45F4-B968-D0959503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4178808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MEA-BST Lhx6 Sp9 Gaba</a:t>
            </a:r>
          </a:p>
        </p:txBody>
      </p:sp>
      <p:sp>
        <p:nvSpPr>
          <p:cNvPr id="76" name="Rectangle 75">
            <a:extLst xmlns:a="http://schemas.openxmlformats.org/drawingml/2006/main">
              <a:ext uri="{FF2B5EF4-FFF2-40B4-BE49-F238E27FC236}">
                <a16:creationId xmlns:a16="http://schemas.microsoft.com/office/drawing/2014/main" id="{D8052FC8-8ABF-44AA-B49E-9D2C6701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812"/>
            <a:ext cx="1407526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7" name="TextBox 76">
            <a:extLst xmlns:a="http://schemas.openxmlformats.org/drawingml/2006/main">
              <a:ext uri="{FF2B5EF4-FFF2-40B4-BE49-F238E27FC236}">
                <a16:creationId xmlns:a16="http://schemas.microsoft.com/office/drawing/2014/main" id="{D1101FB1-2985-480E-9710-35C803E4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134" y="4178808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6.5k   4 markers   r=0.93</a:t>
            </a: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99251324-001E-4639-A2A4-08546B27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4439412"/>
            <a:ext cx="1883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CEA-BST Ebf1 Pdyn Gaba</a:t>
            </a:r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1DE0B5E5-2F20-41ED-B66E-345522FC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71416"/>
            <a:ext cx="151754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27FE238E-ACB1-4AE1-A15D-94C6BC02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148" y="4439412"/>
            <a:ext cx="1737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7.0k   9 markers   r=0.95</a:t>
            </a:r>
          </a:p>
        </p:txBody>
      </p:sp>
    </p:spTree>
    <p:extLst>
      <p:ext uri="{BB962C8B-B14F-4D97-AF65-F5344CB8AC3E}">
        <p14:creationId xmlns:p14="http://schemas.microsoft.com/office/powerpoint/2010/main" val="623814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3C16067-5C37-490B-8408-61733547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4592"/>
            <a:ext cx="1143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The list rests on a full re-analysis of the reference atlas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A4EA924-504E-42A9-A685-E3FF6E43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30352"/>
            <a:ext cx="11430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No gene was taken on a paper's word. Every candidate was re-scored in the Allen atlas, restricted to these two regions.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466F3F7-4144-4806-92D0-0E7BC378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14400"/>
            <a:ext cx="2174443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1D4E8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8559F71-CA99-4C54-A17D-9EE57858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950976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226,886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E5DBE6C-5E8E-4A54-8901-03431AF2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371600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single cells scored across</a:t>
            </a:r>
          </a:p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the two target regions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CE29714-7400-49D6-8A35-4F96459A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507" y="914400"/>
            <a:ext cx="2174443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2A6F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6A3AFC9-CD3C-4D97-BAC8-C460A205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235" y="950976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79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48C78FB-ED5B-4CCC-B3DA-20BDF7DA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235" y="1371600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cell types profiled,</a:t>
            </a:r>
          </a:p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not only the 20 targets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AFA4B58-BE3F-4BDE-8772-3FBEC63F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254" y="914400"/>
            <a:ext cx="2174443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6B7C6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132299B-0543-4A00-B2C3-0753F910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982" y="950976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6B7C6A"/>
                </a:solidFill>
                <a:latin typeface="Calibri"/>
                <a:ea typeface="Calibri"/>
                <a:cs typeface="Calibri"/>
              </a:rPr>
              <a:t>32,285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ECCF2E9-DA82-4CF4-8341-43FEA0DD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982" y="1371600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genes screened for</a:t>
            </a:r>
          </a:p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cell-type markers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9A2F72C-8CB6-4459-8925-9E729262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001" y="914400"/>
            <a:ext cx="2174443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C445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978C590-AF29-4E81-9A76-6ED5D222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729" y="950976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23,305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94442C4-DBE6-426F-A114-3002BC4D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729" y="1371600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gene x cell-type abundance</a:t>
            </a:r>
          </a:p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and specificity measurements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DB247C5-5715-40B9-95B3-8BA9B05E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748" y="914400"/>
            <a:ext cx="2174443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1D4E8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84AF877-98B2-4533-AF08-1DD89704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476" y="950976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27,730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803E856-8290-4445-BC96-F8D56E0A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476" y="1371600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pairwise tests: can gene X</a:t>
            </a:r>
          </a:p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separate type A from type B?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887F1378-236F-4816-B1BD-623086D5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920240"/>
            <a:ext cx="2174443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2A6F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770123E-9C18-484F-9CAB-7CAA6010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956816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1,747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15375D6-80C6-4869-B7EC-7FFCCE5A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377440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receptors and factors</a:t>
            </a:r>
          </a:p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swept genome-wide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AE4FFB68-8C37-4CB5-ABED-077CB44D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507" y="1920240"/>
            <a:ext cx="2174443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6B7C6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C7CD263-9319-47BA-8362-1BF21EFC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235" y="1956816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6B7C6A"/>
                </a:solidFill>
                <a:latin typeface="Calibri"/>
                <a:ea typeface="Calibri"/>
                <a:cs typeface="Calibri"/>
              </a:rPr>
              <a:t>426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A0CA3FB-97FB-4530-B1E8-2DE4BF3B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235" y="2377440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receptors evaluated one by</a:t>
            </a:r>
          </a:p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one, 153 expressed here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C85F8EB2-8B18-4916-8DC6-968E810B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748" y="1920240"/>
            <a:ext cx="2174443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2A6F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8C5E0F7-14DF-49C6-A622-6B63B7A7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476" y="1956816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9B8D287-83E7-4184-A31D-AF658C96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476" y="2377440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documented sources,</a:t>
            </a:r>
          </a:p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9 of them with a DOI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AB12D55C-E2FB-490B-8391-F8F59496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254" y="1973580"/>
            <a:ext cx="2174443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1D4E8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7DAB167-3BDE-4651-A2DE-675D95AE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982" y="2010156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147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B44E25DB-8CE9-4A46-A068-C06A870A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982" y="2430780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dedicated marker-to-type</a:t>
            </a:r>
          </a:p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assignments, 3 to 28 each</a:t>
            </a:r>
          </a:p>
        </p:txBody>
      </p:sp>
      <p:sp>
        <p:nvSpPr>
          <p:cNvPr id="44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4649B643-D218-4789-9A76-92892674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001" y="1973580"/>
            <a:ext cx="2174443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5875">
            <a:solidFill>
              <a:srgbClr val="2A6F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711B525F-1F6D-4307-B80C-E30FF726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729" y="2010156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59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DDF29093-8A62-4B51-9F52-015E66B5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729" y="2430780"/>
            <a:ext cx="19732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FDA-approved drugs mapped</a:t>
            </a:r>
          </a:p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to panel receptors (IUPHAR)</a:t>
            </a:r>
          </a:p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2A11935B-88DB-4458-9180-09705711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30894"/>
            <a:ext cx="11457432" cy="26967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12700">
            <a:solidFill>
              <a:srgbClr val="B8B2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1400"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31BADD7D-E55B-49FC-AC87-CC5F2C26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22334"/>
            <a:ext cx="1106424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What that analysis produced, in order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4B19B5FA-6640-4FC5-B8DA-2B72A943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51518"/>
            <a:ext cx="25603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1.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524D3A7D-2045-4F1E-B17D-88C9D860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051518"/>
            <a:ext cx="5120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Region-restricted expression matrices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C0B84E8C-48C3-4F61-ACA2-61E3DDD2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289262"/>
            <a:ext cx="51389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ORBm and BMAp cells were pulled out of the whole-brain atlas, so every abundance and specificity number describes these two regions, not a brain-wide average.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300B0D7D-7164-4BE5-A02A-34484AAB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051518"/>
            <a:ext cx="25603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2.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1FDC68AD-9C6B-4696-BDF3-09233E6A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051518"/>
            <a:ext cx="5120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2A6F97"/>
                </a:solidFill>
                <a:latin typeface="Calibri"/>
                <a:ea typeface="Calibri"/>
                <a:cs typeface="Calibri"/>
              </a:rPr>
              <a:t>Per-population marker ranking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6A6F1DF1-0777-4B4D-8A32-FA9C2790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289262"/>
            <a:ext cx="5138928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For each of the 20 targets, every candidate was ranked by how much of that population expresses it and how tightly it is restricted to it.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48E066B1-7ABF-429D-9DFE-4291574B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20782"/>
            <a:ext cx="25603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6B7C6A"/>
                </a:solidFill>
                <a:latin typeface="Calibri"/>
                <a:ea typeface="Calibri"/>
                <a:cs typeface="Calibri"/>
              </a:rPr>
              <a:t>3.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83C78CD-D904-481B-8F27-43B08073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5020782"/>
            <a:ext cx="5120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6B7C6A"/>
                </a:solidFill>
                <a:latin typeface="Calibri"/>
                <a:ea typeface="Calibri"/>
                <a:cs typeface="Calibri"/>
              </a:rPr>
              <a:t>Separability, tested two independent ways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10F5C1E4-8472-4E63-8365-1BE08C44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5258526"/>
            <a:ext cx="5138928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All 94 same-region pairs of target types are separable - every pair has a panel gene differing by 20 points or more. And on held-out cells a classifier using only these genes recovers all 20 types, mean recall 0.922.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DF7E0C71-0B80-4F1E-8DC5-354FB70D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5020782"/>
            <a:ext cx="25603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4.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9DFF14E1-E1E6-4CD9-B54D-BB04617C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020782"/>
            <a:ext cx="5120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C44536"/>
                </a:solidFill>
                <a:latin typeface="Calibri"/>
                <a:ea typeface="Calibri"/>
                <a:cs typeface="Calibri"/>
              </a:rPr>
              <a:t>Receptor sweep and drug-target layer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7DBE703A-701B-45F5-9DAB-3385DBCE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58526"/>
            <a:ext cx="5138928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All 426 mouse GPCRs and 1,321 transcription factors were screened against the 20 atlas target types. A drug-target cross-check added Adora2a. Pilot data added Opn3 for the ORBm Leiden 5 L4/5 IT split; replication across animals is pending.</a:t>
            </a:r>
          </a:p>
        </p:txBody>
      </p:sp>
    </p:spTree>
    <p:extLst>
      <p:ext uri="{BB962C8B-B14F-4D97-AF65-F5344CB8AC3E}">
        <p14:creationId xmlns:p14="http://schemas.microsoft.com/office/powerpoint/2010/main" val="7252495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D3F6DC8-3C46-EDFD-18A2-BB2ADBE0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"/>
            <a:ext cx="8929688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Xenium protocol for TRAP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Fresh Frozen </a:t>
            </a:r>
          </a:p>
          <a:p xmlns:a="http://schemas.openxmlformats.org/drawingml/2006/main">
            <a:endParaRPr/>
          </a:p>
        </p:txBody>
      </p:sp>
      <p:pic>
        <p:nvPicPr>
          <p:cNvPr id="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54ad880e844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29708" y="914399"/>
            <a:ext cx="6222344" cy="5686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1880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5374B8B-7B5C-21A8-48FB-A80034C2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3" y="314325"/>
            <a:ext cx="597217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Pilot Xenium data</a:t>
            </a:r>
          </a:p>
          <a:p xmlns:a="http://schemas.openxmlformats.org/drawingml/2006/main">
            <a:endParaRPr/>
          </a:p>
        </p:txBody>
      </p:sp>
      <p:pic>
        <p:nvPicPr>
          <p:cNvPr id="1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837c9bca240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99207" y="2909735"/>
            <a:ext cx="3562080" cy="3162296"/>
          </a:xfrm>
          <a:prstGeom xmlns:a="http://schemas.openxmlformats.org/drawingml/2006/main" prst="rect">
            <a:avLst/>
          </a:prstGeom>
        </p:spPr>
      </p:pic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f84d82c0d4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4889" y="2868812"/>
            <a:ext cx="3881908" cy="2798492"/>
          </a:xfrm>
          <a:prstGeom xmlns:a="http://schemas.openxmlformats.org/drawingml/2006/main" prst="rect">
            <a:avLst/>
          </a:prstGeom>
        </p:spPr>
      </p:pic>
      <p:pic>
        <p:nvPicPr>
          <p:cNvPr id="16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8c7eeb96b41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868" y="6164865"/>
            <a:ext cx="4017834" cy="2194817"/>
          </a:xfrm>
          <a:prstGeom xmlns:a="http://schemas.openxmlformats.org/drawingml/2006/main" prst="rect">
            <a:avLst/>
          </a:prstGeom>
        </p:spPr>
      </p:pic>
      <p:pic>
        <p:nvPicPr>
          <p:cNvPr id="17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330dd6d5c4b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6502" y="605620"/>
            <a:ext cx="2990400" cy="2272245"/>
          </a:xfrm>
          <a:prstGeom xmlns:a="http://schemas.openxmlformats.org/drawingml/2006/main" prst="rect">
            <a:avLst/>
          </a:prstGeom>
        </p:spPr>
      </p:pic>
      <p:pic>
        <p:nvPicPr>
          <p:cNvPr id="1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7b60447d741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91" y="378305"/>
            <a:ext cx="4193740" cy="2606595"/>
          </a:xfrm>
          <a:prstGeom xmlns:a="http://schemas.openxmlformats.org/drawingml/2006/main" prst="rect">
            <a:avLst/>
          </a:prstGeom>
        </p:spPr>
      </p:pic>
      <p:pic>
        <p:nvPicPr>
          <p:cNvPr id="19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63fd8282c4f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10124" y="2737659"/>
            <a:ext cx="3562080" cy="3162296"/>
          </a:xfrm>
          <a:prstGeom xmlns:a="http://schemas.openxmlformats.org/drawingml/2006/main" prst="rect">
            <a:avLst/>
          </a:prstGeom>
        </p:spPr>
      </p:pic>
      <p:pic>
        <p:nvPicPr>
          <p:cNvPr id="20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a9ed8c41546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5695" y="2932967"/>
            <a:ext cx="4141768" cy="2058890"/>
          </a:xfrm>
          <a:prstGeom xmlns:a="http://schemas.openxmlformats.org/drawingml/2006/main" prst="rect">
            <a:avLst/>
          </a:prstGeom>
        </p:spPr>
      </p:pic>
      <p:pic>
        <p:nvPicPr>
          <p:cNvPr id="21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f17723f7744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57880" y="6963558"/>
            <a:ext cx="4017834" cy="2194817"/>
          </a:xfrm>
          <a:prstGeom xmlns:a="http://schemas.openxmlformats.org/drawingml/2006/main" prst="rect">
            <a:avLst/>
          </a:prstGeom>
        </p:spPr>
      </p:pic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281810e8949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72313" y="709679"/>
            <a:ext cx="2788974" cy="2119192"/>
          </a:xfrm>
          <a:prstGeom xmlns:a="http://schemas.openxmlformats.org/drawingml/2006/main" prst="rect">
            <a:avLst/>
          </a:prstGeom>
        </p:spPr>
      </p:pic>
      <p:pic>
        <p:nvPicPr>
          <p:cNvPr id="23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e00da1b5542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927" y="81023"/>
            <a:ext cx="4193740" cy="31103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725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anel update title">
            <a:extLst xmlns:a="http://schemas.openxmlformats.org/drawingml/2006/main">
              <a:ext uri="{FF2B5EF4-FFF2-40B4-BE49-F238E27FC236}">
                <a16:creationId xmlns:a16="http://schemas.microsoft.com/office/drawing/2014/main" id="{B78C0672-97A3-4122-8FE3-8EE554BC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Panel update</a:t>
            </a:r>
          </a:p>
        </p:txBody>
      </p:sp>
      <p:sp>
        <p:nvSpPr>
          <p:cNvPr id="2" name="Panel update summary">
            <a:extLst xmlns:a="http://schemas.openxmlformats.org/drawingml/2006/main">
              <a:ext uri="{FF2B5EF4-FFF2-40B4-BE49-F238E27FC236}">
                <a16:creationId xmlns:a16="http://schemas.microsoft.com/office/drawing/2014/main" id="{51FEE762-2C09-4E1A-8FB3-74F5EBCC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Opn3 added as an ORBm Leiden 5 L4/5 IT fine-subtype marker and GPCR.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Final standalone panel: 299 genes. The 247-gene pilot measured Opn3 in 93.0% (119/128) of Leiden 5 neurons versus 31.1% (164/528) of other ORBm neurons. Biological replication across animals remains pending.</a:t>
            </a:r>
          </a:p>
        </p:txBody>
      </p:sp>
    </p:spTree>
    <p:extLst>
      <p:ext uri="{BB962C8B-B14F-4D97-AF65-F5344CB8AC3E}">
        <p14:creationId xmlns:p14="http://schemas.microsoft.com/office/powerpoint/2010/main" val="110797772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2026-09-28T23:06:09.1180000Z</dcterms:created>
  <dcterms:modified xsi:type="dcterms:W3CDTF">2026-09-28T23:06:09.1180000Z</dcterms:modified>
</coreProperties>
</file>