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D4E89"/>
                </a:solidFill>
                <a:latin typeface="Calibri"/>
              </a:rPr>
              <a:t>The 20 populations we must tell apart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65392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ORBm + BMAp custom Xenium panel  |  Allen WMB-10X  |  1/5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The panel is designed around a fixed target list: 12 cell populations in orbitofrontal cortex and 8 in basomedial amygdala, taken from the Allen Brain Cell Atlas taxonomy.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2697480" cy="1024128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69264"/>
            <a:ext cx="2478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1D4E89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444752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ORBm populations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(cortical layers + interneurons)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5264" y="914400"/>
            <a:ext cx="2697480" cy="1024128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64992" y="969264"/>
            <a:ext cx="2478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2A6F97"/>
                </a:solidFill>
                <a:latin typeface="Calibr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2" y="1444752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BMAp populations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(glutamatergic + GABAergic)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914400"/>
            <a:ext cx="2697480" cy="1024128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4496" y="969264"/>
            <a:ext cx="2478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6B7C6A"/>
                </a:solidFill>
                <a:latin typeface="Calibri"/>
              </a:rPr>
              <a:t>124,115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4496" y="1444752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Allen cells in the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20 target populations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4272" y="914400"/>
            <a:ext cx="2697480" cy="1024128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969264"/>
            <a:ext cx="2478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C44536"/>
                </a:solidFill>
                <a:latin typeface="Calibri"/>
              </a:rPr>
              <a:t>20 / 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444752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have a dedicated marker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on the final panel</a:t>
            </a:r>
          </a:p>
        </p:txBody>
      </p:sp>
      <p:pic>
        <p:nvPicPr>
          <p:cNvPr id="17" name="Picture 16" descr="V2_F1_cell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717" y="2084831"/>
            <a:ext cx="9378261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2A6F97"/>
                </a:solidFill>
                <a:latin typeface="Calibri"/>
              </a:rPr>
              <a:t>The list rests on a full re-analysis of the reference atlas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65392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ORBm + BMAp custom Xenium panel  |  Allen WMB-10X  |  2/5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No gene was taken on a paper's word. Every candidate was re-scored in the Allen atlas, in these two regions, against the genes the panel already carried.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2697480" cy="1024128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69264"/>
            <a:ext cx="2478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1D4E89"/>
                </a:solidFill>
                <a:latin typeface="Calibri"/>
              </a:rPr>
              <a:t>226,886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444752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single cells scored across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the two target regions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5264" y="914400"/>
            <a:ext cx="2697480" cy="1024128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64992" y="969264"/>
            <a:ext cx="2478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2A6F97"/>
                </a:solidFill>
                <a:latin typeface="Calibri"/>
              </a:rPr>
              <a:t>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2" y="1444752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cell subclasses profiled,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not only the 20 targets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914400"/>
            <a:ext cx="2697480" cy="1024128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4496" y="969264"/>
            <a:ext cx="2478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6B7C6A"/>
                </a:solidFill>
                <a:latin typeface="Calibri"/>
              </a:rPr>
              <a:t>28,184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4496" y="1444752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gene x subclass abundance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and specificity measurements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4272" y="914400"/>
            <a:ext cx="2697480" cy="1024128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969264"/>
            <a:ext cx="2478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C44536"/>
                </a:solidFill>
                <a:latin typeface="Calibri"/>
              </a:rPr>
              <a:t>3,901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444752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pairwise tests: can gene X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separate type A from type B?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139696"/>
            <a:ext cx="2697480" cy="1024128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2194560"/>
            <a:ext cx="2478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1D4E89"/>
                </a:solidFill>
                <a:latin typeface="Calibri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2670048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documented sources,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9 with a DOI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55264" y="2139696"/>
            <a:ext cx="2697480" cy="1024128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64992" y="2194560"/>
            <a:ext cx="2478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2A6F97"/>
                </a:solidFill>
                <a:latin typeface="Calibri"/>
              </a:rPr>
              <a:t>127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4992" y="2670048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region-enriched GPCRs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evaluated one by one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2139696"/>
            <a:ext cx="2697480" cy="1024128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4496" y="2194560"/>
            <a:ext cx="2478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6B7C6A"/>
                </a:solidFill>
                <a:latin typeface="Calibri"/>
              </a:rPr>
              <a:t>39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6" y="2670048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receptors tiered as specific,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intermediate or universal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34272" y="2139696"/>
            <a:ext cx="2697480" cy="1024128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2194560"/>
            <a:ext cx="2478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C44536"/>
                </a:solidFill>
                <a:latin typeface="Calibri"/>
              </a:rPr>
              <a:t>64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670048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FDA-approved drugs mapped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to panel receptors (IUPHAR)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3401568"/>
            <a:ext cx="11457432" cy="2907792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B8B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3547872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D4E89"/>
                </a:solidFill>
                <a:latin typeface="Calibri"/>
              </a:rPr>
              <a:t>What that analysis produced, in order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950208"/>
            <a:ext cx="5440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1.   Region-restricted expression matrices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      Cells from ORBm and BMAp were pulled out of the whole-brain atlas, so every abundance and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      specificity number describes these two regions - not a brain-wide average.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2.   Per-population marker ranking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      For each of the 20 targets we ranked every candidate by how much of that population expresses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      it and how strongly it is restricted to it.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950208"/>
            <a:ext cx="5440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3.   Pairwise separability testing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      3,901 tests confirmed that neighbouring populations - L5 IT vs L5 ET, MEA vs BMA - can still be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      told apart with the genes actually on the panel.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4.   Receptor and drug-target layer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      Receptors were tiered by specificity and cross-referenced to the IUPHAR pharmacology database,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      so the map is of targets that drugs exist for.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C44536"/>
                </a:solidFill>
                <a:latin typeface="Calibri"/>
              </a:rPr>
              <a:t>Why a gene is in - and why a similar one is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65392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ORBm + BMAp custom Xenium panel  |  Allen WMB-10X  |  3/5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Four rules, each a measurement with a cutoff. For every rule there is a gene that passed and a comparable gene that did not, so the line is visible rather than asserted.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5641848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3776" y="1069848"/>
            <a:ext cx="310896" cy="310896"/>
          </a:xfrm>
          <a:prstGeom prst="ellipse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8348" y="1101852"/>
            <a:ext cx="30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069848"/>
            <a:ext cx="5001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1D4E89"/>
                </a:solidFill>
                <a:latin typeface="Calibri"/>
              </a:rPr>
              <a:t>Does it identify the cell type?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435608"/>
            <a:ext cx="5367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Specificity against genes the panel already has. Cutoff: must beat them (ratio &gt; 1).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801368"/>
            <a:ext cx="5367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6B7C6A"/>
                </a:solidFill>
                <a:latin typeface="Calibri"/>
              </a:rPr>
              <a:t>IN     Col23a1   3.7x more specific - the panel had no equal marker for that BMA population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093976"/>
            <a:ext cx="5367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C44536"/>
                </a:solidFill>
                <a:latin typeface="Calibri"/>
              </a:rPr>
              <a:t>OUT   Sfrp1   0.9x - a gene already on the panel does the same job better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960120"/>
            <a:ext cx="5641848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09360" y="1069848"/>
            <a:ext cx="310896" cy="310896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3932" y="1101852"/>
            <a:ext cx="30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1069848"/>
            <a:ext cx="5001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2A6F97"/>
                </a:solidFill>
                <a:latin typeface="Calibri"/>
              </a:rPr>
              <a:t>Is it a druggable receptor we cannot already see?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1435608"/>
            <a:ext cx="5367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Regional enrichment, plus whether that receptor family is already covered.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1801368"/>
            <a:ext cx="5367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6B7C6A"/>
                </a:solidFill>
                <a:latin typeface="Calibri"/>
              </a:rPr>
              <a:t>IN     Chrm1   M1 receptor, enriched in 8 populations - we could only see M2 before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093976"/>
            <a:ext cx="5367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C44536"/>
                </a:solidFill>
                <a:latin typeface="Calibri"/>
              </a:rPr>
              <a:t>OUT   Glipr1   its population already has Penk (2.3x) and Lamb3 (1.5x) on the panel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606040"/>
            <a:ext cx="5641848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93776" y="2715768"/>
            <a:ext cx="310896" cy="310896"/>
          </a:xfrm>
          <a:prstGeom prst="ellipse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" y="2747772"/>
            <a:ext cx="30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2715768"/>
            <a:ext cx="5001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C44536"/>
                </a:solidFill>
                <a:latin typeface="Calibri"/>
              </a:rPr>
              <a:t>Does it report the morphine-dependent state?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3081528"/>
            <a:ext cx="5367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Differential expression counted only in our 12 ORBm populations, not the donor's whole dataset.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3447288"/>
            <a:ext cx="5367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6B7C6A"/>
                </a:solidFill>
                <a:latin typeface="Calibri"/>
              </a:rPr>
              <a:t>IN     Per2   changes in 11 of 12 populations - the broadest gene in the entire dataset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" y="3739896"/>
            <a:ext cx="5367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C44536"/>
                </a:solidFill>
                <a:latin typeface="Calibri"/>
              </a:rPr>
              <a:t>OUT   Nr4a3   looked strong at 8 clusters, but only 5 of ours; the rest were regions we do not image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2606040"/>
            <a:ext cx="5641848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09360" y="2715768"/>
            <a:ext cx="310896" cy="310896"/>
          </a:xfrm>
          <a:prstGeom prst="ellipse">
            <a:avLst/>
          </a:prstGeom>
          <a:solidFill>
            <a:srgbClr val="6B7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13932" y="2747772"/>
            <a:ext cx="30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3408" y="2715768"/>
            <a:ext cx="5001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6B7C6A"/>
                </a:solidFill>
                <a:latin typeface="Calibri"/>
              </a:rPr>
              <a:t>Will the instrument actually detect it?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3081528"/>
            <a:ext cx="5367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Fraction of cells expressing it in the atlas. Sparse probes give sparse, unusable maps.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3447288"/>
            <a:ext cx="5367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6B7C6A"/>
                </a:solidFill>
                <a:latin typeface="Calibri"/>
              </a:rPr>
              <a:t>IN     Grm8   99% of cells, above 50% in 8 of 12 populations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3739896"/>
            <a:ext cx="5367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C44536"/>
                </a:solidFill>
                <a:latin typeface="Calibri"/>
              </a:rPr>
              <a:t>OUT   Mas1   the single most enriched receptor, but only 45% of cells and absent from GABA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37083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The rules are independent, and that is deliberate. A receptor earns a slot by showing where a drug target sits, whether or not morphine changes it - so one panel serves the pharmacology aim and the addiction aim at the same time.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5047488"/>
            <a:ext cx="11457432" cy="1280160"/>
          </a:xfrm>
          <a:prstGeom prst="roundRect">
            <a:avLst/>
          </a:prstGeom>
          <a:solidFill>
            <a:srgbClr val="EAF2F8"/>
          </a:solidFill>
          <a:ln w="1524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5175504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D4E89"/>
                </a:solidFill>
                <a:latin typeface="Calibri"/>
              </a:rPr>
              <a:t>The hard constraint that forces all of this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550468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The 10x Mouse Brain panel gives ~248 genes free; the custom add-on is capped near 100. So 168 genes on one section means 47 taken free and 121 paid for. A gene that merely appeared in a paper, or in a differential-expression table, does not qualify - roughly three of every four candidates we screened were turned down.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2A6F97"/>
                </a:solidFill>
                <a:latin typeface="Calibri"/>
              </a:rPr>
              <a:t>Collaborator lists were filtered, not copied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65392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ORBm + BMAp custom Xenium panel  |  Allen WMB-10X  |  4/5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Two external datasets arrived as gene tables. Both were put through the same four rules as everything else.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32688"/>
            <a:ext cx="5641848" cy="420624"/>
          </a:xfrm>
          <a:prstGeom prst="round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996696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Morphine transcriptomics in orbitofrontal / prefrontal cortex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481328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500" b="1">
                <a:solidFill>
                  <a:srgbClr val="1D4E89"/>
                </a:solidFill>
                <a:latin typeface="Calibri"/>
              </a:rPr>
              <a:t>304 unique DEGs     -&gt;     10 kept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2139696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Rule applied:  will Xenium see it in our 12 ORBm populations, and does it change in enough of them? Relative enrichment is not abundance.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889504"/>
            <a:ext cx="5641848" cy="1572768"/>
          </a:xfrm>
          <a:prstGeom prst="roundRect">
            <a:avLst/>
          </a:prstGeom>
          <a:solidFill>
            <a:srgbClr val="F4F1EA"/>
          </a:solidFill>
          <a:ln w="1524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2980944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6B7C6A"/>
                </a:solidFill>
                <a:latin typeface="Calibri"/>
              </a:rPr>
              <a:t>KEPT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3273552"/>
            <a:ext cx="534924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Clock and peptide program      Per2   Pcsk1   Per1   Camk2g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High-abundance receptors      Chrm1   Grm8   Gpr26   Rxfp1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Free on the 10x base panel     Bhlhe40   Sema3e   Rxfp1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572000"/>
            <a:ext cx="5641848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4663440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C44536"/>
                </a:solidFill>
                <a:latin typeface="Calibri"/>
              </a:rPr>
              <a:t>DROPPED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4956048"/>
            <a:ext cx="5349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294 genes dropped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Sparse receptors - Mas1 at 45% of cells and near-absent in GABA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Most transcription factors, and the long tail of the DEG table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A 100-slot panel is not a transcriptome.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932688"/>
            <a:ext cx="5641848" cy="420624"/>
          </a:xfrm>
          <a:prstGeom prst="round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996696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Amygdala spatial panel  (GSE283418, published)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1481328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500" b="1">
                <a:solidFill>
                  <a:srgbClr val="2A6F97"/>
                </a:solidFill>
                <a:latin typeface="Calibri"/>
              </a:rPr>
              <a:t>98 spatial genes     -&gt;     14 kept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139696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Rule applied:  does it mark BMAp more specifically than a gene the panel already carries? 52 of the 98 were already covered.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2889504"/>
            <a:ext cx="5641848" cy="1572768"/>
          </a:xfrm>
          <a:prstGeom prst="roundRect">
            <a:avLst/>
          </a:prstGeom>
          <a:solidFill>
            <a:srgbClr val="F4F1EA"/>
          </a:solidFill>
          <a:ln w="1524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2980944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6B7C6A"/>
                </a:solidFill>
                <a:latin typeface="Calibri"/>
              </a:rPr>
              <a:t>KEPT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3273552"/>
            <a:ext cx="534924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14 genes that add BMAp information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Appended on top of the curated core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No existing gene was removed or re-ranked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572000"/>
            <a:ext cx="5641848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4663440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C44536"/>
                </a:solidFill>
                <a:latin typeface="Calibri"/>
              </a:rPr>
              <a:t>DROPPED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4956048"/>
            <a:ext cx="5349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Remainder dropped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Below the specificity cutoff - Sfrp1, Glipr1, Vdr all under 1.0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Several peak in neighbouring nuclei, not BMAp itself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Do not spend a slot on a weaker third marker.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C44536"/>
                </a:solidFill>
                <a:latin typeface="Calibri"/>
              </a:rPr>
              <a:t>Final panel  -  168 genes, one section, two regions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65392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ORBm + BMAp custom Xenium panel  |  Allen WMB-10X  |  5/5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One shared Xenium panel read from the same mouse. All 20 target populations remain separable.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2697480" cy="1024128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69264"/>
            <a:ext cx="2478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1D4E89"/>
                </a:solidFill>
                <a:latin typeface="Calibri"/>
              </a:rPr>
              <a:t>168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444752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genes on the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shared panel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5264" y="914400"/>
            <a:ext cx="2697480" cy="1024128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64992" y="969264"/>
            <a:ext cx="2478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2A6F97"/>
                </a:solidFill>
                <a:latin typeface="Calibri"/>
              </a:rPr>
              <a:t>20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2" y="1444752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cell populations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still separable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914400"/>
            <a:ext cx="2697480" cy="1024128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4496" y="969264"/>
            <a:ext cx="2478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6B7C6A"/>
                </a:solidFill>
                <a:latin typeface="Calibri"/>
              </a:rPr>
              <a:t>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4496" y="1444752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already free on the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10x base panel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4272" y="914400"/>
            <a:ext cx="2697480" cy="1024128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969264"/>
            <a:ext cx="2478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C44536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444752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regions read from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the same mouse</a:t>
            </a:r>
          </a:p>
        </p:txBody>
      </p:sp>
      <p:pic>
        <p:nvPicPr>
          <p:cNvPr id="17" name="Picture 16" descr="V2_F2_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03120"/>
            <a:ext cx="6583680" cy="24401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69480" y="2139696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D4E89"/>
                </a:solidFill>
                <a:latin typeface="Calibri"/>
              </a:rPr>
              <a:t>What each cell can tell 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261518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D4E89"/>
                </a:solidFill>
                <a:latin typeface="Calibri"/>
              </a:rPr>
              <a:t>Identity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880360"/>
            <a:ext cx="4572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Which of the 20 populations it is - layer, interneuron class, amygdala subtype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47472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2A6F97"/>
                </a:solidFill>
                <a:latin typeface="Calibri"/>
              </a:rPr>
              <a:t>Activity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3739896"/>
            <a:ext cx="4572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Whether it was recently active - Fos / Arc plus the TRAP2 reporter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33425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C44536"/>
                </a:solidFill>
                <a:latin typeface="Calibri"/>
              </a:rPr>
              <a:t>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4599432"/>
            <a:ext cx="4572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Morphine-dependence signature - Per2, Pcsk1, Per1, Camk2g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51937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6B7C6A"/>
                </a:solidFill>
                <a:latin typeface="Calibri"/>
              </a:rPr>
              <a:t>Receptors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458968"/>
            <a:ext cx="4572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Druggable GPCRs present on that cell - opioid, muscarinic, mGlu, relaxin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