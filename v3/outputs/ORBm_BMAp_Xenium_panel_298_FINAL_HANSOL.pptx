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57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8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D4E89"/>
                </a:solidFill>
                <a:latin typeface="Calibri"/>
              </a:rPr>
              <a:t>How the gene panel was selected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Every slot had to be earned against measured data. Four rules decided which genes earned one, and a genome-wide sweep confirmed nothing was missed.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Calibri"/>
              </a:rPr>
              <a:t>WHERE THE CANDIDATES CAME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91440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Calibri"/>
              </a:rPr>
              <a:t>FOUR DECISION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914400"/>
            <a:ext cx="32278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Calibri"/>
              </a:rPr>
              <a:t>WHAT WE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25296"/>
            <a:ext cx="3291840" cy="877824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225296"/>
            <a:ext cx="3291840" cy="256032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252728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OUR MARKER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30723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Allen Brain Cell Atlas, re-scored in these two regions only. Cell-type and subtype markers.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84708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D4E89"/>
                </a:solidFill>
                <a:latin typeface="Calibri"/>
              </a:rPr>
              <a:t>32,285 screened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847088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B6472"/>
                </a:solidFill>
                <a:latin typeface="Calibri"/>
              </a:rPr>
              <a:t>179 kept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1664208"/>
            <a:ext cx="548640" cy="438912"/>
          </a:xfrm>
          <a:prstGeom prst="bentConnector3">
            <a:avLst/>
          </a:prstGeom>
          <a:ln w="12700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" y="2194560"/>
            <a:ext cx="3291840" cy="877824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194560"/>
            <a:ext cx="3291840" cy="256032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2221992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GENOME-WIDE GPCR + TF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487168"/>
            <a:ext cx="30723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Every curated mouse receptor and transcription factor, scored here to prove the set is complete.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81635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Calibri"/>
              </a:rPr>
              <a:t>1,747 screened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816352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B6472"/>
                </a:solidFill>
                <a:latin typeface="Calibri"/>
              </a:rPr>
              <a:t>58 kept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657600" y="2121408"/>
            <a:ext cx="548640" cy="512064"/>
          </a:xfrm>
          <a:prstGeom prst="bentConnector3">
            <a:avLst/>
          </a:prstGeom>
          <a:ln w="127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" y="3163824"/>
            <a:ext cx="3291840" cy="877824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163824"/>
            <a:ext cx="3291840" cy="256032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191256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JESSE NIEHAUS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456432"/>
            <a:ext cx="30723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Morphine-dependence gene expression in orbitofrontal / prefrontal cortex.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785615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44536"/>
                </a:solidFill>
                <a:latin typeface="Calibri"/>
              </a:rPr>
              <a:t>431 screened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785615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B6472"/>
                </a:solidFill>
                <a:latin typeface="Calibri"/>
              </a:rPr>
              <a:t>50 kept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657600" y="2139696"/>
            <a:ext cx="548640" cy="1463040"/>
          </a:xfrm>
          <a:prstGeom prst="bentConnector3">
            <a:avLst/>
          </a:prstGeom>
          <a:ln w="1270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5760" y="4133088"/>
            <a:ext cx="3291840" cy="877824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133088"/>
            <a:ext cx="3291840" cy="256032"/>
          </a:xfrm>
          <a:prstGeom prst="rect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160520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BERG &amp; SCHERRER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4425696"/>
            <a:ext cx="30723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Published amygdala spatial panel (GSE283418).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475488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B7C6A"/>
                </a:solidFill>
                <a:latin typeface="Calibri"/>
              </a:rPr>
              <a:t>98 screened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4754880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B6472"/>
                </a:solidFill>
                <a:latin typeface="Calibri"/>
              </a:rPr>
              <a:t>10 kept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3657600" y="2157984"/>
            <a:ext cx="548640" cy="2414016"/>
          </a:xfrm>
          <a:prstGeom prst="bentConnector3">
            <a:avLst/>
          </a:prstGeom>
          <a:ln w="12700">
            <a:solidFill>
              <a:srgbClr val="6B7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206240" y="1225296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4352544" y="1426464"/>
            <a:ext cx="310896" cy="310896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61688" y="1463040"/>
            <a:ext cx="3017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1225296"/>
            <a:ext cx="31455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2066544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4352544" y="2267712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61688" y="2304288"/>
            <a:ext cx="3017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79" y="2066544"/>
            <a:ext cx="31455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A6F97"/>
                </a:solidFill>
                <a:latin typeface="Calibri"/>
              </a:rPr>
              <a:t>Is the receptor or factor really expressed here?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2907792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4352544" y="3108960"/>
            <a:ext cx="310896" cy="310896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61688" y="3145536"/>
            <a:ext cx="3017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79" y="2907792"/>
            <a:ext cx="31455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06240" y="3749040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4352544" y="3950208"/>
            <a:ext cx="310896" cy="310896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61688" y="3986784"/>
            <a:ext cx="3017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79" y="3749040"/>
            <a:ext cx="31455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046720" y="2468880"/>
            <a:ext cx="548640" cy="365760"/>
          </a:xfrm>
          <a:prstGeom prst="bentConnector3">
            <a:avLst/>
          </a:prstGeom>
          <a:ln w="15875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595360" y="1225296"/>
            <a:ext cx="3227832" cy="3712463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05088" y="1353312"/>
            <a:ext cx="300837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1D4E89"/>
                </a:solidFill>
                <a:latin typeface="Calibri"/>
              </a:rPr>
              <a:t>FINAL PANEL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5088" y="1645920"/>
            <a:ext cx="300837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1D4E89"/>
                </a:solidFill>
                <a:latin typeface="Calibri"/>
              </a:rPr>
              <a:t>298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05088" y="2487168"/>
            <a:ext cx="30083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B6472"/>
                </a:solidFill>
                <a:latin typeface="Calibri"/>
              </a:rPr>
              <a:t>genes on one section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69680" y="2798064"/>
            <a:ext cx="2679192" cy="18288"/>
          </a:xfrm>
          <a:prstGeom prst="rect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705088" y="292608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Cell identity, subtype and region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292608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D4E89"/>
                </a:solidFill>
                <a:latin typeface="Calibri"/>
              </a:rPr>
              <a:t>135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05088" y="320040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Morphine-dependence state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64240" y="320040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C44536"/>
                </a:solidFill>
                <a:latin typeface="Calibri"/>
              </a:rPr>
              <a:t>46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05088" y="347472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Druggable receptor map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34747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A6F97"/>
                </a:solidFill>
                <a:latin typeface="Calibri"/>
              </a:rPr>
              <a:t>43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05088" y="3749039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Neuronal plasticity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64240" y="3749039"/>
            <a:ext cx="6400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6B7C6A"/>
                </a:solidFill>
                <a:latin typeface="Calibri"/>
              </a:rPr>
              <a:t>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05088" y="402336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Activity and immediate-early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64240" y="402336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C44536"/>
                </a:solidFill>
                <a:latin typeface="Calibri"/>
              </a:rPr>
              <a:t>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69680" y="4352544"/>
            <a:ext cx="2679192" cy="18288"/>
          </a:xfrm>
          <a:prstGeom prst="rect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705088" y="4462272"/>
            <a:ext cx="300837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C44536"/>
                </a:solidFill>
                <a:latin typeface="Calibri"/>
              </a:rPr>
              <a:t>Standalone panel - every gene</a:t>
            </a:r>
          </a:p>
          <a:p>
            <a:pPr algn="ctr"/>
            <a:r>
              <a:rPr sz="1050" b="1">
                <a:solidFill>
                  <a:srgbClr val="C44536"/>
                </a:solidFill>
                <a:latin typeface="Calibri"/>
              </a:rPr>
              <a:t>is a probe we order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5760" y="5157216"/>
            <a:ext cx="11457432" cy="1152144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66928" y="5248656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D4E89"/>
                </a:solidFill>
                <a:latin typeface="Calibri"/>
              </a:rPr>
              <a:t>Every rule is a measurement in the Allen Brain Cell Atlas, restricted to these two regions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5541264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D4E89"/>
                </a:solidFill>
                <a:latin typeface="Calibri"/>
              </a:rPr>
              <a:t>226,886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590702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cells re-analysed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07791" y="5541264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D4E89"/>
                </a:solidFill>
                <a:latin typeface="Calibri"/>
              </a:rPr>
              <a:t>79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07791" y="590702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cell types present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75504" y="5541264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D4E89"/>
                </a:solidFill>
                <a:latin typeface="Calibri"/>
              </a:rPr>
              <a:t>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75504" y="590702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target populations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43215" y="5541264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D4E89"/>
                </a:solidFill>
                <a:latin typeface="Calibri"/>
              </a:rPr>
              <a:t>1,747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43215" y="590702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GPCRs + TFs swept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10928" y="5541264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D4E89"/>
                </a:solidFill>
                <a:latin typeface="Calibri"/>
              </a:rPr>
              <a:t>0.922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10928" y="590702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mean recall, 20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13678"/>
            <a:ext cx="114300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C44536"/>
                </a:solidFill>
                <a:latin typeface="Calibri"/>
              </a:rPr>
              <a:t>Why a gene is in - and why a similar one is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9438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Each rule is a measurement with a cutoff. For every rule there is a gene that passed and a better-known gene that failed.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81774"/>
            <a:ext cx="5641848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493776" y="1891502"/>
            <a:ext cx="310896" cy="310896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28078"/>
            <a:ext cx="3017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91502"/>
            <a:ext cx="50017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238974"/>
            <a:ext cx="5367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Calibri"/>
              </a:rPr>
              <a:t>50% of its own population, and a clear margin over the other target types.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568158"/>
            <a:ext cx="53675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C6A"/>
                </a:solidFill>
                <a:latin typeface="Calibri"/>
              </a:rPr>
              <a:t>IN     Tnnc1   53% of L4/5 IT, +22pp - the best marker for that type anywhere in the transcriptome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897342"/>
            <a:ext cx="53675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44536"/>
                </a:solidFill>
                <a:latin typeface="Calibri"/>
              </a:rPr>
              <a:t>OUT   Scnn1a   the classic L4 marker, but 1.8% here; it is really an ependymal gene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81774"/>
            <a:ext cx="5641848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09360" y="1891502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1928078"/>
            <a:ext cx="3017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1891502"/>
            <a:ext cx="50017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A6F97"/>
                </a:solidFill>
                <a:latin typeface="Calibri"/>
              </a:rPr>
              <a:t>Is the receptor really expressed here?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238974"/>
            <a:ext cx="5367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Calibri"/>
              </a:rPr>
              <a:t>50% of cells somewhere in these two regions.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568158"/>
            <a:ext cx="53675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C6A"/>
                </a:solidFill>
                <a:latin typeface="Calibri"/>
              </a:rPr>
              <a:t>IN     Chrm1   M1 muscarinic, 98% of cells - previously only M2 was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897342"/>
            <a:ext cx="53675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44536"/>
                </a:solidFill>
                <a:latin typeface="Calibri"/>
              </a:rPr>
              <a:t>OUT   Adrb2   50.7%, and its peak is in macrophages rather than neurons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354542"/>
            <a:ext cx="5641848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6" y="3464270"/>
            <a:ext cx="310896" cy="310896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500846"/>
            <a:ext cx="3017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464270"/>
            <a:ext cx="50017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811742"/>
            <a:ext cx="5367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Calibri"/>
              </a:rPr>
              <a:t>Differential expression counted only in our 12 ORBm populations.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140926"/>
            <a:ext cx="53675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C6A"/>
                </a:solidFill>
                <a:latin typeface="Calibri"/>
              </a:rPr>
              <a:t>IN     Per2   changes in 11 of 12 populations - the broadest gene in Jesse's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4470110"/>
            <a:ext cx="53675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44536"/>
                </a:solidFill>
                <a:latin typeface="Calibri"/>
              </a:rPr>
              <a:t>OUT   Hspa5   an ER-stress gene in 71 of 75 cell types; it can only report a global shift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354542"/>
            <a:ext cx="5641848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09360" y="3464270"/>
            <a:ext cx="310896" cy="310896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4" y="3500846"/>
            <a:ext cx="3017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3464270"/>
            <a:ext cx="50017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6B7C6A"/>
                </a:solidFill>
                <a:latin typeface="Calibri"/>
              </a:rPr>
              <a:t>Will the instrument detect it?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811742"/>
            <a:ext cx="5367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Calibri"/>
              </a:rPr>
              <a:t>Sparse probes give sparse maps. Activity genes are exempt.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140926"/>
            <a:ext cx="53675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C6A"/>
                </a:solidFill>
                <a:latin typeface="Calibri"/>
              </a:rPr>
              <a:t>IN     Cux2   95% of L2/3 IT - the paralog that actually works in this tissue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470110"/>
            <a:ext cx="53675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44536"/>
                </a:solidFill>
                <a:latin typeface="Calibri"/>
              </a:rPr>
              <a:t>OUT   Tcf4   expressed in all 75 cell types, never below 37%; separates nothing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A6F97"/>
                </a:solidFill>
                <a:latin typeface="Calibri"/>
              </a:rPr>
              <a:t>Final panel  -  298 genes, one section, two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One shared standalone panel read from the same mouse on the same slide, so ORBm and BMAp are compared with no batch difference between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32688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969264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D4E89"/>
                </a:solidFill>
                <a:latin typeface="Calibri"/>
              </a:rPr>
              <a:t>298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44752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32688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4992" y="969264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44752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target cell types</a:t>
            </a:r>
          </a:p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identified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32688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54496" y="969264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6B7C6A"/>
                </a:solidFill>
                <a:latin typeface="Calibri"/>
              </a:rPr>
              <a:t>0.922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44752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mean recall across</a:t>
            </a:r>
          </a:p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those 20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32688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969264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C44536"/>
                </a:solidFill>
                <a:latin typeface="Calibri"/>
              </a:rPr>
              <a:t>12 + 8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44752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populations in</a:t>
            </a:r>
          </a:p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ORBm  +  BMAp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121408"/>
            <a:ext cx="64465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D4E89"/>
                </a:solidFill>
                <a:latin typeface="Calibri"/>
              </a:rPr>
              <a:t>What the 298 genes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45059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Cell identity, subtype and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4096" y="2487168"/>
            <a:ext cx="2834640" cy="18288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1888" y="244144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D4E89"/>
                </a:solidFill>
                <a:latin typeface="Calibri"/>
              </a:rPr>
              <a:t>135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81635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Morphine-dependence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54096" y="2852928"/>
            <a:ext cx="965877" cy="18288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93125" y="280720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C44536"/>
                </a:solidFill>
                <a:latin typeface="Calibri"/>
              </a:rPr>
              <a:t>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18211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Druggable receptor 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54096" y="3218688"/>
            <a:ext cx="881888" cy="1828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09135" y="317296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2A6F97"/>
                </a:solidFill>
                <a:latin typeface="Calibri"/>
              </a:rPr>
              <a:t>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54787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Neuronal plasticity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54096" y="3584448"/>
            <a:ext cx="629920" cy="182880"/>
          </a:xfrm>
          <a:prstGeom prst="rect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57168" y="35387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6B7C6A"/>
                </a:solidFill>
                <a:latin typeface="Calibri"/>
              </a:rP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91363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Activity and immediate-early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54096" y="3950208"/>
            <a:ext cx="398949" cy="18288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26197" y="390448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C44536"/>
                </a:solidFill>
                <a:latin typeface="Calibri"/>
              </a:rP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27939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Transcription factors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54096" y="4315968"/>
            <a:ext cx="272965" cy="18288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00213" y="427024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D4E89"/>
                </a:solidFill>
                <a:latin typeface="Calibri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64515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Circadian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54096" y="4681728"/>
            <a:ext cx="209973" cy="1828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37221" y="463600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2A6F97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01091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Genetic-tag reporters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54096" y="5047488"/>
            <a:ext cx="54864" cy="182880"/>
          </a:xfrm>
          <a:prstGeom prst="rect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82112" y="500176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6B7C6A"/>
                </a:solidFill>
                <a:latin typeface="Calibri"/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86600" y="2121408"/>
            <a:ext cx="4736592" cy="3255264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69480" y="2231136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D4E89"/>
                </a:solidFill>
                <a:latin typeface="Calibri"/>
              </a:rPr>
              <a:t>What each cell will tell 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2560320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D4E89"/>
                </a:solidFill>
                <a:latin typeface="Calibri"/>
              </a:rPr>
              <a:t>Identity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2798063"/>
            <a:ext cx="4389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Which of the 20 populations it is - cortical layer, interneuron class, or amygdala subtype.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3255263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B7C6A"/>
                </a:solidFill>
                <a:latin typeface="Calibri"/>
              </a:rPr>
              <a:t>TRAP label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3493007"/>
            <a:ext cx="4389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Whether it was active during the morphine window. tdTomato and iCre read the genetic tag directly.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395020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A6F97"/>
                </a:solidFill>
                <a:latin typeface="Calibri"/>
              </a:rPr>
              <a:t>Activity now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4187952"/>
            <a:ext cx="4389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Whether it is active at fixation - Fos, Arc, Npas4 and the wider immediate-early set.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4645152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4536"/>
                </a:solidFill>
                <a:latin typeface="Calibri"/>
              </a:rPr>
              <a:t>Molecular 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4882896"/>
            <a:ext cx="4389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Its receptors, transcription factors, plasticity genes and morphine-response genes.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5468112"/>
            <a:ext cx="11457432" cy="841248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" y="5559552"/>
            <a:ext cx="1106424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C44536"/>
                </a:solidFill>
                <a:latin typeface="Calibri"/>
              </a:rPr>
              <a:t>it is the complete list for these two regions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833872"/>
            <a:ext cx="110642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Every mouse GPCR (426) and every mouse transcription factor (1,321) was scored here, and none is missing from the 20 target cell types. A separate cross-check against the FDA drug-target table then added one gene, Adora2a, which is specific to neighbouring striatal tissue rather than to a target - so the receptor map now also covers the drug targets present in this 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D4E89"/>
                </a:solidFill>
                <a:latin typeface="Calibri"/>
              </a:rPr>
              <a:t>The 20 populations we must tell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The target list comes from the Allen Brain Cell Atlas taxonomy: 12 populations in orbitofrontal cortex, 8 in posterior basomedial amygdala.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32688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969264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D4E89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44752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ORBm populations</a:t>
            </a:r>
          </a:p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84,604 Allen cells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32688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4992" y="969264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2A6F97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44752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BMAp populations</a:t>
            </a:r>
          </a:p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40,709 Allen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32688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54496" y="969264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6B7C6A"/>
                </a:solidFill>
                <a:latin typeface="Calibri"/>
              </a:rPr>
              <a:t>125,313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44752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cells in the 20</a:t>
            </a:r>
          </a:p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target populations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32688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969264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C44536"/>
                </a:solidFill>
                <a:latin typeface="Calibri"/>
              </a:rPr>
              <a:t>3 - 28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44752"/>
            <a:ext cx="2496312" cy="471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dedicated markers per</a:t>
            </a:r>
          </a:p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type, median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121408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D4E89"/>
                </a:solidFill>
                <a:latin typeface="Calibri"/>
              </a:rPr>
              <a:t>A.  ORBm  -  orbitofrontal cortex, medial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359152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Calibri"/>
              </a:rPr>
              <a:t>12 populations,  84,604 cells   |   bar = cells, label = dedicated markers and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615184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L2/3 IT CTX Glut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22576" y="2647188"/>
            <a:ext cx="869462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56046" y="261518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8.9k   7 markers   r=0.93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875788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L4/5 IT CTX Glut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22576" y="2907792"/>
            <a:ext cx="1387374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73958" y="287578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14.2k   4 markers   r=0.88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136391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L5 IT CTX Glut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2576" y="3168396"/>
            <a:ext cx="433211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19795" y="3136391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4.4k   6 markers   r=0.69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396996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L5 ET CTX Glut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22576" y="3429000"/>
            <a:ext cx="366548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53132" y="339699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3.7k   7 markers   r=0.96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657600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L5 NP CTX Glut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22576" y="3689604"/>
            <a:ext cx="390958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77542" y="365760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4.0k   8 markers   r=0.99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918204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L6 CT CTX Glut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22576" y="3950208"/>
            <a:ext cx="2103120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89704" y="391820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21.5k   6 markers   r=0.93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178808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L6b CTX Glut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22576" y="4210812"/>
            <a:ext cx="155481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42065" y="417880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1.6k   6 markers   r=0.93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439412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L6 IT CTX Glut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22576" y="4471416"/>
            <a:ext cx="1111507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98091" y="4439412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11.3k   6 markers   r=0.71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700016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Pvalb Gaba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22576" y="4732020"/>
            <a:ext cx="287337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73921" y="470001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2.9k   6 markers   r=0.96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960620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Sst Gaba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22576" y="4992624"/>
            <a:ext cx="544283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30867" y="496062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5.6k   5 markers   r=0.94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221223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Vip Gaba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22576" y="5253227"/>
            <a:ext cx="364097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50681" y="5221223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3.7k   6 markers   r=0.95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481827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Lamp5 Gaba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22576" y="5513831"/>
            <a:ext cx="280670" cy="1600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7254" y="5481827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2.9k   6 markers   r=0.96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2784" y="2121408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A6F97"/>
                </a:solidFill>
                <a:latin typeface="Calibri"/>
              </a:rPr>
              <a:t>B.  BMAp  -  basomedial amygdala, posterior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2784" y="2359152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Calibri"/>
              </a:rPr>
              <a:t>8 populations,  40,709 cells   |   bar = cells, label = dedicated markers and recall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2784" y="2615184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MEA Slc17a7 Glut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2647188"/>
            <a:ext cx="867912" cy="16002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520" y="261518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4.0k   28 markers   r=0.99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72784" y="2875788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MEA-COA-BMA Ccdc42 Glut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2907792"/>
            <a:ext cx="2103120" cy="16002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396728" y="287578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9.7k   5 markers   r=0.94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72784" y="3136391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MEA Otp Foxp2 Glut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3168396"/>
            <a:ext cx="327645" cy="16002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21253" y="3136391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1.5k   8 markers   r=0.99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72784" y="3396996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MEA-BST Otp Zic2 Glut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0" y="3429000"/>
            <a:ext cx="273401" cy="16002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567009" y="339699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1.3k   5 markers   r=0.93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72784" y="3657600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SI-MA-LPO-LHA Skor1 Glut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3689604"/>
            <a:ext cx="474912" cy="16002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768520" y="365760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2.2k   12 markers   r=0.98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72784" y="3918204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MEA-BST Sox6 Gaba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0" y="3950208"/>
            <a:ext cx="1896380" cy="16002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189988" y="391820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8.7k   3 markers   r=0.91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72784" y="4178808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MEA-BST Lhx6 Sp9 Gaba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4210812"/>
            <a:ext cx="1407526" cy="16002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701134" y="417880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6.5k   4 markers   r=0.93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72784" y="4439412"/>
            <a:ext cx="1883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Calibri"/>
              </a:rPr>
              <a:t>CEA-BST Ebf1 Pdyn Gaba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4471416"/>
            <a:ext cx="1517540" cy="16002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811148" y="4439412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7.0k   9 markers   r=0.95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D4E89"/>
                </a:solidFill>
                <a:latin typeface="Calibri"/>
              </a:rPr>
              <a:t>The list rests on a full re-analysis of the reference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No gene was taken on a paper's word. Every candidate was re-scored in the Allen atlas, restricted to these two regions.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174443" cy="914400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950976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1D4E89"/>
                </a:solidFill>
                <a:latin typeface="Calibri"/>
              </a:rPr>
              <a:t>226,886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371600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single cells scored across</a:t>
            </a:r>
          </a:p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the two target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6507" y="914400"/>
            <a:ext cx="2174443" cy="914400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96235" y="950976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2A6F97"/>
                </a:solidFill>
                <a:latin typeface="Calibri"/>
              </a:rPr>
              <a:t>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6235" y="1371600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cell types profiled,</a:t>
            </a:r>
          </a:p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not only the 20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7254" y="914400"/>
            <a:ext cx="2174443" cy="914400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16982" y="950976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6B7C6A"/>
                </a:solidFill>
                <a:latin typeface="Calibri"/>
              </a:rPr>
              <a:t>32,285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6982" y="1371600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genes screened for</a:t>
            </a:r>
          </a:p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cell-type markers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28001" y="914400"/>
            <a:ext cx="2174443" cy="914400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7729" y="950976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C44536"/>
                </a:solidFill>
                <a:latin typeface="Calibri"/>
              </a:rPr>
              <a:t>23,305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7729" y="1371600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gene x cell-type abundance</a:t>
            </a:r>
          </a:p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and specificity measurements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8748" y="914400"/>
            <a:ext cx="2174443" cy="914400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58476" y="950976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1D4E89"/>
                </a:solidFill>
                <a:latin typeface="Calibri"/>
              </a:rPr>
              <a:t>27,730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8476" y="1371600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pairwise tests: can gene X</a:t>
            </a:r>
          </a:p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separate type A from type B?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920240"/>
            <a:ext cx="2174443" cy="914400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1956816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2A6F97"/>
                </a:solidFill>
                <a:latin typeface="Calibri"/>
              </a:rPr>
              <a:t>1,747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2377440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receptors and factors</a:t>
            </a:r>
          </a:p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swept genome-wide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86507" y="1920240"/>
            <a:ext cx="2174443" cy="914400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96235" y="1956816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6B7C6A"/>
                </a:solidFill>
                <a:latin typeface="Calibri"/>
              </a:rPr>
              <a:t>426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6235" y="2377440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receptors evaluated one by</a:t>
            </a:r>
          </a:p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one, 153 expressed here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8748" y="1920240"/>
            <a:ext cx="2174443" cy="914400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58476" y="1956816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2A6F97"/>
                </a:solidFill>
                <a:latin typeface="Calibri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8476" y="2377440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documented sources,</a:t>
            </a:r>
          </a:p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9 of them with a DOI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07254" y="1973580"/>
            <a:ext cx="2174443" cy="914400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16982" y="2010156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1D4E89"/>
                </a:solidFill>
                <a:latin typeface="Calibri"/>
              </a:rPr>
              <a:t>147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6982" y="2430780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dedicated marker-to-type</a:t>
            </a:r>
          </a:p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assignments, 3 to 28 each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28001" y="1973580"/>
            <a:ext cx="2174443" cy="914400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37729" y="2010156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2A6F97"/>
                </a:solidFill>
                <a:latin typeface="Calibri"/>
              </a:rPr>
              <a:t>59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7729" y="2430780"/>
            <a:ext cx="19732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dirty="0">
                <a:solidFill>
                  <a:srgbClr val="5B6472"/>
                </a:solidFill>
                <a:latin typeface="Calibri"/>
              </a:rPr>
              <a:t>FDA-approved drugs mapped</a:t>
            </a:r>
          </a:p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to panel receptors (IUPHAR)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3630894"/>
            <a:ext cx="11457432" cy="2696754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/>
          </a:p>
        </p:txBody>
      </p:sp>
      <p:sp>
        <p:nvSpPr>
          <p:cNvPr id="51" name="TextBox 50"/>
          <p:cNvSpPr txBox="1"/>
          <p:nvPr/>
        </p:nvSpPr>
        <p:spPr>
          <a:xfrm>
            <a:off x="566928" y="3722334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D4E89"/>
                </a:solidFill>
                <a:latin typeface="Calibri"/>
              </a:rPr>
              <a:t>What that analysis produced, in order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051518"/>
            <a:ext cx="2560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D4E89"/>
                </a:solidFill>
                <a:latin typeface="Calibri"/>
              </a:rPr>
              <a:t>1.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4051518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D4E89"/>
                </a:solidFill>
                <a:latin typeface="Calibri"/>
              </a:rPr>
              <a:t>Region-restricted expression matrices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" y="4289262"/>
            <a:ext cx="513892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ORBm and BMAp cells were pulled out of the whole-brain atlas, so every abundance and specificity number describes these two regions, not a brain-wide average.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7648" y="4051518"/>
            <a:ext cx="2560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A6F97"/>
                </a:solidFill>
                <a:latin typeface="Calibri"/>
              </a:rPr>
              <a:t>2.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4051518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A6F97"/>
                </a:solidFill>
                <a:latin typeface="Calibri"/>
              </a:rPr>
              <a:t>Per-population marker ranking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1968" y="4289262"/>
            <a:ext cx="5138928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For each of the 20 targets, every candidate was ranked by how much of that population expresses it and how tightly it is restricted to it.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5020782"/>
            <a:ext cx="2560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6B7C6A"/>
                </a:solidFill>
                <a:latin typeface="Calibri"/>
              </a:rPr>
              <a:t>3.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7" y="502078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6B7C6A"/>
                </a:solidFill>
                <a:latin typeface="Calibri"/>
              </a:rPr>
              <a:t>Separability, tested two independent ways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7" y="5258526"/>
            <a:ext cx="5138928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Calibri"/>
              </a:rPr>
              <a:t>All 94 same-region pairs of target types are separable - every pair has a panel gene differing by 20 points or more. And on held-out cells a classifier using only these genes recovers all 20 types, mean recall 0.922.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7648" y="5020782"/>
            <a:ext cx="2560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44536"/>
                </a:solidFill>
                <a:latin typeface="Calibri"/>
              </a:rPr>
              <a:t>4.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1968" y="502078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44536"/>
                </a:solidFill>
                <a:latin typeface="Calibri"/>
              </a:rPr>
              <a:t>Receptor sweep and drug-target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1968" y="5258526"/>
            <a:ext cx="5138928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All 426 mouse GPCRs and 1,321 transcription factors were scored here; none is missing from the 20 target types, and a drug-table cross-check added Adora2a. Receptors were then tiered by specificity - 20 specific, 19 intermediate, 11 universal - and cross-referenced to IUPHAR.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1342</Words>
  <Application>Microsoft Office PowerPoint</Application>
  <PresentationFormat>Widescreen</PresentationFormat>
  <Paragraphs>222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4</cp:revision>
  <dcterms:created xsi:type="dcterms:W3CDTF">2013-01-27T09:14:16Z</dcterms:created>
  <dcterms:modified xsi:type="dcterms:W3CDTF">2026-09-19T06:26:03Z</dcterms:modified>
  <cp:category/>
</cp:coreProperties>
</file>