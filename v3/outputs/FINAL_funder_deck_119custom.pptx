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D4E89"/>
                </a:solidFill>
                <a:latin typeface="Calibri"/>
              </a:rPr>
              <a:t>What the 166 genes do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genes</c:v>
                </c:pt>
              </c:strCache>
            </c:strRef>
          </c:tx>
          <c:dPt>
            <c:idx val="0"/>
            <c:spPr>
              <a:solidFill>
                <a:srgbClr val="1D4E89"/>
              </a:solidFill>
            </c:spPr>
          </c:dPt>
          <c:dPt>
            <c:idx val="1"/>
            <c:spPr>
              <a:solidFill>
                <a:srgbClr val="2A6F97"/>
              </a:solidFill>
            </c:spPr>
          </c:dPt>
          <c:dPt>
            <c:idx val="2"/>
            <c:spPr>
              <a:solidFill>
                <a:srgbClr val="6B7C6A"/>
              </a:solidFill>
            </c:spPr>
          </c:dPt>
          <c:dPt>
            <c:idx val="3"/>
            <c:spPr>
              <a:solidFill>
                <a:srgbClr val="C44536"/>
              </a:solidFill>
            </c:spPr>
          </c:dPt>
          <c:dPt>
            <c:idx val="4"/>
            <c:spPr>
              <a:solidFill>
                <a:srgbClr val="B08968"/>
              </a:solidFill>
            </c:spPr>
          </c:dPt>
          <c:cat>
            <c:strRef>
              <c:f>Sheet1!$A$2:$A$6</c:f>
              <c:strCache>
                <c:ptCount val="5"/>
                <c:pt idx="0">
                  <c:v>Cell identity and region</c:v>
                </c:pt>
                <c:pt idx="1">
                  <c:v>Druggable receptor map</c:v>
                </c:pt>
                <c:pt idx="2">
                  <c:v>Activity and plasticity</c:v>
                </c:pt>
                <c:pt idx="3">
                  <c:v>Morphine-dependence state</c:v>
                </c:pt>
                <c:pt idx="4">
                  <c:v>TRAP genetic tag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105</c:v>
                </c:pt>
                <c:pt idx="1">
                  <c:v>33</c:v>
                </c:pt>
                <c:pt idx="2">
                  <c:v>20</c:v>
                </c:pt>
                <c:pt idx="3">
                  <c:v>6</c:v>
                </c:pt>
                <c:pt idx="4">
                  <c:v>2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8B2A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D4E89"/>
                </a:solidFill>
                <a:latin typeface="Calibri"/>
              </a:rPr>
              <a:t>ORBm  -  12 populations, 83,406 cells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genes</c:v>
                </c:pt>
              </c:strCache>
            </c:strRef>
          </c:tx>
          <c:dPt>
            <c:idx val="0"/>
            <c:spPr>
              <a:solidFill>
                <a:srgbClr val="1D4E89"/>
              </a:solidFill>
            </c:spPr>
          </c:dPt>
          <c:dPt>
            <c:idx val="1"/>
            <c:spPr>
              <a:solidFill>
                <a:srgbClr val="1D4E89"/>
              </a:solidFill>
            </c:spPr>
          </c:dPt>
          <c:dPt>
            <c:idx val="2"/>
            <c:spPr>
              <a:solidFill>
                <a:srgbClr val="1D4E89"/>
              </a:solidFill>
            </c:spPr>
          </c:dPt>
          <c:dPt>
            <c:idx val="3"/>
            <c:spPr>
              <a:solidFill>
                <a:srgbClr val="1D4E89"/>
              </a:solidFill>
            </c:spPr>
          </c:dPt>
          <c:dPt>
            <c:idx val="4"/>
            <c:spPr>
              <a:solidFill>
                <a:srgbClr val="1D4E89"/>
              </a:solidFill>
            </c:spPr>
          </c:dPt>
          <c:dPt>
            <c:idx val="5"/>
            <c:spPr>
              <a:solidFill>
                <a:srgbClr val="1D4E89"/>
              </a:solidFill>
            </c:spPr>
          </c:dPt>
          <c:dPt>
            <c:idx val="6"/>
            <c:spPr>
              <a:solidFill>
                <a:srgbClr val="1D4E89"/>
              </a:solidFill>
            </c:spPr>
          </c:dPt>
          <c:dPt>
            <c:idx val="7"/>
            <c:spPr>
              <a:solidFill>
                <a:srgbClr val="1D4E89"/>
              </a:solidFill>
            </c:spPr>
          </c:dPt>
          <c:dPt>
            <c:idx val="8"/>
            <c:spPr>
              <a:solidFill>
                <a:srgbClr val="1D4E89"/>
              </a:solidFill>
            </c:spPr>
          </c:dPt>
          <c:dPt>
            <c:idx val="9"/>
            <c:spPr>
              <a:solidFill>
                <a:srgbClr val="1D4E89"/>
              </a:solidFill>
            </c:spPr>
          </c:dPt>
          <c:dPt>
            <c:idx val="10"/>
            <c:spPr>
              <a:solidFill>
                <a:srgbClr val="1D4E89"/>
              </a:solidFill>
            </c:spPr>
          </c:dPt>
          <c:dPt>
            <c:idx val="11"/>
            <c:spPr>
              <a:solidFill>
                <a:srgbClr val="1D4E89"/>
              </a:solidFill>
            </c:spPr>
          </c:dPt>
          <c:cat>
            <c:strRef>
              <c:f>Sheet1!$A$2:$A$13</c:f>
              <c:strCache>
                <c:ptCount val="12"/>
                <c:pt idx="0">
                  <c:v>L2/3 IT CTX Glut</c:v>
                </c:pt>
                <c:pt idx="1">
                  <c:v>L4/5 IT CTX Glut</c:v>
                </c:pt>
                <c:pt idx="2">
                  <c:v>L5 IT CTX Glut</c:v>
                </c:pt>
                <c:pt idx="3">
                  <c:v>L5 ET CTX Glut</c:v>
                </c:pt>
                <c:pt idx="4">
                  <c:v>L5 NP CTX Glut</c:v>
                </c:pt>
                <c:pt idx="5">
                  <c:v>L6 CT CTX Glut</c:v>
                </c:pt>
                <c:pt idx="6">
                  <c:v>L6b CTX Glut</c:v>
                </c:pt>
                <c:pt idx="7">
                  <c:v>L6 IT CTX Glut</c:v>
                </c:pt>
                <c:pt idx="8">
                  <c:v>Pvalb Gaba</c:v>
                </c:pt>
                <c:pt idx="9">
                  <c:v>Sst Gaba</c:v>
                </c:pt>
                <c:pt idx="10">
                  <c:v>Vip Gaba</c:v>
                </c:pt>
                <c:pt idx="11">
                  <c:v>Lamp5 Gaba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8869</c:v>
                </c:pt>
                <c:pt idx="1">
                  <c:v>14152</c:v>
                </c:pt>
                <c:pt idx="2">
                  <c:v>4419</c:v>
                </c:pt>
                <c:pt idx="3">
                  <c:v>3739</c:v>
                </c:pt>
                <c:pt idx="4">
                  <c:v>3988</c:v>
                </c:pt>
                <c:pt idx="5">
                  <c:v>21453</c:v>
                </c:pt>
                <c:pt idx="6">
                  <c:v>1586</c:v>
                </c:pt>
                <c:pt idx="7">
                  <c:v>11338</c:v>
                </c:pt>
                <c:pt idx="8">
                  <c:v>2869</c:v>
                </c:pt>
                <c:pt idx="9">
                  <c:v>5377</c:v>
                </c:pt>
                <c:pt idx="10">
                  <c:v>3277</c:v>
                </c:pt>
                <c:pt idx="11">
                  <c:v>2339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8B2A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D4E89"/>
                </a:solidFill>
                <a:latin typeface="Calibri"/>
              </a:rPr>
              <a:t>BMAp  -  8 populations, 40,709 cells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genes</c:v>
                </c:pt>
              </c:strCache>
            </c:strRef>
          </c:tx>
          <c:dPt>
            <c:idx val="0"/>
            <c:spPr>
              <a:solidFill>
                <a:srgbClr val="2A6F97"/>
              </a:solidFill>
            </c:spPr>
          </c:dPt>
          <c:dPt>
            <c:idx val="1"/>
            <c:spPr>
              <a:solidFill>
                <a:srgbClr val="2A6F97"/>
              </a:solidFill>
            </c:spPr>
          </c:dPt>
          <c:dPt>
            <c:idx val="2"/>
            <c:spPr>
              <a:solidFill>
                <a:srgbClr val="2A6F97"/>
              </a:solidFill>
            </c:spPr>
          </c:dPt>
          <c:dPt>
            <c:idx val="3"/>
            <c:spPr>
              <a:solidFill>
                <a:srgbClr val="2A6F97"/>
              </a:solidFill>
            </c:spPr>
          </c:dPt>
          <c:dPt>
            <c:idx val="4"/>
            <c:spPr>
              <a:solidFill>
                <a:srgbClr val="2A6F97"/>
              </a:solidFill>
            </c:spPr>
          </c:dPt>
          <c:dPt>
            <c:idx val="5"/>
            <c:spPr>
              <a:solidFill>
                <a:srgbClr val="2A6F97"/>
              </a:solidFill>
            </c:spPr>
          </c:dPt>
          <c:dPt>
            <c:idx val="6"/>
            <c:spPr>
              <a:solidFill>
                <a:srgbClr val="2A6F97"/>
              </a:solidFill>
            </c:spPr>
          </c:dPt>
          <c:dPt>
            <c:idx val="7"/>
            <c:spPr>
              <a:solidFill>
                <a:srgbClr val="2A6F97"/>
              </a:solidFill>
            </c:spPr>
          </c:dPt>
          <c:cat>
            <c:strRef>
              <c:f>Sheet1!$A$2:$A$9</c:f>
              <c:strCache>
                <c:ptCount val="8"/>
                <c:pt idx="0">
                  <c:v>MEA Slc17a7 Glut</c:v>
                </c:pt>
                <c:pt idx="1">
                  <c:v>MEA-COA-BMA Ccdc42 Glut</c:v>
                </c:pt>
                <c:pt idx="2">
                  <c:v>MEA Otp Foxp2 Glut</c:v>
                </c:pt>
                <c:pt idx="3">
                  <c:v>MEA-BST Otp Zic2 Glut</c:v>
                </c:pt>
                <c:pt idx="4">
                  <c:v>SI-MA-LPO-LHA Skor1 Glut</c:v>
                </c:pt>
                <c:pt idx="5">
                  <c:v>MEA-BST Sox6 Gaba</c:v>
                </c:pt>
                <c:pt idx="6">
                  <c:v>MEA-BST Lhx6 Sp9 Gaba</c:v>
                </c:pt>
                <c:pt idx="7">
                  <c:v>CEA-BST Ebf1 Pdyn Gaba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3984</c:v>
                </c:pt>
                <c:pt idx="1">
                  <c:v>9654</c:v>
                </c:pt>
                <c:pt idx="2">
                  <c:v>1504</c:v>
                </c:pt>
                <c:pt idx="3">
                  <c:v>1255</c:v>
                </c:pt>
                <c:pt idx="4">
                  <c:v>2180</c:v>
                </c:pt>
                <c:pt idx="5">
                  <c:v>8705</c:v>
                </c:pt>
                <c:pt idx="6">
                  <c:v>6461</c:v>
                </c:pt>
                <c:pt idx="7">
                  <c:v>6966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8B2A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>
                <a:solidFill>
                  <a:srgbClr val="1D4E89"/>
                </a:solidFill>
                <a:latin typeface="Calibri"/>
              </a:rPr>
              <a:t>How the gene panel was selected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Every probe slot has to be earned. Four rules decided which genes earned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47104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ORBm + BMAp Xenium panel  ·  166 genes, 119 custom  |  1/5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969264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1D4E89"/>
                </a:solidFill>
                <a:latin typeface="Calibri"/>
              </a:rPr>
              <a:t>WHERE THE CANDIDATES CAME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969264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1D4E89"/>
                </a:solidFill>
                <a:latin typeface="Calibri"/>
              </a:rPr>
              <a:t>FOUR DECISION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969264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1D4E89"/>
                </a:solidFill>
                <a:latin typeface="Calibri"/>
              </a:rPr>
              <a:t>WHAT WE ORDER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280160"/>
            <a:ext cx="2999232" cy="1280160"/>
          </a:xfrm>
          <a:prstGeom prst="roundRect">
            <a:avLst/>
          </a:prstGeom>
          <a:solidFill>
            <a:srgbClr val="F4F1EA"/>
          </a:solidFill>
          <a:ln w="1905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280160"/>
            <a:ext cx="2999232" cy="310896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OUR MARKER SCREEN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1645919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Allen atlas + 13 documented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228600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1D4E89"/>
                </a:solidFill>
                <a:latin typeface="Calibri"/>
              </a:rPr>
              <a:t>311 screened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83280" y="1920239"/>
            <a:ext cx="5486400" cy="1298449"/>
          </a:xfrm>
          <a:prstGeom prst="line">
            <a:avLst/>
          </a:prstGeom>
          <a:ln w="19050">
            <a:solidFill>
              <a:srgbClr val="1D4E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474720" y="1645919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D4E89"/>
                </a:solidFill>
                <a:latin typeface="Calibri"/>
              </a:rPr>
              <a:t>142 kept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2724911"/>
            <a:ext cx="2999232" cy="1280160"/>
          </a:xfrm>
          <a:prstGeom prst="roundRect">
            <a:avLst/>
          </a:prstGeom>
          <a:solidFill>
            <a:srgbClr val="F4F1EA"/>
          </a:solidFill>
          <a:ln w="1905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2724911"/>
            <a:ext cx="2999232" cy="310896"/>
          </a:xfrm>
          <a:prstGeom prst="rect">
            <a:avLst/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JESSE NIEHAUS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3090671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Morphine-dependence expression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in orbitofrontal cortex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3730751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C44536"/>
                </a:solidFill>
                <a:latin typeface="Calibri"/>
              </a:rPr>
              <a:t>431 screened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3383280" y="3218688"/>
            <a:ext cx="5486400" cy="146303"/>
          </a:xfrm>
          <a:prstGeom prst="line">
            <a:avLst/>
          </a:prstGeom>
          <a:ln w="19050">
            <a:solidFill>
              <a:srgbClr val="C445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474720" y="309067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C44536"/>
                </a:solidFill>
                <a:latin typeface="Calibri"/>
              </a:rPr>
              <a:t>10 kept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4169663"/>
            <a:ext cx="2999232" cy="1280160"/>
          </a:xfrm>
          <a:prstGeom prst="roundRect">
            <a:avLst/>
          </a:prstGeom>
          <a:solidFill>
            <a:srgbClr val="F4F1EA"/>
          </a:solidFill>
          <a:ln w="1905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4048" y="4169663"/>
            <a:ext cx="2999232" cy="310896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BERG &amp; SCHERRER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4535424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Published amygdala spatial panel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(GSE283418)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5175503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2A6F97"/>
                </a:solidFill>
                <a:latin typeface="Calibri"/>
              </a:rPr>
              <a:t>98 screened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383280" y="3218688"/>
            <a:ext cx="5486400" cy="1591056"/>
          </a:xfrm>
          <a:prstGeom prst="line">
            <a:avLst/>
          </a:prstGeom>
          <a:ln w="19050">
            <a:solidFill>
              <a:srgbClr val="2A6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474720" y="453542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2A6F97"/>
                </a:solidFill>
                <a:latin typeface="Calibri"/>
              </a:rPr>
              <a:t>14 kept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1280160"/>
            <a:ext cx="4133087" cy="7680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90288" y="1527048"/>
            <a:ext cx="274320" cy="274320"/>
          </a:xfrm>
          <a:prstGeom prst="ellipse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56048" y="1353312"/>
            <a:ext cx="35295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D4E89"/>
                </a:solidFill>
                <a:latin typeface="Calibri"/>
              </a:rPr>
              <a:t>Does it identify the cell type?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80560" y="2176272"/>
            <a:ext cx="4133087" cy="7680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90288" y="2423160"/>
            <a:ext cx="274320" cy="27432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56048" y="2249424"/>
            <a:ext cx="35295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A6F97"/>
                </a:solidFill>
                <a:latin typeface="Calibri"/>
              </a:rPr>
              <a:t>Is it a druggable receptor we cannot already see?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0560" y="3072384"/>
            <a:ext cx="4133087" cy="7680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590288" y="3319272"/>
            <a:ext cx="274320" cy="274320"/>
          </a:xfrm>
          <a:prstGeom prst="ellipse">
            <a:avLst/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56048" y="3145536"/>
            <a:ext cx="35295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44536"/>
                </a:solidFill>
                <a:latin typeface="Calibri"/>
              </a:rPr>
              <a:t>Does it report the morphine-dependent state?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0" y="3968496"/>
            <a:ext cx="4133087" cy="7680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590288" y="4215383"/>
            <a:ext cx="274320" cy="274320"/>
          </a:xfrm>
          <a:prstGeom prst="ellipse">
            <a:avLst/>
          </a:prstGeom>
          <a:solidFill>
            <a:srgbClr val="6B7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56048" y="4041648"/>
            <a:ext cx="35295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7C6A"/>
                </a:solidFill>
                <a:latin typeface="Calibri"/>
              </a:rPr>
              <a:t>Will the instrument actually detect it?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80560" y="4882896"/>
            <a:ext cx="4133087" cy="859536"/>
          </a:xfrm>
          <a:prstGeom prst="roundRect">
            <a:avLst/>
          </a:prstGeom>
          <a:solidFill>
            <a:srgbClr val="EAF2F8"/>
          </a:solidFill>
          <a:ln w="1651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0" y="4956048"/>
            <a:ext cx="39502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D4E89"/>
                </a:solidFill>
                <a:latin typeface="Calibri"/>
              </a:rPr>
              <a:t>Every rule measured in the Allen atlas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5193792"/>
            <a:ext cx="395020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226,886 cells  ·  82 subclasses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28,184 measurements  ·  3,901 pairwise tests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69680" y="1280160"/>
            <a:ext cx="2944368" cy="4462272"/>
          </a:xfrm>
          <a:prstGeom prst="roundRect">
            <a:avLst/>
          </a:prstGeom>
          <a:solidFill>
            <a:srgbClr val="EAF2F8"/>
          </a:solidFill>
          <a:ln w="2667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1120" y="1371600"/>
            <a:ext cx="27614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D4E89"/>
                </a:solidFill>
                <a:latin typeface="Calibri"/>
              </a:rPr>
              <a:t>FINAL PANEL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0" y="1645920"/>
            <a:ext cx="276148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4200" b="1">
                <a:solidFill>
                  <a:srgbClr val="1D4E89"/>
                </a:solidFill>
                <a:latin typeface="Calibri"/>
              </a:rPr>
              <a:t>166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0" y="2359152"/>
            <a:ext cx="27614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genes on one section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034272" y="2706624"/>
            <a:ext cx="2615184" cy="0"/>
          </a:xfrm>
          <a:prstGeom prst="line">
            <a:avLst/>
          </a:prstGeom>
          <a:ln w="12700">
            <a:solidFill>
              <a:srgbClr val="B8B2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961120" y="2779776"/>
            <a:ext cx="27614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F2937"/>
                </a:solidFill>
                <a:latin typeface="Calibri"/>
              </a:rPr>
              <a:t>142 our marker screen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F2937"/>
                </a:solidFill>
                <a:latin typeface="Calibri"/>
              </a:rPr>
              <a:t>14 Berg &amp; Scherrer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F2937"/>
                </a:solidFill>
                <a:latin typeface="Calibri"/>
              </a:rPr>
              <a:t>10 Jesse Niehaus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034272" y="3730752"/>
            <a:ext cx="2615184" cy="0"/>
          </a:xfrm>
          <a:prstGeom prst="line">
            <a:avLst/>
          </a:prstGeom>
          <a:ln w="12700">
            <a:solidFill>
              <a:srgbClr val="B8B2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961120" y="3803904"/>
            <a:ext cx="27614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050" b="1">
                <a:solidFill>
                  <a:srgbClr val="1D4E89"/>
                </a:solidFill>
                <a:latin typeface="Calibri"/>
              </a:rPr>
              <a:t>47 free on the base panel</a:t>
            </a:r>
          </a:p>
          <a:p>
            <a:pPr algn="ctr">
              <a:spcAft>
                <a:spcPts val="100"/>
              </a:spcAft>
            </a:pPr>
            <a:r>
              <a:rPr sz="1050" b="1">
                <a:solidFill>
                  <a:srgbClr val="1D4E89"/>
                </a:solidFill>
                <a:latin typeface="Calibri"/>
              </a:rPr>
              <a:t>119 custom probes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034272" y="4590288"/>
            <a:ext cx="2615184" cy="0"/>
          </a:xfrm>
          <a:prstGeom prst="line">
            <a:avLst/>
          </a:prstGeom>
          <a:ln w="12700">
            <a:solidFill>
              <a:srgbClr val="B8B2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961120" y="4663440"/>
            <a:ext cx="2761488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050" b="1">
                <a:solidFill>
                  <a:srgbClr val="1D4E89"/>
                </a:solidFill>
                <a:latin typeface="Calibri"/>
              </a:rPr>
              <a:t>2 brain regions</a:t>
            </a:r>
          </a:p>
          <a:p>
            <a:pPr algn="ctr">
              <a:spcAft>
                <a:spcPts val="100"/>
              </a:spcAft>
            </a:pPr>
            <a:r>
              <a:rPr sz="1050" b="1">
                <a:solidFill>
                  <a:srgbClr val="1D4E89"/>
                </a:solidFill>
                <a:latin typeface="Calibri"/>
              </a:rPr>
              <a:t>20 cell populations</a:t>
            </a:r>
          </a:p>
          <a:p>
            <a:pPr algn="ctr">
              <a:spcAft>
                <a:spcPts val="100"/>
              </a:spcAft>
            </a:pPr>
            <a:r>
              <a:rPr sz="1050" b="1">
                <a:solidFill>
                  <a:srgbClr val="1D4E89"/>
                </a:solidFill>
                <a:latin typeface="Calibri"/>
              </a:rPr>
              <a:t>1 section, 1 animal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84048" y="4882896"/>
            <a:ext cx="3749039" cy="859536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B8B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5488" y="4956048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F2937"/>
                </a:solidFill>
                <a:latin typeface="Calibri"/>
              </a:rPr>
              <a:t>701 candidates  -&gt;  166 selected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5488" y="5193792"/>
            <a:ext cx="35661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B6472"/>
                </a:solidFill>
                <a:latin typeface="Calibri"/>
              </a:rPr>
              <a:t>Each keeps its evidence and the rule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5B6472"/>
                </a:solidFill>
                <a:latin typeface="Calibri"/>
              </a:rPr>
              <a:t>that admitted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>
                <a:solidFill>
                  <a:srgbClr val="C44536"/>
                </a:solidFill>
                <a:latin typeface="Calibri"/>
              </a:rPr>
              <a:t>Why a gene is in - and why a similar one is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Each rule is a measurement with a cutoff, so any gene's inclusion can be re-checked.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47104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ORBm + BMAp Xenium panel  ·  166 genes, 119 custom  |  2/5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005840"/>
            <a:ext cx="5632704" cy="14630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12064" y="1115568"/>
            <a:ext cx="274320" cy="274320"/>
          </a:xfrm>
          <a:prstGeom prst="ellipse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088136"/>
            <a:ext cx="5047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D4E89"/>
                </a:solidFill>
                <a:latin typeface="Calibri"/>
              </a:rPr>
              <a:t>Does it identify the cell type?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426464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Specificity against genes the panel already carries; must beat them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764792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C6A"/>
                </a:solidFill>
                <a:latin typeface="Calibri"/>
              </a:rPr>
              <a:t>IN     Col23a1   3.7x more specific than any equal marker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084832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44536"/>
                </a:solidFill>
                <a:latin typeface="Calibri"/>
              </a:rPr>
              <a:t>OUT   Sfrp1   0.9x - a panel gene already does it better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005840"/>
            <a:ext cx="5632704" cy="14630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72783" y="1115568"/>
            <a:ext cx="274320" cy="27432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0256" y="1088136"/>
            <a:ext cx="5047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A6F97"/>
                </a:solidFill>
                <a:latin typeface="Calibri"/>
              </a:rPr>
              <a:t>Is it a druggable receptor we cannot see?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1426464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Regional enrichment, plus whether the family is already covered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1764792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C6A"/>
                </a:solidFill>
                <a:latin typeface="Calibri"/>
              </a:rPr>
              <a:t>IN     Chrm1   M1 receptor - we could only see M2 before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2084832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44536"/>
                </a:solidFill>
                <a:latin typeface="Calibri"/>
              </a:rPr>
              <a:t>OUT   Gpr26   orphan receptor, no known ligand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2578608"/>
            <a:ext cx="5632704" cy="14630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2064" y="2688336"/>
            <a:ext cx="274320" cy="274320"/>
          </a:xfrm>
          <a:prstGeom prst="ellipse">
            <a:avLst/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2660904"/>
            <a:ext cx="5047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C44536"/>
                </a:solidFill>
                <a:latin typeface="Calibri"/>
              </a:rPr>
              <a:t>Does it report the morphine-dependent state?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2999232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Differential expression counted only in our 12 ORBm populations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3337560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C6A"/>
                </a:solidFill>
                <a:latin typeface="Calibri"/>
              </a:rPr>
              <a:t>IN     Per2   changes in 11 of 12 populations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3657600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44536"/>
                </a:solidFill>
                <a:latin typeface="Calibri"/>
              </a:rPr>
              <a:t>OUT   Nr4a3   8 clusters overall, but only 5 of ours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44768" y="2578608"/>
            <a:ext cx="5632704" cy="14630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272783" y="2688336"/>
            <a:ext cx="274320" cy="274320"/>
          </a:xfrm>
          <a:prstGeom prst="ellipse">
            <a:avLst/>
          </a:prstGeom>
          <a:solidFill>
            <a:srgbClr val="6B7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0256" y="2660904"/>
            <a:ext cx="5047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6B7C6A"/>
                </a:solidFill>
                <a:latin typeface="Calibri"/>
              </a:rPr>
              <a:t>Will the instrument actually detect it?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2" y="2999232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Fraction of cells expressing it; sparse probes give unusable maps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1072" y="3337560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C6A"/>
                </a:solidFill>
                <a:latin typeface="Calibri"/>
              </a:rPr>
              <a:t>IN     Grm8   99% of cells, &gt;50% in 8 of 12 populations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1072" y="3657600"/>
            <a:ext cx="5358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44536"/>
                </a:solidFill>
                <a:latin typeface="Calibri"/>
              </a:rPr>
              <a:t>OUT   Mas1   most enriched of all, but only 45% of cells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" y="4261104"/>
            <a:ext cx="11430000" cy="2029968"/>
          </a:xfrm>
          <a:prstGeom prst="roundRect">
            <a:avLst/>
          </a:prstGeom>
          <a:solidFill>
            <a:srgbClr val="EAF2F8"/>
          </a:solidFill>
          <a:ln w="1524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4370832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1D4E89"/>
                </a:solidFill>
                <a:latin typeface="Calibri"/>
              </a:rPr>
              <a:t>The constraint that forces all of this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4681728"/>
            <a:ext cx="5440680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The standard 10x Mouse Brain panel gives 248 genes at no extra cost, and the custom add-on is capped at 100 genes by design.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So 166 justified genes means 47 taken free and 119 custom - and roughly three of every four candidates screened were turned down.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681728"/>
            <a:ext cx="5440680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The four rules are independent, and that is deliberate.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A receptor earns its slot by showing where a drug target sits, whether or not morphine changes it. One panel therefore serves the pharmacology aim and the addiction aim at once, instead of forcing a choice.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>
                <a:solidFill>
                  <a:srgbClr val="2A6F97"/>
                </a:solidFill>
                <a:latin typeface="Calibri"/>
              </a:rPr>
              <a:t>The panel  -  166 genes, one section, two regions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One shared panel read from the same mouse. All 20 target populations remain separable.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47104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ORBm + BMAp Xenium panel  ·  166 genes, 119 custom  |  3/5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969264"/>
            <a:ext cx="2688336" cy="1005840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1D4E89"/>
                </a:solidFill>
                <a:latin typeface="Calibri"/>
              </a:rPr>
              <a:t>166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81328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genes on the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shared panel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3552" y="969264"/>
            <a:ext cx="2688336" cy="1005840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46704" y="1005840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2A6F97"/>
                </a:solidFill>
                <a:latin typeface="Calibri"/>
              </a:rPr>
              <a:t>20 / 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6704" y="1481328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cell populations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still separable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969264"/>
            <a:ext cx="2688336" cy="1005840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1005840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6B7C6A"/>
                </a:solidFill>
                <a:latin typeface="Calibri"/>
              </a:rPr>
              <a:t>47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8" y="1481328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free on the 10x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base panel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969264"/>
            <a:ext cx="2688336" cy="1005840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25712" y="1005840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C44536"/>
                </a:solidFill>
                <a:latin typeface="Calibri"/>
              </a:rPr>
              <a:t>12 + 8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2" y="1481328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populations in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ORBm  +  BMAp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274320" y="2176272"/>
          <a:ext cx="644652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967728" y="21945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D4E89"/>
                </a:solidFill>
                <a:latin typeface="Calibri"/>
              </a:rPr>
              <a:t>What each cell will tell 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2578608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D4E89"/>
                </a:solidFill>
                <a:latin typeface="Calibri"/>
              </a:rPr>
              <a:t>Identity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2816352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F2937"/>
                </a:solidFill>
                <a:latin typeface="Calibri"/>
              </a:rPr>
              <a:t>Which of the 20 populations it is - layer, interneuron class, amygdala subtype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8" y="3419856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A6F97"/>
                </a:solidFill>
                <a:latin typeface="Calibri"/>
              </a:rPr>
              <a:t>Activity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36576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F2937"/>
                </a:solidFill>
                <a:latin typeface="Calibri"/>
              </a:rPr>
              <a:t>Whether it was recently active - Fos and Arc, plus the TRAP2 tag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4261104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C44536"/>
                </a:solidFill>
                <a:latin typeface="Calibri"/>
              </a:rPr>
              <a:t>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4498848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F2937"/>
                </a:solidFill>
                <a:latin typeface="Calibri"/>
              </a:rPr>
              <a:t>Whether it carries the morphine-dependence signature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7728" y="5102352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6B7C6A"/>
                </a:solidFill>
                <a:latin typeface="Calibri"/>
              </a:rPr>
              <a:t>Receptors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5340096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F2937"/>
                </a:solidFill>
                <a:latin typeface="Calibri"/>
              </a:rPr>
              <a:t>Which druggable receptors sit on it - opioid, muscarinic, glutamate, relaxin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8" y="5980176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C44536"/>
                </a:solidFill>
                <a:latin typeface="Calibri"/>
              </a:rPr>
              <a:t>The State row is the new capability this panel adds.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>
                <a:solidFill>
                  <a:srgbClr val="1D4E89"/>
                </a:solidFill>
                <a:latin typeface="Calibri"/>
              </a:rPr>
              <a:t>The 20 populations we must tell apart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Target list from the Allen Brain Cell Atlas taxonomy: 12 in ORBm, 8 in BMAp.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47104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ORBm + BMAp Xenium panel  ·  166 genes, 119 custom  |  4/5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969264"/>
            <a:ext cx="2688336" cy="1005840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1D4E89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81328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ORBm populations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83,406 Allen cells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3552" y="969264"/>
            <a:ext cx="2688336" cy="1005840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46704" y="1005840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2A6F97"/>
                </a:solidFill>
                <a:latin typeface="Calibr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6704" y="1481328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BMAp populations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40,709 Allen cells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969264"/>
            <a:ext cx="2688336" cy="1005840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1005840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6B7C6A"/>
                </a:solidFill>
                <a:latin typeface="Calibri"/>
              </a:rPr>
              <a:t>124,115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8" y="1481328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cells in the 20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target populations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969264"/>
            <a:ext cx="2688336" cy="1005840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25712" y="1005840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C44536"/>
                </a:solidFill>
                <a:latin typeface="Calibri"/>
              </a:rPr>
              <a:t>20 / 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2" y="1481328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have a dedicated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marker on the panel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274320" y="2176272"/>
          <a:ext cx="576072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6172200" y="2176272"/>
          <a:ext cx="5760720" cy="3931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84048" y="6163056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Marker counts in the workbook are genes EXCLUSIVE to one population - the strictest test. Identification is combinatorial: L5 IT has 1 exclusive gene yet is separable from 9 of its 11 neighbours using panel genes.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>
                <a:solidFill>
                  <a:srgbClr val="2A6F97"/>
                </a:solidFill>
                <a:latin typeface="Calibri"/>
              </a:rPr>
              <a:t>The list rests on a full re-analysis of the reference atlas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No gene was taken on a paper's word; every candidate was re-scored in these two regions.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47104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ORBm + BMAp Xenium panel  ·  166 genes, 119 custom  |  5/5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969264"/>
            <a:ext cx="2688336" cy="1005840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1D4E89"/>
                </a:solidFill>
                <a:latin typeface="Calibri"/>
              </a:rPr>
              <a:t>226,886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81328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single cells scored across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the two target regions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3552" y="969264"/>
            <a:ext cx="2688336" cy="1005840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46704" y="1005840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2A6F97"/>
                </a:solidFill>
                <a:latin typeface="Calibri"/>
              </a:rPr>
              <a:t>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6704" y="1481328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cell subclasses profiled,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not only the 20 targets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969264"/>
            <a:ext cx="2688336" cy="1005840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1005840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6B7C6A"/>
                </a:solidFill>
                <a:latin typeface="Calibri"/>
              </a:rPr>
              <a:t>28,184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8" y="1481328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abundance and specificity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measurements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969264"/>
            <a:ext cx="2688336" cy="1005840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25712" y="1005840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C44536"/>
                </a:solidFill>
                <a:latin typeface="Calibri"/>
              </a:rPr>
              <a:t>3,901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2" y="1481328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pairwise tests: can gene X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separate type A from B?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2194560"/>
            <a:ext cx="11430000" cy="4041648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B8B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2322576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D4E89"/>
                </a:solidFill>
                <a:latin typeface="Calibri"/>
              </a:rPr>
              <a:t>What that analysis produced, in order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2724912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D4E89"/>
                </a:solidFill>
                <a:latin typeface="Calibri"/>
              </a:rPr>
              <a:t>1.  Region-restricted expression matrices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2980944"/>
            <a:ext cx="10789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ORBm and BMAp cells were pulled out of the whole-brain atlas, so every abundance and specificity number describes these two regions - not a brain-wide average.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" y="3593591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D4E89"/>
                </a:solidFill>
                <a:latin typeface="Calibri"/>
              </a:rPr>
              <a:t>2.  Per-population marker ranking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3849624"/>
            <a:ext cx="10789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For each of the 20 targets, every candidate was ranked by how much of that population expresses it and how tightly it is restricted to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" y="4462272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D4E89"/>
                </a:solidFill>
                <a:latin typeface="Calibri"/>
              </a:rPr>
              <a:t>3.  Pairwise separability testing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4718304"/>
            <a:ext cx="10789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3,901 tests confirmed that neighbouring populations - L5 IT vs L5 ET, MEA vs BMA - stay distinguishable using only the genes actually on the panel.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" y="5330952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D4E89"/>
                </a:solidFill>
                <a:latin typeface="Calibri"/>
              </a:rPr>
              <a:t>4.  Receptor and drug-target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5586984"/>
            <a:ext cx="10789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Receptors were tiered by specificity and cross-referenced to the IUPHAR pharmacology database, so the map covers targets that drugs already exist for. 13 sources are documented.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