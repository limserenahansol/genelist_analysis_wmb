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0896" y="146304"/>
            <a:ext cx="115214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1D4E89"/>
                </a:solidFill>
                <a:latin typeface="Calibri"/>
              </a:rPr>
              <a:t>ORBm + BMAp Xenium panel  -  all 297 genes to order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0896" y="457200"/>
            <a:ext cx="11521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B6472"/>
                </a:solidFill>
                <a:latin typeface="Calibri"/>
              </a:rPr>
              <a:t>One shared standalone custom panel, both regions on the same slide. Grouped by what each gene is for. Full evidence per gene is in SHARED_PANEL_ORDER of the accompanying Excel.</a:t>
            </a:r>
          </a:p>
        </p:txBody>
      </p:sp>
      <p:sp>
        <p:nvSpPr>
          <p:cNvPr id="4" name="Rectangle 3"/>
          <p:cNvSpPr/>
          <p:nvPr/>
        </p:nvSpPr>
        <p:spPr>
          <a:xfrm>
            <a:off x="310896" y="800100"/>
            <a:ext cx="1339595" cy="114300"/>
          </a:xfrm>
          <a:prstGeom prst="rect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797356"/>
            <a:ext cx="1266444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Calibri"/>
              </a:rPr>
              <a:t>Genetic-tag reporters  (2)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921715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iCre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05704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tdTomato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" y="1341424"/>
            <a:ext cx="1339595" cy="1143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338681"/>
            <a:ext cx="1266444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Calibri"/>
              </a:rPr>
              <a:t>Cell identity, subtype and region  (135)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" y="146304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Adam19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59837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Adamts17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" y="173370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Aqp4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186903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Arhgap31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200436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Baiap3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" y="213969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Bdnf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227502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Blnk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241035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Bmp3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" y="2545689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Calb1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" y="268102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Calb2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281635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Calcrl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295168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Cartpt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308701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Cbln1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3222345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Cbln4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" y="335767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Ccbe1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349300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Ccdc42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" y="3628339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" y="376367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Ccn2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389900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Cd24a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" y="403433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Chat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" y="416966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Chn2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" y="4304995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Cnih3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" y="444032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Coch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" y="457565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Col23a1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" y="471098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Crh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47472" y="484632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Crispld2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" y="498165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Cux2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7472" y="511698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Dab2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7472" y="525231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Dio3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" y="538764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Drd1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47472" y="552297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Ebf1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7472" y="565830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Elfn1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" y="579363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Esr1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7472" y="5928969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Fbn2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" y="606430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Fezf1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" y="619963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Foxp2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78508" y="78638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Frem3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778508" y="921715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Gad1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78508" y="105704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Gad2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78508" y="119237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Gfra1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78508" y="132770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Gpr149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778508" y="146304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Hhip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778508" y="159837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Hpse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778508" y="173370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Htr2c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778508" y="186903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Krt9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78508" y="200436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Lamb3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78508" y="213969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Lamp5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778508" y="227502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Lhx6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778508" y="241035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Lhx9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778508" y="2545689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Lin7a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78508" y="268102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Lratd2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778508" y="281635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Lypd1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78508" y="295168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Maf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78508" y="308701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Man2a1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78508" y="3222345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Masp1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78508" y="335767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Matn2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778508" y="349300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Mbp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778508" y="3628339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Mpped1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778508" y="376367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Myo1b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778508" y="389900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Nckap5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78508" y="403433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Ndnf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78508" y="416966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Ndst3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778508" y="4304995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Neurod2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778508" y="444032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Nfib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778508" y="457565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Nos1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778508" y="471098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Npr3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78508" y="484632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Nptx2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78508" y="498165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Npy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78508" y="511698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Nr2e1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78508" y="525231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Nts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778508" y="538764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Nxph4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78508" y="552297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Oprk1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778508" y="565830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Oprl1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78508" y="579363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Otof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78508" y="5928969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Otp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778508" y="606430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Pdyn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778508" y="619963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Penk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209544" y="78638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Plce1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209544" y="921715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Plcl1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209544" y="105704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Pld5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209544" y="119237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Plpp4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209544" y="132770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Pnoc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209544" y="146304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Pou3f1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209544" y="159837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Prox1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209544" y="173370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Ptpru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209544" y="186903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Pvalb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3209544" y="200436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Pvt1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209544" y="213969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Rai14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209544" y="227502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Rbfox3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209544" y="241035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Rbms3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209544" y="2545689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Rbp4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209544" y="268102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Rgs9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3209544" y="281635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Rorb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209544" y="295168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Rprm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209544" y="308701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Rspo2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209544" y="3222345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Rspo3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209544" y="335767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Rxfp1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209544" y="349300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Scn5a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209544" y="3628339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Sema5a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209544" y="376367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Sema5b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209544" y="389900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Siglech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209544" y="403433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Sim1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209544" y="416966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Skor1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209544" y="4304995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Slc17a6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209544" y="444032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Slc17a7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209544" y="457565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Slc1a2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3209544" y="471098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Slc29a4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209544" y="484632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Slc30a3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3209544" y="498165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Slc32a1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209544" y="511698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Slc5a7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209544" y="525231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Slc6a1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3209544" y="538764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Slc6a3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209544" y="552297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Smoc2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209544" y="565830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Snap25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209544" y="579363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Sox5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209544" y="5928969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Sox6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209544" y="606430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Sp9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209544" y="619963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Spon1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4640580" y="78638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Sst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4640580" y="921715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Sulf1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4640580" y="105704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Synpr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640580" y="119237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Syt1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4640580" y="132770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Syt6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640580" y="146304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Tac1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640580" y="159837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Tac2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640580" y="173370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Tcf7l2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640580" y="186903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Thsd7b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40580" y="200436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Tnnc1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640580" y="213969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Trh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640580" y="227502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Trhr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640580" y="241035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Tshz2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640580" y="2545689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Vegfc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640580" y="268102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Vip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640580" y="281635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Vwc2l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640580" y="295168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Zic1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604004" y="3236061"/>
            <a:ext cx="1339595" cy="1143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4640580" y="3233318"/>
            <a:ext cx="1266444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Calibri"/>
              </a:rPr>
              <a:t>Druggable receptor map  (43)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640580" y="335767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Adcyap1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4640580" y="349300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Adcyap1r1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4640580" y="3628339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Adora2a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4640580" y="376367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Adra1a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640580" y="389900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Adra1b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4640580" y="403433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Adra2a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640580" y="416966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Adrb1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640580" y="4304995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Cckbr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640580" y="444032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Chrm1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640580" y="457565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Chrm2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640580" y="471098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Chrm3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640580" y="484632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Cnr1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640580" y="498165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Creb1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640580" y="511698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Crhr1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640580" y="525231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Drd2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640580" y="538764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Gabbr1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640580" y="552297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Gabbr2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640580" y="565830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Galr1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640580" y="579363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Gpr101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640580" y="5928969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Gpr158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4640580" y="606430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Gpr22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640580" y="619963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Gpr26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071616" y="78638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Gpr88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071616" y="921715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Grm1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6071616" y="105704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Grm2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6071616" y="119237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Grm3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6071616" y="132770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Grm5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071616" y="146304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Grm7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071616" y="159837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Grm8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071616" y="173370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Hcrtr2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6071616" y="186903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Hrh3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071616" y="200436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Htr1a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071616" y="213969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Htr1b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6071616" y="227502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Htr1f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6071616" y="241035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Htr2a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6071616" y="2545689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Mc4r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071616" y="268102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Npy1r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6071616" y="281635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Npy2r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6071616" y="295168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Oprd1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6071616" y="308701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Oprm1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6071616" y="3222345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Oxtr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6071616" y="335767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Sstr2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6071616" y="349300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Tacr1</a:t>
            </a:r>
          </a:p>
        </p:txBody>
      </p:sp>
      <p:sp>
        <p:nvSpPr>
          <p:cNvPr id="190" name="Rectangle 189"/>
          <p:cNvSpPr/>
          <p:nvPr/>
        </p:nvSpPr>
        <p:spPr>
          <a:xfrm>
            <a:off x="6035040" y="3777386"/>
            <a:ext cx="1339595" cy="114300"/>
          </a:xfrm>
          <a:prstGeom prst="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6071616" y="3774643"/>
            <a:ext cx="1266444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Calibri"/>
              </a:rPr>
              <a:t>Morphine-dependence state  (46)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6071616" y="389900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Acsl4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6071616" y="403433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Ahctf1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6071616" y="416966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Arid5b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6071616" y="4304995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Banp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6071616" y="444032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Bhlhe40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6071616" y="457565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Camk2g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071616" y="471098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Chd2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6071616" y="484632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Crem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071616" y="498165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Dusp1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071616" y="511698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Dusp4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6071616" y="525231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Dusp5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6071616" y="538764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E2f6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6071616" y="552297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Egr3</a:t>
            </a:r>
          </a:p>
        </p:txBody>
      </p:sp>
      <p:sp>
        <p:nvSpPr>
          <p:cNvPr id="205" name="TextBox 204"/>
          <p:cNvSpPr txBox="1"/>
          <p:nvPr/>
        </p:nvSpPr>
        <p:spPr>
          <a:xfrm>
            <a:off x="6071616" y="565830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Egr4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071616" y="579363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Ep300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071616" y="5928969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Etv5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6071616" y="606430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Fhl2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6071616" y="619963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Fosl2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7502651" y="78638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Fxr1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7502651" y="921715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Hivep1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7502651" y="105704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Hrh1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7502651" y="119237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Hsd17b12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7502651" y="132770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Hspa5</a:t>
            </a:r>
          </a:p>
        </p:txBody>
      </p:sp>
      <p:sp>
        <p:nvSpPr>
          <p:cNvPr id="215" name="TextBox 214"/>
          <p:cNvSpPr txBox="1"/>
          <p:nvPr/>
        </p:nvSpPr>
        <p:spPr>
          <a:xfrm>
            <a:off x="7502651" y="146304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Hunk</a:t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7502651" y="159837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Kitl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7502651" y="173370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Klf10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7502651" y="186903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Maml3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7502651" y="200436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Mbnl2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7502651" y="213969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Nr4a3</a:t>
            </a:r>
          </a:p>
        </p:txBody>
      </p:sp>
      <p:sp>
        <p:nvSpPr>
          <p:cNvPr id="221" name="TextBox 220"/>
          <p:cNvSpPr txBox="1"/>
          <p:nvPr/>
        </p:nvSpPr>
        <p:spPr>
          <a:xfrm>
            <a:off x="7502651" y="227502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Omg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7502651" y="241035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Pcsk1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7502651" y="2545689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Per1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7502651" y="268102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Per2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7502651" y="281635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Sema3e</a:t>
            </a:r>
          </a:p>
        </p:txBody>
      </p:sp>
      <p:sp>
        <p:nvSpPr>
          <p:cNvPr id="226" name="TextBox 225"/>
          <p:cNvSpPr txBox="1"/>
          <p:nvPr/>
        </p:nvSpPr>
        <p:spPr>
          <a:xfrm>
            <a:off x="7502651" y="295168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Smad5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7502651" y="308701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Sox8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7502651" y="3222345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Stk40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7502651" y="335767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Tiparp</a:t>
            </a:r>
          </a:p>
        </p:txBody>
      </p:sp>
      <p:sp>
        <p:nvSpPr>
          <p:cNvPr id="230" name="TextBox 229"/>
          <p:cNvSpPr txBox="1"/>
          <p:nvPr/>
        </p:nvSpPr>
        <p:spPr>
          <a:xfrm>
            <a:off x="7502651" y="349300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Vps13a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7502651" y="3628339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Zdbf2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7502651" y="376367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Zfp46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7502651" y="389900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Zfp641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7502651" y="403433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Zfp933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7502651" y="416966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Zhx2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7502651" y="4304995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Zkscan16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502651" y="444032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Zkscan2</a:t>
            </a:r>
          </a:p>
        </p:txBody>
      </p:sp>
      <p:sp>
        <p:nvSpPr>
          <p:cNvPr id="238" name="Rectangle 237"/>
          <p:cNvSpPr/>
          <p:nvPr/>
        </p:nvSpPr>
        <p:spPr>
          <a:xfrm>
            <a:off x="7466075" y="4724704"/>
            <a:ext cx="1339595" cy="114300"/>
          </a:xfrm>
          <a:prstGeom prst="rect">
            <a:avLst/>
          </a:prstGeom>
          <a:solidFill>
            <a:srgbClr val="6B7C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7502651" y="4721961"/>
            <a:ext cx="1266444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Calibri"/>
              </a:rPr>
              <a:t>Neuronal plasticity  (30)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502651" y="484632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Arhgap32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502651" y="498165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Camk2a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7502651" y="511698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Camk2b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7502651" y="525231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Cbln2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7502651" y="538764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Cdh8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502651" y="552297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Dlg4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502651" y="565830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Gphn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7502651" y="579363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Gria1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7502651" y="5928969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Gria2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7502651" y="606430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Gria3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7502651" y="619963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Gria4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8933688" y="78638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Grin1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8933688" y="921715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Grin2a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8933688" y="105704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Grin2b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8933688" y="119237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Grin3a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8933688" y="132770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Lrrtm2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8933688" y="146304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Nlgn1</a:t>
            </a:r>
          </a:p>
        </p:txBody>
      </p:sp>
      <p:sp>
        <p:nvSpPr>
          <p:cNvPr id="257" name="TextBox 256"/>
          <p:cNvSpPr txBox="1"/>
          <p:nvPr/>
        </p:nvSpPr>
        <p:spPr>
          <a:xfrm>
            <a:off x="8933688" y="159837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Nrxn1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8933688" y="173370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Nrxn3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8933688" y="186903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Ntrk2</a:t>
            </a:r>
          </a:p>
        </p:txBody>
      </p:sp>
      <p:sp>
        <p:nvSpPr>
          <p:cNvPr id="260" name="TextBox 259"/>
          <p:cNvSpPr txBox="1"/>
          <p:nvPr/>
        </p:nvSpPr>
        <p:spPr>
          <a:xfrm>
            <a:off x="8933688" y="200436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Ntrk3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8933688" y="213969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Pak1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8933688" y="227502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Pcdh8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8933688" y="241035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Ppp1r1b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8933688" y="2545689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Rgs4</a:t>
            </a:r>
          </a:p>
        </p:txBody>
      </p:sp>
      <p:sp>
        <p:nvSpPr>
          <p:cNvPr id="265" name="TextBox 264"/>
          <p:cNvSpPr txBox="1"/>
          <p:nvPr/>
        </p:nvSpPr>
        <p:spPr>
          <a:xfrm>
            <a:off x="8933688" y="268102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Shank3</a:t>
            </a:r>
          </a:p>
        </p:txBody>
      </p:sp>
      <p:sp>
        <p:nvSpPr>
          <p:cNvPr id="266" name="TextBox 265"/>
          <p:cNvSpPr txBox="1"/>
          <p:nvPr/>
        </p:nvSpPr>
        <p:spPr>
          <a:xfrm>
            <a:off x="8933688" y="281635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St8sia2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8933688" y="295168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Syn1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8933688" y="308701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Syngap1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8933688" y="3222345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Syp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8897112" y="3506724"/>
            <a:ext cx="1339595" cy="114300"/>
          </a:xfrm>
          <a:prstGeom prst="rect">
            <a:avLst/>
          </a:prstGeom>
          <a:solidFill>
            <a:srgbClr val="C445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TextBox 270"/>
          <p:cNvSpPr txBox="1"/>
          <p:nvPr/>
        </p:nvSpPr>
        <p:spPr>
          <a:xfrm>
            <a:off x="8933688" y="3503980"/>
            <a:ext cx="1266444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Calibri"/>
              </a:rPr>
              <a:t>Activity / immediate-early  (19)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933688" y="3628339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Arc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8933688" y="376367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Btg2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8933688" y="389900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Egr1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8933688" y="403433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Egr2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8933688" y="416966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Fos</a:t>
            </a:r>
          </a:p>
        </p:txBody>
      </p:sp>
      <p:sp>
        <p:nvSpPr>
          <p:cNvPr id="277" name="TextBox 276"/>
          <p:cNvSpPr txBox="1"/>
          <p:nvPr/>
        </p:nvSpPr>
        <p:spPr>
          <a:xfrm>
            <a:off x="8933688" y="4304995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Fosb</a:t>
            </a:r>
          </a:p>
        </p:txBody>
      </p:sp>
      <p:sp>
        <p:nvSpPr>
          <p:cNvPr id="278" name="TextBox 277"/>
          <p:cNvSpPr txBox="1"/>
          <p:nvPr/>
        </p:nvSpPr>
        <p:spPr>
          <a:xfrm>
            <a:off x="8933688" y="444032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Homer1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8933688" y="457565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Ier2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8933688" y="471098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Jun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8933688" y="484632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Junb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8933688" y="498165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Jund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8933688" y="511698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Npas4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8933688" y="525231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Nr4a1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8933688" y="538764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Nr4a2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8933688" y="552297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Rgs2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8933688" y="565830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Scg2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8933688" y="579363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Sgk1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8933688" y="5928969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Sik1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8933688" y="606430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Vgf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10328148" y="800100"/>
            <a:ext cx="1339595" cy="114300"/>
          </a:xfrm>
          <a:prstGeom prst="rect">
            <a:avLst/>
          </a:prstGeom>
          <a:solidFill>
            <a:srgbClr val="1D4E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0364724" y="797356"/>
            <a:ext cx="1266444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Calibri"/>
              </a:rPr>
              <a:t>Transcription factors  (13)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0364724" y="921715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Bcl11b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10364724" y="105704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Bhlhe22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10364724" y="119237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Dlx1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10364724" y="132770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Etv1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0364724" y="146304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Fezf2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10364724" y="159837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Foxp1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10364724" y="173370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Isl1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10364724" y="186903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Meis2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10364724" y="200436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Neurod6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10364724" y="213969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Satb2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10364724" y="2275027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Tbr1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10364724" y="241035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Tle4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10364724" y="2545689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Zic2</a:t>
            </a:r>
          </a:p>
        </p:txBody>
      </p:sp>
      <p:sp>
        <p:nvSpPr>
          <p:cNvPr id="306" name="Rectangle 305"/>
          <p:cNvSpPr/>
          <p:nvPr/>
        </p:nvSpPr>
        <p:spPr>
          <a:xfrm>
            <a:off x="10328148" y="2830068"/>
            <a:ext cx="1339595" cy="1143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10364724" y="2827324"/>
            <a:ext cx="1266444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80" b="1">
                <a:solidFill>
                  <a:srgbClr val="FFFFFF"/>
                </a:solidFill>
                <a:latin typeface="Calibri"/>
              </a:rPr>
              <a:t>Circadian  (10)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10364724" y="295168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Arntl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10364724" y="3087014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Bhlhe41</a:t>
            </a:r>
          </a:p>
        </p:txBody>
      </p:sp>
      <p:sp>
        <p:nvSpPr>
          <p:cNvPr id="310" name="TextBox 309"/>
          <p:cNvSpPr txBox="1"/>
          <p:nvPr/>
        </p:nvSpPr>
        <p:spPr>
          <a:xfrm>
            <a:off x="10364724" y="3222345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Clock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10364724" y="3357676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Cry1</a:t>
            </a:r>
          </a:p>
        </p:txBody>
      </p:sp>
      <p:sp>
        <p:nvSpPr>
          <p:cNvPr id="312" name="TextBox 311"/>
          <p:cNvSpPr txBox="1"/>
          <p:nvPr/>
        </p:nvSpPr>
        <p:spPr>
          <a:xfrm>
            <a:off x="10364724" y="3493008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Cry2</a:t>
            </a:r>
          </a:p>
        </p:txBody>
      </p:sp>
      <p:sp>
        <p:nvSpPr>
          <p:cNvPr id="313" name="TextBox 312"/>
          <p:cNvSpPr txBox="1"/>
          <p:nvPr/>
        </p:nvSpPr>
        <p:spPr>
          <a:xfrm>
            <a:off x="10364724" y="3628339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Dbp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10364724" y="3763670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Npas2</a:t>
            </a:r>
          </a:p>
        </p:txBody>
      </p:sp>
      <p:sp>
        <p:nvSpPr>
          <p:cNvPr id="315" name="TextBox 314"/>
          <p:cNvSpPr txBox="1"/>
          <p:nvPr/>
        </p:nvSpPr>
        <p:spPr>
          <a:xfrm>
            <a:off x="10364724" y="3899001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Nr1d1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10364724" y="4034332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Nr1d2</a:t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10364724" y="4169663"/>
            <a:ext cx="1321307" cy="128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" b="0">
                <a:solidFill>
                  <a:srgbClr val="1F2937"/>
                </a:solidFill>
                <a:latin typeface="Calibri"/>
              </a:rPr>
              <a:t>Per3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310896" y="6547104"/>
            <a:ext cx="115214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5B6472"/>
                </a:solidFill>
                <a:latin typeface="Calibri"/>
              </a:rPr>
              <a:t>297 genes  |  20 of 20 target cell types identified, mean held-out recall 0.922  |  all 426 mouse GPCRs and 1,321 transcription factors screened: none missing  |  Allen WMB-10X, 226,886 cells in PL-ILA-ORB + sAMY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