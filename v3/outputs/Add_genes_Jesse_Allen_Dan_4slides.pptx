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D4E89"/>
                </a:solidFill>
                <a:latin typeface="Calibri"/>
              </a:rPr>
              <a:t>Jesse  |  how the morphine DEGs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Calibri"/>
              </a:rPr>
              <a:t>5-day escalating morphine  ·  DESeq2 subclass pseudobulk, padj 0.1  ·  PL–ILA–ORB.  Left: widest IEGs.  Right: which cell types change.</a:t>
            </a:r>
          </a:p>
        </p:txBody>
      </p:sp>
      <p:pic>
        <p:nvPicPr>
          <p:cNvPr id="5" name="Picture 4" descr="Jesse_Fig2_top_IEG_plast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96112"/>
            <a:ext cx="6537960" cy="5440680"/>
          </a:xfrm>
          <a:prstGeom prst="rect">
            <a:avLst/>
          </a:prstGeom>
        </p:spPr>
      </p:pic>
      <p:pic>
        <p:nvPicPr>
          <p:cNvPr id="6" name="Picture 5" descr="Jesse_Fig3_IEG_by_subc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896112"/>
            <a:ext cx="5074920" cy="5440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6B6B"/>
                </a:solidFill>
                <a:latin typeface="Calibri"/>
              </a:rPr>
              <a:t>Xenium ORBm + BMAp  |  same figures as the long collaborator deck  |  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D4E89"/>
                </a:solidFill>
                <a:latin typeface="Calibri"/>
              </a:rPr>
              <a:t>Jesse  |  how the ORB GPCRs and IEG matrix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Calibri"/>
              </a:rPr>
              <a:t>Left: GPCRs enriched in PL–ILA–ORB vs the rest of the atlas (anatomy, not morphine).  Right: top IEG DEGs × subclass.</a:t>
            </a:r>
          </a:p>
        </p:txBody>
      </p:sp>
      <p:pic>
        <p:nvPicPr>
          <p:cNvPr id="5" name="Picture 4" descr="Jesse_Fig4_enriched_GPC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96112"/>
            <a:ext cx="5852160" cy="5440680"/>
          </a:xfrm>
          <a:prstGeom prst="rect">
            <a:avLst/>
          </a:prstGeom>
        </p:spPr>
      </p:pic>
      <p:pic>
        <p:nvPicPr>
          <p:cNvPr id="6" name="Picture 5" descr="Jesse_Fig5_IEG_subclass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896112"/>
            <a:ext cx="5715000" cy="5440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6B6B"/>
                </a:solidFill>
                <a:latin typeface="Calibri"/>
              </a:rPr>
              <a:t>Xenium ORBm + BMAp  |  same figures as the long collaborator deck  |  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A6F97"/>
                </a:solidFill>
                <a:latin typeface="Calibri"/>
              </a:rPr>
              <a:t>Dan  |  how the 98-gene spatial panel looks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Calibri"/>
              </a:rPr>
              <a:t>GSE283418 Resolve smFISH  ·  98 amygdala genes vs our shared panel, re-scored in Allen BMAp.  Left: fate of 98.  Right: the 14 extras.</a:t>
            </a:r>
          </a:p>
        </p:txBody>
      </p:sp>
      <p:pic>
        <p:nvPicPr>
          <p:cNvPr id="5" name="Picture 4" descr="Dan_Fig1_98gene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96112"/>
            <a:ext cx="5212080" cy="5440680"/>
          </a:xfrm>
          <a:prstGeom prst="rect">
            <a:avLst/>
          </a:prstGeom>
        </p:spPr>
      </p:pic>
      <p:pic>
        <p:nvPicPr>
          <p:cNvPr id="6" name="Picture 5" descr="Dan_Fig2_14added_p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896112"/>
            <a:ext cx="6355080" cy="5440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6B6B"/>
                </a:solidFill>
                <a:latin typeface="Calibri"/>
              </a:rPr>
              <a:t>Xenium ORBm + BMAp  |  same figures as the long collaborator deck  |  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44536"/>
                </a:solidFill>
                <a:latin typeface="Calibri"/>
              </a:rPr>
              <a:t>Final decision  |  genes added to the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Calibri"/>
              </a:rPr>
              <a:t>Read from the figures: Jesse’s new IEG program + high-abundance ORB GPCRs. Dan’s 14 are already on MSGS111.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932688"/>
          <a:ext cx="1152144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606040"/>
                <a:gridCol w="5852160"/>
                <a:gridCol w="1097280"/>
              </a:tblGrid>
              <a:tr h="7848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Genes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 (from the data on slides 1–3)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Slots</a:t>
                      </a:r>
                    </a:p>
                  </a:txBody>
                  <a:tcPr>
                    <a:solidFill>
                      <a:srgbClr val="C44536"/>
                    </a:solidFill>
                  </a:tcPr>
                </a:tc>
              </a:tr>
              <a:tr h="7848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Already on the sheet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Dan 14   Lamb3  Cck  Col23a1 …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38/98 already on the 144. These 14 were the remaining BMAp-informative genes (right plot, slide 3).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14  done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7848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ADD  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Rxfp1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Jesse’s top ORB-enriched GPCR (slide 2, left). Already on Xenium Mouse Brain v1. Allen 34% in L5 ET.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ADD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Per2    Pcsk1    Per1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Widest new IEGs on slide 1 — broader than Fos/Arc. Slide 2 matrix: they cut across ORBm excitatory types.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7848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Chrm1    Grm8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ORB-enriched on slide 2. Allen absolute % is 92% and 99% — unlike Mas1 / Gpr68 / Mchr1 (45 / 40 / 32%).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48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Not added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Mas1   Gpr68   Mchr1    160 TFs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High on Jesse’s relative-enrichment bar, but too low or too generic for a scarce Xenium slot.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C2C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7424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44536"/>
                </a:solidFill>
                <a:latin typeface="Calibri"/>
              </a:rPr>
              <a:t>Final new add:    Rxfp1   +   Per2  Pcsk1  Per1   +   Chrm1  Grm8</a:t>
            </a:r>
          </a:p>
          <a:p>
            <a:r>
              <a:rPr sz="1400" b="0">
                <a:solidFill>
                  <a:srgbClr val="2C2C2C"/>
                </a:solidFill>
                <a:latin typeface="Calibri"/>
              </a:rPr>
              <a:t>Five custom slots on top of Dan 14  →  119 if every Dan gene is kept.  If the cap stays 100, drop CEA-border Dan genes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65392"/>
            <a:ext cx="114300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6B6B"/>
                </a:solidFill>
                <a:latin typeface="Calibri"/>
              </a:rPr>
              <a:t>Xenium ORBm + BMAp  |  same figures as the long collaborator deck  |  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