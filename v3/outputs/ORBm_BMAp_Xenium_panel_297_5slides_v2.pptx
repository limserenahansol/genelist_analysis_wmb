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How the 297 genes were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472"/>
                </a:solidFill>
                <a:latin typeface="Calibri"/>
              </a:rPr>
              <a:t>The instrument reads a fixed number of genes per section, so every slot has to be earned. Four measured rules decided which genes earned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8B2A8"/>
                </a:solidFill>
                <a:latin typeface="Calibri"/>
              </a:rPr>
              <a:t>ORBm + BMAp custom Xenium panel  |  Allen WMB-10X  |  1/5</a:t>
            </a:r>
          </a:p>
        </p:txBody>
      </p:sp>
      <p:pic>
        <p:nvPicPr>
          <p:cNvPr id="5" name="Picture 4" descr="v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914400"/>
            <a:ext cx="11521440" cy="50999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472"/>
                </a:solidFill>
                <a:latin typeface="Calibri"/>
              </a:rPr>
              <a:t>Each rule is a measurement with a cutoff. For every rule there is a gene that passed and a comparable gene that did not, so the line is visible rather than asserted.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8B2A8"/>
                </a:solidFill>
                <a:latin typeface="Calibri"/>
              </a:rPr>
              <a:t>ORBm + BMAp custom Xenium panel  |  Allen WMB-10X  |  2/5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32688"/>
            <a:ext cx="5641848" cy="13716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3776" y="1042416"/>
            <a:ext cx="310896" cy="310896"/>
          </a:xfrm>
          <a:prstGeom prst="ellipse">
            <a:avLst/>
          </a:prstGeom>
          <a:solidFill>
            <a:srgbClr val="1D4E89"/>
          </a:solidFill>
          <a:ln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301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024128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937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5B6472"/>
                </a:solidFill>
                <a:latin typeface="Calibri"/>
              </a:rPr>
              <a:t>&gt;=50% of that population, &gt;=20pp over the competing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645920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6B7C6A"/>
                </a:solidFill>
                <a:latin typeface="Calibri"/>
              </a:rPr>
              <a:t>IN    Vwc2l   97% of L5 NP cells, +42pp over the next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901952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C44536"/>
                </a:solidFill>
                <a:latin typeface="Calibri"/>
              </a:rPr>
              <a:t>OUT   Cux1   72% in L2/3 but 94% in an amygdala GABA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932688"/>
            <a:ext cx="5641848" cy="13716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1042416"/>
            <a:ext cx="310896" cy="310896"/>
          </a:xfrm>
          <a:prstGeom prst="ellipse">
            <a:avLst/>
          </a:prstGeom>
          <a:solidFill>
            <a:srgbClr val="1D4E89"/>
          </a:solidFill>
          <a:ln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069848"/>
            <a:ext cx="301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024128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937"/>
                </a:solidFill>
                <a:latin typeface="Calibri"/>
              </a:rPr>
              <a:t>Does it identify the sub-population?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335024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5B6472"/>
                </a:solidFill>
                <a:latin typeface="Calibri"/>
              </a:rPr>
              <a:t>&gt;=50% of the sub-population, &gt;=20pp over its siblings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45920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6B7C6A"/>
                </a:solidFill>
                <a:latin typeface="Calibri"/>
              </a:rPr>
              <a:t>IN    Hpse   88% of Sst_7 (229 cells) vs 8% in the rest of Sst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01952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C44536"/>
                </a:solidFill>
                <a:latin typeface="Calibri"/>
              </a:rPr>
              <a:t>OUT   20 discovery candidates   their sub-population already had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14016"/>
            <a:ext cx="5641848" cy="13716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2523744"/>
            <a:ext cx="310896" cy="310896"/>
          </a:xfrm>
          <a:prstGeom prst="ellipse">
            <a:avLst/>
          </a:prstGeom>
          <a:solidFill>
            <a:srgbClr val="1D4E89"/>
          </a:solidFill>
          <a:ln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51176"/>
            <a:ext cx="301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505456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937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2816352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5B6472"/>
                </a:solidFill>
                <a:latin typeface="Calibri"/>
              </a:rPr>
              <a:t>&gt;=50% of cells somewhere in ORBm or BMAp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1272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6B7C6A"/>
                </a:solidFill>
                <a:latin typeface="Calibri"/>
              </a:rPr>
              <a:t>IN    Adrb1   84%, the beta1-adrenergic receptor the SOW names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383280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C44536"/>
                </a:solidFill>
                <a:latin typeface="Calibri"/>
              </a:rPr>
              <a:t>OUT   Sstr4   1.4% of cells - the probe returns an empty 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2414016"/>
            <a:ext cx="5641848" cy="13716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2523744"/>
            <a:ext cx="310896" cy="310896"/>
          </a:xfrm>
          <a:prstGeom prst="ellipse">
            <a:avLst/>
          </a:prstGeom>
          <a:solidFill>
            <a:srgbClr val="1D4E89"/>
          </a:solidFill>
          <a:ln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2551176"/>
            <a:ext cx="301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2505456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937"/>
                </a:solidFill>
                <a:latin typeface="Calibri"/>
              </a:rPr>
              <a:t>Does it report the morphine state?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816352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5B6472"/>
                </a:solidFill>
                <a:latin typeface="Calibri"/>
              </a:rPr>
              <a:t>DE in &gt;=4 of the 12 ORBm cell types in Jesse's data, and detectable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272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6B7C6A"/>
                </a:solidFill>
                <a:latin typeface="Calibri"/>
              </a:rPr>
              <a:t>IN    Mbnl2   DE in 4 ORBm types, 99.8% detected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383280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0">
                <a:solidFill>
                  <a:srgbClr val="C44536"/>
                </a:solidFill>
                <a:latin typeface="Calibri"/>
              </a:rPr>
              <a:t>OUT   Zbtb40   DE in 6 types but only 29% detected where we image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950208"/>
            <a:ext cx="11457432" cy="11887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059936"/>
            <a:ext cx="11055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97"/>
                </a:solidFill>
                <a:latin typeface="Calibri"/>
              </a:rPr>
              <a:t>Two more rules, because this is a standalone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407408"/>
            <a:ext cx="54178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F2937"/>
                </a:solidFill>
                <a:latin typeface="Calibri"/>
              </a:rPr>
              <a:t>5   Minimum non-neuronal set. 28% of the section is glia and vessels, but measured: they are never called neurons even with no glial probe, so only 2 are kept (Aqp4, Siglech).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4407408"/>
            <a:ext cx="54178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F2937"/>
                </a:solidFill>
                <a:latin typeface="Calibri"/>
              </a:rPr>
              <a:t>6   Genes the SOW names stay regardless of level - the SOW asks whether they are expressed, so a low answer is still an answer. All 8 are on the panel.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266944"/>
            <a:ext cx="11457432" cy="117043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376672"/>
            <a:ext cx="11055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4536"/>
                </a:solidFill>
                <a:latin typeface="Calibri"/>
              </a:rPr>
              <a:t>What did not make it: 103 candidates rejected, each with its measured number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724144"/>
            <a:ext cx="54178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F2937"/>
                </a:solidFill>
                <a:latin typeface="Calibri"/>
              </a:rPr>
              <a:t>65   detected in under half the cells of any population we image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2937"/>
                </a:solidFill>
                <a:latin typeface="Calibri"/>
              </a:rPr>
              <a:t>30   redundant - a gene already on the panel does the same job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4204" y="5724144"/>
            <a:ext cx="54178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F2937"/>
                </a:solidFill>
                <a:latin typeface="Calibri"/>
              </a:rPr>
              <a:t>10 of 10   published markers failed when re-tested in the Allen cells (Cux1, Scnn1a, Crym, Reln ...)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2937"/>
                </a:solidFill>
                <a:latin typeface="Calibri"/>
              </a:rPr>
              <a:t>4   sex-determination genes, excluded on request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Final panel  -  297 genes, one section, two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472"/>
                </a:solidFill>
                <a:latin typeface="Calibri"/>
              </a:rPr>
              <a:t>One shared Xenium panel read from the same mouse. All 20 target cell populations have their own marker.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8B2A8"/>
                </a:solidFill>
                <a:latin typeface="Calibri"/>
              </a:rPr>
              <a:t>ORBm + BMAp custom Xenium panel  |  Allen WMB-10X  |  3/5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297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genes on the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shared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20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cell populations with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their own marker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B7C6A"/>
                </a:solidFill>
                <a:latin typeface="Calibri"/>
              </a:rPr>
              <a:t>96 / 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sub-populations with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their own marker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populations in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ORBm  +  BMAp</a:t>
            </a:r>
          </a:p>
        </p:txBody>
      </p:sp>
      <p:pic>
        <p:nvPicPr>
          <p:cNvPr id="17" name="Picture 16" descr="v2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21408"/>
            <a:ext cx="6446520" cy="33555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139696"/>
            <a:ext cx="4617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15184"/>
            <a:ext cx="4617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6F97"/>
                </a:solidFill>
                <a:latin typeface="Calibri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62072"/>
            <a:ext cx="4617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alibri"/>
              </a:rPr>
              <a:t>Which of the 20 populations it is - cortical layer, interneuron class, or amygdala subtype  (109 genes)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364991"/>
            <a:ext cx="4617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6F97"/>
                </a:solidFill>
                <a:latin typeface="Calibri"/>
              </a:rPr>
              <a:t>Sub-type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611879"/>
            <a:ext cx="4617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alibri"/>
              </a:rPr>
              <a:t>Which sub-population inside that type - where a new TRAP+ population would appear  (26 genes)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114800"/>
            <a:ext cx="4617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361688"/>
            <a:ext cx="4617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alibri"/>
              </a:rPr>
              <a:t>Whether it was recently active - Fos and Arc, plus the TRAP2 genetic tag  (19 IEGs + 2 reporters)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864608"/>
            <a:ext cx="4617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6F97"/>
                </a:solidFill>
                <a:latin typeface="Calibri"/>
              </a:rPr>
              <a:t>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111496"/>
            <a:ext cx="4617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alibri"/>
              </a:rPr>
              <a:t>Whether it carries the morphine-dependence signature, and its circadian state  (46 + 10 genes)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614416"/>
            <a:ext cx="4617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6F97"/>
                </a:solidFill>
                <a:latin typeface="Calibri"/>
              </a:rPr>
              <a:t>Receptors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861304"/>
            <a:ext cx="4617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alibri"/>
              </a:rPr>
              <a:t>Which druggable receptors sit on it - opioid, adrenergic, serotonergic, muscarinic, glutamate  (42 genes)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533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44536"/>
                </a:solidFill>
                <a:latin typeface="Calibri"/>
              </a:rPr>
              <a:t>The last two rows are the new capability: within a single cortical cell type, the panel separates cells that carry the dependence signature from those that do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The 20 populations we must tell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472"/>
                </a:solidFill>
                <a:latin typeface="Calibri"/>
              </a:rPr>
              <a:t>The target list comes from the Allen Brain Cell Atlas taxonomy: 12 populations in orbitofrontal cortex, 8 in basomedial amygdala.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8B2A8"/>
                </a:solidFill>
                <a:latin typeface="Calibri"/>
              </a:rPr>
              <a:t>BACKUP  ·  ORBm + BMAp custom Xenium panel  |  Allen WMB-10X  |  4/5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ORBm populations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83,406 Allen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BMAp populations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40,709 Allen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B7C6A"/>
                </a:solidFill>
                <a:latin typeface="Calibri"/>
              </a:rPr>
              <a:t>124,115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cells in the 20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target populations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44536"/>
                </a:solidFill>
                <a:latin typeface="Calibri"/>
              </a:rPr>
              <a:t>20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have a dedicated marker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on the final panel</a:t>
            </a:r>
          </a:p>
        </p:txBody>
      </p:sp>
      <p:pic>
        <p:nvPicPr>
          <p:cNvPr id="17" name="Picture 16" descr="v2_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11384280" cy="38448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614476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2"/>
                </a:solidFill>
                <a:latin typeface="Calibri"/>
              </a:rPr>
              <a:t>Marker = a panel gene detected in &gt;=50% of that population and &gt;=10pp above every other target population. Two populations sit below a 20pp margin - L5 IT (Adam19, +17pp) and MEA-BST Sox6 (Chn2, +15pp) - and no gene in the 32,285-gene atlas does better for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89"/>
                </a:solidFill>
                <a:latin typeface="Calibri"/>
              </a:rPr>
              <a:t>The list rests on a full re-analysis of the reference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472"/>
                </a:solidFill>
                <a:latin typeface="Calibri"/>
              </a:rPr>
              <a:t>No gene was taken on a paper's word. Every candidate was re-scored in the Allen atlas, restricted to these two regions, in the population it is meant to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8B2A8"/>
                </a:solidFill>
                <a:latin typeface="Calibri"/>
              </a:rPr>
              <a:t>BACKUP  ·  ORBm + BMAp custom Xenium panel  |  Allen WMB-10X  |  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226,886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single cells scored across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the two target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32,285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genes screened genome-wide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for a better marker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B7C6A"/>
                </a:solidFill>
                <a:latin typeface="Calibri"/>
              </a:rPr>
              <a:t>602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candidates measured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cell by cell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44536"/>
                </a:solidFill>
                <a:latin typeface="Calibri"/>
              </a:rPr>
              <a:t>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candidates rejected,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each with its number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39696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75488" y="2185415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82 / 103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published marker claims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confirmed in the atlas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2139696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364992" y="2185415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Calibri"/>
              </a:rPr>
              <a:t>96 / 304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Jesse morphine DEGs that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passed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139696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54496" y="2185415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B7C6A"/>
                </a:solidFill>
                <a:latin typeface="Calibri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documented sources,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9 with a DOI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2139696"/>
            <a:ext cx="2697480" cy="1024128"/>
          </a:xfrm>
          <a:prstGeom prst="roundRect">
            <a:avLst/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0" y="2185415"/>
            <a:ext cx="2478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44536"/>
                </a:solidFill>
                <a:latin typeface="Calibri"/>
              </a:rPr>
              <a:t>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660903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FDA-approved drugs mapped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Calibri"/>
              </a:rPr>
              <a:t>to panel receptors (IUPHAR)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401568"/>
            <a:ext cx="11457432" cy="290779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5478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D4E89"/>
                </a:solidFill>
                <a:latin typeface="Calibri"/>
              </a:rPr>
              <a:t>What that analysis produced, in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950208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F2937"/>
                </a:solidFill>
                <a:latin typeface="Calibri"/>
              </a:rPr>
              <a:t>1.   Region-restricted expression matrices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224528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B6472"/>
                </a:solidFill>
                <a:latin typeface="Calibri"/>
              </a:rPr>
              <a:t>Cells from ORBm and BMAp were pulled out of the whole-brain atlas, so every percentage describes these two regions, not a brain-wide average.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3950208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F2937"/>
                </a:solidFill>
                <a:latin typeface="Calibri"/>
              </a:rPr>
              <a:t>2.   Per-population marker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4224528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B6472"/>
                </a:solidFill>
                <a:latin typeface="Calibri"/>
              </a:rPr>
              <a:t>For each of the 20 targets every candidate was ranked by how much of that population expresses it and how far it sits above the next population.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138928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F2937"/>
                </a:solidFill>
                <a:latin typeface="Calibri"/>
              </a:rPr>
              <a:t>3.   Detection and expression-level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413248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B6472"/>
                </a:solidFill>
                <a:latin typeface="Calibri"/>
              </a:rPr>
              <a:t>65 candidates were dropped for being detected in under half the cells of any population we image - a probe that returns an empty map is money spent twice.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5138928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F2937"/>
                </a:solidFill>
                <a:latin typeface="Calibri"/>
              </a:rPr>
              <a:t>4.   Held-out cell-type calling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5413248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B6472"/>
                </a:solidFill>
                <a:latin typeface="Calibri"/>
              </a:rPr>
              <a:t>A classifier given only the panel genes labels held-out cells at 93% mean recall across the 20 populations - and the same at simulated Xenium sparsity.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