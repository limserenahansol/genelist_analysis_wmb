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D4E89"/>
                </a:solidFill>
                <a:latin typeface="Calibri"/>
              </a:rPr>
              <a:t>Xenium custom add-on for ORBm and BMAp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1752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937"/>
                </a:solidFill>
                <a:latin typeface="Calibri"/>
              </a:rPr>
              <a:t>Jesse Niehaus (PL-ILA-ORB morphine DEGs + enriched GPCRs)</a:t>
            </a:r>
          </a:p>
          <a:p>
            <a:pPr>
              <a:defRPr sz="2000">
                <a:solidFill>
                  <a:srgbClr val="1F2937"/>
                </a:solidFill>
              </a:defRPr>
            </a:pPr>
            <a:r>
              <a:t>Daniel Berg / Scherrer (GSE283418 amygdala spatial 98-gene panel)</a:t>
            </a:r>
          </a:p>
          <a:p>
            <a:pPr>
              <a:defRPr sz="1600">
                <a:solidFill>
                  <a:srgbClr val="5B6472"/>
                </a:solidFill>
              </a:defRPr>
            </a:pPr>
            <a:r>
              <a:t>What is already on the panel, what we added from Dan, what we propose from Jesse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Hansol Lim  |  Schnitzer + Scherrer  |  HEAL / TRAP2 x Ai14  |  9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1/20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Take-home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One shared Xenium add-on. Two collaborator datasets. Three decisions.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3657600" cy="3840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1. Core panel stays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55648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The 144-gene shared list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already covers TRAP / IEG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and opioid receptors.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Fos Arc Egr1 Junb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Nr4a1 Oprm1 Ntsr1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Grm5 Cartpt Foxp2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All 20 cell types remain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separable.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33502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2. Dan 14  ADDED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755648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GSE283418 Resolve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98-gene smFISH.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38 already on panel.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14 informative extras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are now on MSGS111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(ranks 145-158).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Lamb3 is the closest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true BMAp gene.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Others are MEA/CEA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borders.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80160"/>
            <a:ext cx="3657600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33502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3. Jesse  PROPOSED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755648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Morphine-dependence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signature, not cell-type ID.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Add only if that state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is a Xenium readout.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First: Rxfp1 (FREE)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Then: Per2 Pcsk1 Per1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Then: Nr4a3 Dusp1 Egr3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Do not swap Fos/Arc.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2/20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The two collaborator datasets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Different questions. Both re-checked in Allen WMB-10X for our ORBm / BMAp ROIs.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577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577840" cy="3840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35024"/>
            <a:ext cx="539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Jesse Niehaus  |  ORBm / mPFC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55648"/>
            <a:ext cx="5321807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5 days escalating morphine.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DESeq2 pseudobulk, padj 0.1.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PL-ILA-ORB subclasses.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IEG 77   TF 179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Plasticity 45   GPCR DEG 34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+ GPCRs enriched in PL-ILA-ORB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vs the rest of the 4M-cell atlas.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Ask: which genes change in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opioid dependence in ORB?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Not a cell-type marker 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335024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Daniel Berg / Scherrer  |  BMAp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755648"/>
            <a:ext cx="5230368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GEO GSE283418.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Resolve Molecular Cartography.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98-gene smFISH, amygdala sections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bregma -1.155 to -1.955.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Pain unpleasantness study.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NOT Hochgerner Visium.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RAW 8.3 GB images not downloaded.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Gene list from GPL35157 is enough.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Ask: which of Dan's spatial genes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are informative in our BMAp ROI?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Current shared panel on MSGS111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Xenium Mouse Brain v1 base (~248 genes) is free. Custom add-on cap is 100.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Original curated shared list: 144 genes  |  44 free on base  |  100 custom  |  20/20 cell types separable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After Dan append: 158 genes  |  44 free  |  114 custom if all 14 are kept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ORBm_ORDER 140 (unchanged by Dan).  BMAp_ORDER 140 (126 + 14).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Blocks: cell-type separators, reporter/transgene, class backbone, IEG, GPCRs, TFs, plasticity, published regional, then 12_GSE283418_added.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TRAP2 x Ai14, Active vs yoked Passive, tag at Post. PIs: Mark Schnitzer and Gregory Scherrer.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Dan  |  GSE283418 spatial transcriptomics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Berg + Scherrer  |  Resolve Molecular Cartography  |  98-gene panel GPL35157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Paper: Spatial molecular profiling of amygdalar neurons enables precision pharmacology against pain unpleasantness.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Method: smFISH (Resolve), not Visium, not Xenium. Amygdala coronal sections.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We used the 98-gene platform table, then re-scored every gene in Allen BMAp-mapped subclasses.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38 / 98 already on our shared panel (Foxp2, Cartpt, Ebf1, Pdyn, Oprm1, Slc17a7, Drd1/2 ...).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14 were BMAp-informative and missing  —  these are now appended to MSGS111.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The rest are weak in BMAp anchors or mark CEA / glia / immune  —  do not add.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Dan  |  fate of the 98 spatial genes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Source: GSE283418 GPL35157 vs our shared panel, re-scored in Allen BMAp-mapped ROI.</a:t>
            </a:r>
          </a:p>
        </p:txBody>
      </p:sp>
      <p:pic>
        <p:nvPicPr>
          <p:cNvPr id="5" name="Picture 4" descr="Dan_Fig1_98gene_f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143000"/>
            <a:ext cx="96012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Dan  |  the 14 genes we added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Already on MSGS111 SHARED ranks 145-158, block 12_GSE283418_added. All 14 cost a custom slot.</a:t>
            </a:r>
          </a:p>
        </p:txBody>
      </p:sp>
      <p:pic>
        <p:nvPicPr>
          <p:cNvPr id="5" name="Picture 4" descr="Dan_Fig2_14added_p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97280"/>
            <a:ext cx="109728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Dan 14  |  not all are BMAp nucleus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Allen re-score is in our BMAp-mapped ROI, which includes MEA / CEA neighbors.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384048"/>
          </a:xfrm>
          <a:prstGeom prst="rect">
            <a:avLst/>
          </a:prstGeom>
          <a:solidFill>
            <a:srgbClr val="2A6F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8930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Closest to true BMAp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09928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Lamb3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113 MEA-COA-BMA Ccdc42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Cck, Col23a1, Slc29a4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Abca8a, Dnah5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012 MEA Slc17a7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VGLUT1 border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(BMA / MEA overlap)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3657600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28930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MEA / BST neighbors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5696" y="1709928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Calcrl, Nos1, Oprl1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120 MEA Otp Foxp2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Gfra1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121 MEA-BST Otp Zic2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Sp8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073 MEA-BST Sox6 GABA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234440"/>
            <a:ext cx="3657600" cy="4754880"/>
          </a:xfrm>
          <a:prstGeom prst="roundRect">
            <a:avLst/>
          </a:prstGeom>
          <a:solidFill>
            <a:srgbClr val="FFFFFF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234440"/>
            <a:ext cx="3657600" cy="38404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1289304"/>
            <a:ext cx="3474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CEA / other  |  keep only if wanted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6" y="1709928"/>
            <a:ext cx="3401568" cy="4187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Syndig1l, Gabre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082 CEA-BST Ebf1 Pdyn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Tspan18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119 SI-MA-LPO-LHA Skor1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Useful if the slide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includes CEA/MEA.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Not required for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BMAp cell-type ID.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Jesse  |  PL-ILA-ORB morphine 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OpioidDependenceDEG genesets  |  5-day escalating morphine  |  DESeq2 padj 0.1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Four DEG lists: IEG (77), transcription factors (179), synaptic plasticity (45), GPCRs (34).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Plus GPCRs enriched in PL-ILA-ORB vs the rest of the Allen 4M-cell atlas (Fisher, FDR 0.05).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Most IEG / plasticity genes are Up. The hottest cells are 004 L6 IT, 030 L6 CT, 006 L4/5 IT, 022 L5 ET.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Classic activity IEGs (Fos, Arc, Egr1, Junb, Nr4a1) are already on our panel.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What is new: delayed / circadian IEGs (Per2, Pcsk1, Per1) and ORB-enriched GPCRs (Rxfp1, Mas1, Gpr68).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Jesse: check abundance on their MERFISH before adding many TFs.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Jesse  |  DEG list size and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TF list is largest. IEG and plasticity are mostly Up. GPCR DEGs split Up/Down.</a:t>
            </a:r>
          </a:p>
        </p:txBody>
      </p:sp>
      <p:pic>
        <p:nvPicPr>
          <p:cNvPr id="5" name="Picture 4" descr="Jesse_Fig1_DE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Jesse  |  widest IEG and plasticity DEGs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Per2 and Pcsk1 hit more ORBm subclasses than Fos/Arc. Camk2g is the widest Down plasticity gene.</a:t>
            </a:r>
          </a:p>
        </p:txBody>
      </p:sp>
      <p:pic>
        <p:nvPicPr>
          <p:cNvPr id="5" name="Picture 4" descr="Jesse_Fig2_top_IEG_plasti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Jesse  |  which cell types change IEG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Morphine IEG response is glutamatergic-cortical. GABA (Pvalb / Vip / Sst) is weaker.</a:t>
            </a:r>
          </a:p>
        </p:txBody>
      </p:sp>
      <p:pic>
        <p:nvPicPr>
          <p:cNvPr id="5" name="Picture 4" descr="Jesse_Fig3_IEG_by_sub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Jesse  |  GPCRs enriched in PL-ILA-ORB vs atlas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This is who lives in ORB, not necessarily what morphine changes. Rxfp1 is free on the Xenium base panel.</a:t>
            </a:r>
          </a:p>
        </p:txBody>
      </p:sp>
      <p:pic>
        <p:nvPicPr>
          <p:cNvPr id="5" name="Picture 4" descr="Jesse_Fig4_enriched_GPC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Jesse  |  top 20 IEG DEGs x subclass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Filled = differentially expressed. Per2 / Pcsk1 / Arc / Fos cut across the main ORBm excitatory types.</a:t>
            </a:r>
          </a:p>
        </p:txBody>
      </p:sp>
      <p:pic>
        <p:nvPicPr>
          <p:cNvPr id="5" name="Picture 4" descr="Jesse_Fig5_IEG_subclass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97280"/>
            <a:ext cx="10515600" cy="5120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Jesse vs current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Core dependence genes are already covered. The missing layer is morphine-state extras.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577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1D4E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577840" cy="38404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89304"/>
            <a:ext cx="539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Already on SHARED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1709928"/>
            <a:ext cx="5321807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IEG: Fos Arc Egr1 Junb Nr4a1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Nr4a2 Fosb Npas4 Bdnf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GPCR / opioid: Oprm1 Oprd1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Oprk1 Oprl1 Ntsr1 Grm5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Htr1b Chrm2 Htr1a Htr2c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Enriched ORB GPCRs: 28 / 127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including Cnr1 Drd1/2 Cckbr Oxtr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34440"/>
            <a:ext cx="5486400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289304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Missing and worth a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5936" y="1709928"/>
            <a:ext cx="5230368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FREE: Rxfp1 (19 subclasses)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Sema3e   Bhlhe40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Broad ORBm DEGs: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Per2 (11)  Pcsk1 (9)  Per1 (8)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Nr4a3  Dusp1  Egr3  Crem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Optional: Mas1  Gpr68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Hrh1  Grm2  Camk2g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Skip most of the 160 TFs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unless MERFISH is high.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15/20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Decision  |  keep  /  added  /  proposed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Dan 14 are already on the workbook. Jesse shortlist is the only open add.</a:t>
            </a:r>
          </a:p>
        </p:txBody>
      </p:sp>
      <p:pic>
        <p:nvPicPr>
          <p:cNvPr id="5" name="Picture 4" descr="Decision_keep_Dan_Jes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51560"/>
            <a:ext cx="11064240" cy="5212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16/20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Genes to add on the custom probe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Green = already written onto MSGS111. Gold = recommended next, not yet appended.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143000"/>
          <a:ext cx="1143000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291840"/>
                <a:gridCol w="2194560"/>
                <a:gridCol w="3383280"/>
                <a:gridCol w="1371600"/>
              </a:tblGrid>
              <a:tr h="5689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Gene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Slot</a:t>
                      </a:r>
                    </a:p>
                  </a:txBody>
                  <a:tcPr>
                    <a:solidFill>
                      <a:srgbClr val="1D4E89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ADDED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Lamb3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Dan GSE283418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Closest true BMAp (113 Ccdc42)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 custom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ADDED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Cck, Col23a1, Slc29a4, Abca8a, Dnah5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Dan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012 VGLUT1 BMA/MEA border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 custom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ADDED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Calcrl, Nos1, Oprl1, Gfra1, Sp8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Dan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MEA / BST neighbors on the slide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5 custom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ADDED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Syndig1l, Gabre, Tspan18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Dan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CEA / SI border; optional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 custom</a:t>
                      </a:r>
                    </a:p>
                  </a:txBody>
                  <a:tcPr>
                    <a:solidFill>
                      <a:srgbClr val="E8F1F8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Rxfp1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Jesse enriched GPCR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19 PL-ILA-ORB subclasses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FREE (base)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Per2, Pcsk1, Per1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Jesse IEG DEG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Widest ORBm morphine DEGs we lack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 custom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Nr4a3, Dusp1, Egr3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Jesse IEG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IEG family we only partly cover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 custom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PROPOSED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Mas1 or Gpr68; Hrh1; Grm2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Jesse GPCR / plast.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Optional morphine + ORB GPCR layer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937"/>
                          </a:solidFill>
                          <a:latin typeface="Calibri"/>
                        </a:defRPr>
                      </a:pPr>
                      <a:r>
                        <a:t>3-4 custom</a:t>
                      </a:r>
                    </a:p>
                  </a:txBody>
                  <a:tcPr>
                    <a:solidFill>
                      <a:srgbClr val="F7F0E6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17/20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Slot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10x Xenium custom add-on cap = 100. Transgenes always cost a slot.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Original shared order: 100 custom + 44 free base = 144 curated genes.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Dan 14 are all custom  -&gt;  114 custom if we keep every Dan gene.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Jesse Rxfp1 is FREE (already on Mouse Brain v1 base). Adding it does not use a slot.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Jesse Per2 + Pcsk1 + Per1 + Nr4a3 + Dusp1 + Egr3 = 6 more custom  -&gt;  120 if stacked on Dan 14.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If 10x will not go over 100: keep the original 100, add Rxfp1 for free, and swap (do not append) for any Jesse DEG.</a:t>
            </a:r>
          </a:p>
          <a:p>
            <a:pPr>
              <a:spcAft>
                <a:spcPts val="1000"/>
              </a:spcAft>
              <a:defRPr sz="1700">
                <a:solidFill>
                  <a:srgbClr val="1F2937"/>
                </a:solidFill>
                <a:latin typeface="Calibri"/>
              </a:defRPr>
            </a:pPr>
            <a:r>
              <a:t>Do not drop Fos, Arc, Egr1, Oprm1, Ntsr1, or unique cell-type separators to make room.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18/20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Do not add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34440"/>
            <a:ext cx="55778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C445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384048"/>
          </a:xfrm>
          <a:prstGeom prst="rect">
            <a:avLst/>
          </a:prstGeom>
          <a:solidFill>
            <a:srgbClr val="C445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89304"/>
            <a:ext cx="539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From Dan 98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709928"/>
            <a:ext cx="5321807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Low / CEA / glia / immune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Adora2a  Prkcd  Ptprc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S100b  Itgal  Blnk  Lgals1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Present but not specific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Rbms3  Rnd2  Pnoc  Lpl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Sfrp1  C1ql1/2  Bcan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These do not improve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BMAp cell-type ID.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48640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B089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34440"/>
            <a:ext cx="5486400" cy="384048"/>
          </a:xfrm>
          <a:prstGeom prst="rect">
            <a:avLst/>
          </a:prstGeom>
          <a:solidFill>
            <a:srgbClr val="B089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289304"/>
            <a:ext cx="53035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From Jesse lists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1709928"/>
            <a:ext cx="5230368" cy="4279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Most of 160 missing TFs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Arid5b Banp Chd2 zinc-fingers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unless MERFISH is abundant.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Do not replace Fos / Arc /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Oprm1 / Ntsr1 with TFs.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GO plasticity can explode.</a:t>
            </a:r>
          </a:p>
          <a:p>
            <a:pPr>
              <a:defRPr sz="1300">
                <a:solidFill>
                  <a:srgbClr val="1F2937"/>
                </a:solidFill>
                <a:latin typeface="Calibri"/>
              </a:defRPr>
            </a:pPr>
            <a:r>
              <a:t>Keep the short list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19/20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D4E89"/>
                </a:solidFill>
                <a:latin typeface="Calibri"/>
              </a:rPr>
              <a:t>What we need from Mark / Greg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5B6472"/>
                </a:solidFill>
                <a:latin typeface="Calibri"/>
              </a:rPr>
              <a:t>The science is set. The only open choice is slot math and whether morphine-state genes are in-scope.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Keep the original 144. That panel already IDs all 20 types and covers TRAP + opioid receptors.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Confirm keeping the 14 Dan extras on the order (114 custom), or pick a subset (Lamb3 + Cck/Col23a1 first).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Decide whether the Xenium experiment should read a 5-day morphine signature in ORBm.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If yes: add Rxfp1 (free) plus Per2, Pcsk1, Per1. That is the highest-value Jesse block.</a:t>
            </a:r>
          </a:p>
          <a:p>
            <a:pPr>
              <a:spcAft>
                <a:spcPts val="1000"/>
              </a:spcAft>
              <a:defRPr sz="1800">
                <a:solidFill>
                  <a:srgbClr val="1F2937"/>
                </a:solidFill>
                <a:latin typeface="Calibri"/>
              </a:defRPr>
            </a:pPr>
            <a:r>
              <a:t>If the cap is hard 100: keep 144, add only Rxfp1, and do not append Dan or Jesse without swaps.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11247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B6472"/>
                </a:solidFill>
              </a:defRPr>
            </a:pPr>
            <a:r>
              <a:t>ORBm + BMAp Xenium add-on  |  Jesse Niehaus  +  Daniel Berg / Scherrer  |  20/20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